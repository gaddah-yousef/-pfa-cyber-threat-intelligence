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2.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c0985f3b-c9f6-ac35-9e74-d01a46eda149}">
          <p14:sldIdLst>
            <p14:sldId id="256"/>
            <p14:sldId id="257"/>
            <p14:sldId id="258"/>
          </p14:sldIdLst>
        </p14:section>
        <p14:section name="Architecture" id="{1f95acae-ca37-b33f-225d-898459e41797}">
          <p14:sldIdLst>
            <p14:sldId id="259"/>
            <p14:sldId id="260"/>
            <p14:sldId id="261"/>
          </p14:sldIdLst>
        </p14:section>
        <p14:section name="Scoring et réponse" id="{2f0e2c90-c1cb-0baf-ceb8-5bdccae813cd}">
          <p14:sldIdLst>
            <p14:sldId id="262"/>
            <p14:sldId id="263"/>
            <p14:sldId id="264"/>
          </p14:sldIdLst>
        </p14:section>
        <p14:section name="Sécurité et qualité" id="{4ee93a7e-ec4d-d948-2163-87d11706fc91}">
          <p14:sldIdLst>
            <p14:sldId id="265"/>
            <p14:sldId id="266"/>
            <p14:sldId id="267"/>
          </p14:sldIdLst>
        </p14:section>
        <p14:section name="Volet machine learning" id="{23924313-57cb-59fc-5988-da3ad50fd264}">
          <p14:sldIdLst>
            <p14:sldId id="268"/>
          </p14:sldIdLst>
        </p14:section>
        <p14:section name="Bilan" id="{261dffd2-9197-76d6-0e24-fff391a57ab2}">
          <p14:sldIdLst>
            <p14:sldId id="269"/>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4213D"/>
                </a:solidFill>
                <a:latin typeface="+mn-lt"/>
              </a:defRPr>
            </a:pPr>
            <a:r>
              <a:rPr sz="1400" b="0" i="0" u="none" strike="noStrike">
                <a:solidFill>
                  <a:srgbClr val="14213D"/>
                </a:solidFill>
                <a:latin typeface="+mn-lt"/>
              </a:rPr>
              <a:t>Contribution maximale de chaque facteur (points)</a:t>
            </a:r>
          </a:p>
        </c:rich>
      </c:tx>
      <c:layout/>
      <c:overlay val="0"/>
    </c:title>
    <c:autoTitleDeleted val="0"/>
    <c:plotArea>
      <c:layout/>
      <c:barChart>
        <c:barDir val="bar"/>
        <c:grouping val="clustered"/>
        <c:varyColors val="0"/>
        <c:ser>
          <c:idx val="0"/>
          <c:order val="0"/>
          <c:tx>
            <c:strRef>
              <c:f>Sheet1!$B$1</c:f>
              <c:strCache>
                <c:ptCount val="1"/>
                <c:pt idx="0">
                  <c:v>Points maximum</c:v>
                </c:pt>
              </c:strCache>
            </c:strRef>
          </c:tx>
          <c:spPr>
            <a:solidFill>
              <a:srgbClr val="2A6F97"/>
            </a:solidFill>
            <a:effectLst/>
          </c:spPr>
          <c:invertIfNegative val="0"/>
          <c:dLbls>
            <c:numFmt formatCode="#,##0" sourceLinked="0"/>
            <c:txPr>
              <a:bodyPr/>
              <a:lstStyle/>
              <a:p>
                <a:pPr>
                  <a:defRPr b="0" i="0" strike="noStrike" sz="1200" u="none">
                    <a:solidFill>
                      <a:srgbClr val="1A2233"/>
                    </a:solidFill>
                    <a:latin typeface="+mn-lt"/>
                  </a:defRPr>
                </a:pPr>
              </a:p>
            </c:txPr>
            <c:showLegendKey val="0"/>
            <c:showVal val="1"/>
            <c:showCatName val="0"/>
            <c:showSerName val="0"/>
            <c:showPercent val="0"/>
            <c:showBubbleSize val="0"/>
            <c:showLeaderLines val="0"/>
          </c:dLbls>
          <c:cat>
            <c:multiLvlStrRef>
              <c:f>Sheet1!$A$2:$A$9</c:f>
              <c:multiLvlStrCache>
                <c:ptCount val="8"/>
                <c:lvl>
                  <c:pt idx="0">
                    <c:v>Sévérité déclarée</c:v>
                  </c:pt>
                  <c:pt idx="1">
                    <c:v>Type de menace</c:v>
                  </c:pt>
                  <c:pt idx="2">
                    <c:v>Exploitation connue</c:v>
                  </c:pt>
                  <c:pt idx="3">
                    <c:v>Fiabilité de la source</c:v>
                  </c:pt>
                  <c:pt idx="4">
                    <c:v>Type d'indicateur</c:v>
                  </c:pt>
                  <c:pt idx="5">
                    <c:v>Ciblage PME</c:v>
                  </c:pt>
                  <c:pt idx="6">
                    <c:v>Récence</c:v>
                  </c:pt>
                  <c:pt idx="7">
                    <c:v>Bonus CVE</c:v>
                  </c:pt>
                </c:lvl>
              </c:multiLvlStrCache>
            </c:multiLvlStrRef>
          </c:cat>
          <c:val>
            <c:numRef>
              <c:f>Sheet1!$B$2:$B$9</c:f>
              <c:numCache>
                <c:formatCode>General</c:formatCode>
                <c:ptCount val="8"/>
                <c:pt idx="0">
                  <c:v>50</c:v>
                </c:pt>
                <c:pt idx="1">
                  <c:v>18</c:v>
                </c:pt>
                <c:pt idx="2">
                  <c:v>15</c:v>
                </c:pt>
                <c:pt idx="3">
                  <c:v>12</c:v>
                </c:pt>
                <c:pt idx="4">
                  <c:v>12</c:v>
                </c:pt>
                <c:pt idx="5">
                  <c:v>10</c:v>
                </c:pt>
                <c:pt idx="6">
                  <c:v>8</c:v>
                </c:pt>
                <c:pt idx="7">
                  <c:v>5</c:v>
                </c:pt>
              </c:numCache>
            </c:numRef>
          </c:val>
        </c:ser>
        <c:dLbls>
          <c:numFmt formatCode="#,##0" sourceLinked="0"/>
          <c:txPr>
            <a:bodyPr/>
            <a:lstStyle/>
            <a:p>
              <a:pPr>
                <a:defRPr b="0" i="0" strike="noStrike" sz="1200" u="none">
                  <a:solidFill>
                    <a:srgbClr val="1A2233"/>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1A2233"/>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4213D"/>
                </a:solidFill>
                <a:latin typeface="+mn-lt"/>
              </a:defRPr>
            </a:pPr>
            <a:r>
              <a:rPr sz="1400" b="0" i="0" u="none" strike="noStrike">
                <a:solidFill>
                  <a:srgbClr val="14213D"/>
                </a:solidFill>
                <a:latin typeface="+mn-lt"/>
              </a:rPr>
              <a:t>Performances sur le jeu de test (%)</a:t>
            </a:r>
          </a:p>
        </c:rich>
      </c:tx>
      <c:layout/>
      <c:overlay val="0"/>
    </c:title>
    <c:autoTitleDeleted val="0"/>
    <c:plotArea>
      <c:layout/>
      <c:barChart>
        <c:barDir val="col"/>
        <c:grouping val="clustered"/>
        <c:varyColors val="0"/>
        <c:ser>
          <c:idx val="0"/>
          <c:order val="0"/>
          <c:tx>
            <c:strRef>
              <c:f>Sheet1!$B$1</c:f>
              <c:strCache>
                <c:ptCount val="1"/>
                <c:pt idx="0">
                  <c:v>Arbre de décision (seuil 0,50)</c:v>
                </c:pt>
              </c:strCache>
            </c:strRef>
          </c:tx>
          <c:spPr>
            <a:solidFill>
              <a:srgbClr val="C8D2E0"/>
            </a:solidFill>
            <a:effectLst/>
          </c:spPr>
          <c:invertIfNegative val="0"/>
          <c:dLbls>
            <c:numFmt formatCode="0.0" sourceLinked="0"/>
            <c:txPr>
              <a:bodyPr/>
              <a:lstStyle/>
              <a:p>
                <a:pPr>
                  <a:defRPr b="0" i="0" strike="noStrike" sz="1200" u="none">
                    <a:solidFill>
                      <a:srgbClr val="1A2233"/>
                    </a:solidFill>
                    <a:latin typeface="+mn-lt"/>
                  </a:defRPr>
                </a:pPr>
              </a:p>
            </c:txPr>
            <c:showLegendKey val="0"/>
            <c:showVal val="1"/>
            <c:showCatName val="0"/>
            <c:showSerName val="0"/>
            <c:showPercent val="0"/>
            <c:showBubbleSize val="0"/>
            <c:showLeaderLines val="0"/>
          </c:dLbls>
          <c:cat>
            <c:multiLvlStrRef>
              <c:f>Sheet1!$A$2:$A$4</c:f>
              <c:multiLvlStrCache>
                <c:ptCount val="3"/>
                <c:lvl>
                  <c:pt idx="0">
                    <c:v>Exactitude</c:v>
                  </c:pt>
                  <c:pt idx="1">
                    <c:v>Précision phishing</c:v>
                  </c:pt>
                  <c:pt idx="2">
                    <c:v>Rappel phishing</c:v>
                  </c:pt>
                </c:lvl>
              </c:multiLvlStrCache>
            </c:multiLvlStrRef>
          </c:cat>
          <c:val>
            <c:numRef>
              <c:f>Sheet1!$B$2:$B$4</c:f>
              <c:numCache>
                <c:formatCode>General</c:formatCode>
                <c:ptCount val="3"/>
                <c:pt idx="0">
                  <c:v>78.7</c:v>
                </c:pt>
                <c:pt idx="1">
                  <c:v>52.5</c:v>
                </c:pt>
                <c:pt idx="2">
                  <c:v>57.82</c:v>
                </c:pt>
              </c:numCache>
            </c:numRef>
          </c:val>
        </c:ser>
        <c:ser>
          <c:idx val="1"/>
          <c:order val="1"/>
          <c:tx>
            <c:strRef>
              <c:f>Sheet1!$C$1</c:f>
              <c:strCache>
                <c:ptCount val="1"/>
                <c:pt idx="0">
                  <c:v>HistGradientBoosting (seuil 0,30)</c:v>
                </c:pt>
              </c:strCache>
            </c:strRef>
          </c:tx>
          <c:spPr>
            <a:solidFill>
              <a:srgbClr val="2A6F97"/>
            </a:solidFill>
            <a:effectLst/>
          </c:spPr>
          <c:invertIfNegative val="0"/>
          <c:dLbls>
            <c:numFmt formatCode="0.0" sourceLinked="0"/>
            <c:txPr>
              <a:bodyPr/>
              <a:lstStyle/>
              <a:p>
                <a:pPr>
                  <a:defRPr b="0" i="0" strike="noStrike" sz="1200" u="none">
                    <a:solidFill>
                      <a:srgbClr val="1A2233"/>
                    </a:solidFill>
                    <a:latin typeface="+mn-lt"/>
                  </a:defRPr>
                </a:pPr>
              </a:p>
            </c:txPr>
            <c:showLegendKey val="0"/>
            <c:showVal val="1"/>
            <c:showCatName val="0"/>
            <c:showSerName val="0"/>
            <c:showPercent val="0"/>
            <c:showBubbleSize val="0"/>
            <c:showLeaderLines val="0"/>
          </c:dLbls>
          <c:cat>
            <c:multiLvlStrRef>
              <c:f>Sheet1!$A$2:$A$4</c:f>
              <c:multiLvlStrCache>
                <c:ptCount val="3"/>
                <c:lvl>
                  <c:pt idx="0">
                    <c:v>Exactitude</c:v>
                  </c:pt>
                  <c:pt idx="1">
                    <c:v>Précision phishing</c:v>
                  </c:pt>
                  <c:pt idx="2">
                    <c:v>Rappel phishing</c:v>
                  </c:pt>
                </c:lvl>
              </c:multiLvlStrCache>
            </c:multiLvlStrRef>
          </c:cat>
          <c:val>
            <c:numRef>
              <c:f>Sheet1!$C$2:$C$4</c:f>
              <c:numCache>
                <c:formatCode>General</c:formatCode>
                <c:ptCount val="3"/>
                <c:pt idx="0">
                  <c:v>87.78</c:v>
                </c:pt>
                <c:pt idx="1">
                  <c:v>72.3</c:v>
                </c:pt>
                <c:pt idx="2">
                  <c:v>74.22</c:v>
                </c:pt>
              </c:numCache>
            </c:numRef>
          </c:val>
        </c:ser>
        <c:dLbls>
          <c:numFmt formatCode="0.0" sourceLinked="0"/>
          <c:txPr>
            <a:bodyPr/>
            <a:lstStyle/>
            <a:p>
              <a:pPr>
                <a:defRPr b="0" i="0" strike="noStrike" sz="1200" u="none">
                  <a:solidFill>
                    <a:srgbClr val="1A2233"/>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A2233"/>
                </a:solidFill>
                <a:latin typeface="+mn-lt"/>
              </a:defRPr>
            </a:pPr>
            <a:endParaRPr lang="en-US"/>
          </a:p>
        </c:txPr>
        <c:crossAx val="2094734552"/>
        <c:crosses val="autoZero"/>
        <c:auto val="1"/>
        <c:lblAlgn val="ctr"/>
        <c:noMultiLvlLbl val="1"/>
      </c:catAx>
      <c:valAx>
        <c:axId val="2094734552"/>
        <c:scaling>
          <c:orientation val="minMax"/>
          <c:max val="10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A2233"/>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Je présente Sentinel PME, la plateforme de détection et d'alerte précoce des cybermenaces ciblant les PME, réalisée dans le cadre de mon PFA au CMRPI.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PME sont visées par les mêmes attaques que les grandes entreprises, sans équipe de sécurité. Les flux de Threat Intelligence existent mais sont trop techniques. Sentinel PME les transforme en scores, alertes et actions. C'est une brique SIEM-light, pas un SIEM complet.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Cinq objectifs, chacun vérifiable : centraliser, scorer, détecter, présenter et recommander une action. Les critères de réussite sont à droite.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pipeline : les collecteurs interrogent les APIs de Threat Intelligence et convertissent chaque format vers un schéma unique, ThreatInput. Le moteur de scoring calcule le risque, la menace est enregistrée, exposée par FastAPI et affichée dans le dashboard React, avec une alerte et une fiche réflexe.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Cinq collecteurs : NVD pour les CVE, URLhaus pour les URLs de malware, AbuseIPDB pour les IP, AlienVault OTX pour plusieurs types d'indicateurs, et un jeu de démonstration. La collecte est planifiée toutes les heures, dédupliquée, et une source en panne ne bloque pas les autres.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Toutes les menaces suivent le même modèle : l'indicateur, son type, le type de menace, la source, la sévérité, le score et l'action recommandée. C'est le contrat partagé entre le backend, la base, le dashboard et les alertes.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score est déterministe et explicable : chaque facteur ajoute des points, la sévérité pesant le plus. La somme est plafonnée à 100. À partir de 70, une alerte est créée. Le score ordonne l'urgence ; ce n'est pas une probabilité d'incident.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Prenons une CVE critique publiée par la NVD, récente, connue comme exploitée et visant des technologies courantes en PME. Elle cumule 124 points, plafonnés à 100 : niveau critique, alerte immédiate et fiche réflexe associée.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Une menace à 70 ou plus crée une alerte persistée, critique à partir de 90, sans doublon. Chaque type de menace est associé à une fiche réflexe : des actions simples qu'une PME peut appliquer tout de suite.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Une plateforme de sécurité doit donner l'exemple : authentification JWT avec bcrypt, trois rôles, limitation de débit contre l'empoisonnement de données, en-têtes de sécurité, validation des entrées, et un conteneur non-root.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backend a 14 tests pytest qui couvrent l'API, les rôles, le scoring et les alertes, sans appel réseau. Le frontend a ses tests Vitest. La CI GitHub Actions compte cinq jobs, dont l'audit des dépendances, l'analyse statique et la détection de secrets.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dashboard compte six écrans : la vue d'ensemble, le registre des menaces filtrable, le détail du score, le centre d'alertes, l'état des sources et les fiches réflexes. Le navigateur affiche ; il ne recalcule jamais le risque.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parallèle de la plateforme, j'ai développé un détecteur d'URLs de phishing par apprentissage automatique. L'exactitude seule est trompeuse : un modèle qui dirait toujours légitime atteindrait 77 %. J'ai donc choisi le modèle et le seuil selon le rappel sur la classe phishing : 74,22 % de rappel au seuil 0,30.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 analyse critique du code : le token est dans le localStorage, ce qui l'expose en cas de XSS ; le compte admin a un mot de passe par défaut ; le token dure 8 heures sans révocation. Pour le workflow SOC et l'export SIEM, les tests sont déjà écrits, l'implémentation est l'étape suivante.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Prochaine étape : transformer les alertes en mini-incidents SOC et les exporter vers un SIEM. Ensuite les notifications multicanal et de nouvelles sources. Plus tard, l'intégration avec Wazuh, Elastic ou Splunk et un modèle ML en complément du scoring.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conclure : Sentinel PME transforme des flux de Threat Intelligence en décisions simples pour une PME. Merci, je suis à votre disposition pour vos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554480"/>
            <a:ext cx="8046720" cy="201168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731520" y="3749040"/>
            <a:ext cx="8046720" cy="1645920"/>
          </a:xfrm>
          <a:prstGeom prst="rect">
            <a:avLst/>
          </a:prstGeom>
          <a:noFill/>
          <a:ln/>
        </p:spPr>
        <p:txBody>
          <a:bodyPr wrap="square" rtlCol="0"/>
          <a:lstStyle>
            <a:lvl1pPr algn="l" indent="0" marL="0">
              <a:buNone/>
              <a:defRPr lang="en-US" sz="1800" dirty="0">
                <a:solidFill>
                  <a:schemeClr val="accent6"/>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indent="0" marL="0">
              <a:buNone/>
              <a:defRPr lang="en-US" sz="3000" b="1" dirty="0">
                <a:solidFill>
                  <a:schemeClr val="tx2"/>
                </a:solidFill>
              </a:defRPr>
            </a:lvl1pPr>
          </a:lstStyle>
          <a:p>
            <a:pPr indent="0" marL="0">
              <a:buNone/>
            </a:pPr>
            <a:endParaRPr lang="en-US" sz="30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accent5"/>
                </a:solidFill>
              </a:rPr>
              <a:t>Sentinel PME · PFA CMRPI · Yousef Gaddah</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3.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3.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slideLayout" Target="../slideLayouts/slideLayout3.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554480"/>
            <a:ext cx="8046720" cy="2011680"/>
          </a:xfrm>
          <a:prstGeom prst="rect">
            <a:avLst/>
          </a:prstGeom>
          <a:noFill/>
          <a:ln/>
        </p:spPr>
        <p:txBody>
          <a:bodyPr wrap="square" lIns="0" tIns="0" rIns="0" bIns="0" rtlCol="0" anchor="b"/>
          <a:lstStyle/>
          <a:p>
            <a:pPr algn="l" indent="0" marL="0">
              <a:buNone/>
            </a:pPr>
            <a:r>
              <a:rPr lang="en-US" sz="4000" b="1" dirty="0">
                <a:solidFill>
                  <a:schemeClr val="bg1"/>
                </a:solidFill>
              </a:rPr>
              <a:t>Sentinel PME : détection et alerte précoce des cybermenaces</a:t>
            </a:r>
            <a:endParaRPr lang="en-US" sz="4000" dirty="0"/>
          </a:p>
        </p:txBody>
      </p:sp>
      <p:sp>
        <p:nvSpPr>
          <p:cNvPr id="3" name="Text 0"/>
          <p:cNvSpPr/>
          <p:nvPr>
            <p:ph idx="101" type="body" hasCustomPrompt="1"/>
          </p:nvPr>
        </p:nvSpPr>
        <p:spPr>
          <a:xfrm>
            <a:off x="731520" y="3749040"/>
            <a:ext cx="8046720" cy="1645920"/>
          </a:xfrm>
          <a:prstGeom prst="rect">
            <a:avLst/>
          </a:prstGeom>
          <a:noFill/>
          <a:ln/>
        </p:spPr>
        <p:txBody>
          <a:bodyPr wrap="square" lIns="0" tIns="0" rIns="0" bIns="0" rtlCol="0" anchor="t"/>
          <a:lstStyle/>
          <a:p>
            <a:pPr algn="l" indent="0" marL="0">
              <a:buNone/>
            </a:pPr>
            <a:r>
              <a:rPr lang="en-US" sz="1800" dirty="0">
                <a:solidFill>
                  <a:schemeClr val="accent6"/>
                </a:solidFill>
              </a:rPr>
              <a:t>Yousef Gaddah · PFA, CMRPI (Espace Maroc Cyberconfiance)</a:t>
            </a:r>
            <a:endParaRPr lang="en-US" sz="1800" dirty="0"/>
          </a:p>
          <a:p>
            <a:pPr algn="l" indent="0" marL="0">
              <a:buNone/>
            </a:pPr>
            <a:r>
              <a:rPr lang="en-US" sz="1800" dirty="0">
                <a:solidFill>
                  <a:schemeClr val="accent6"/>
                </a:solidFill>
              </a:rPr>
              <a:t>Encadrant : Pr. Youssef Bentaleb</a:t>
            </a:r>
            <a:endParaRPr lang="en-US" sz="1800" dirty="0"/>
          </a:p>
          <a:p>
            <a:pPr algn="l" indent="0" marL="0">
              <a:buNone/>
            </a:pPr>
            <a:r>
              <a:rPr lang="en-US" sz="1800" b="1" dirty="0">
                <a:solidFill>
                  <a:schemeClr val="accent2"/>
                </a:solidFill>
              </a:rPr>
              <a:t>ENSMR · Été 2026</a:t>
            </a:r>
            <a:endParaRPr lang="en-US" sz="1800" dirty="0"/>
          </a:p>
        </p:txBody>
      </p:sp>
      <p:sp>
        <p:nvSpPr>
          <p:cNvPr id="4" name="title-circle"/>
          <p:cNvSpPr/>
          <p:nvPr/>
        </p:nvSpPr>
        <p:spPr>
          <a:xfrm>
            <a:off x="9144000" y="1737360"/>
            <a:ext cx="2468880" cy="2468880"/>
          </a:xfrm>
          <a:prstGeom prst="ellipse">
            <a:avLst/>
          </a:prstGeom>
          <a:solidFill>
            <a:schemeClr val="accent1"/>
          </a:solidFill>
          <a:ln w="12700">
            <a:solidFill>
              <a:schemeClr val="accent1"/>
            </a:solidFill>
            <a:prstDash val="solid"/>
          </a:ln>
        </p:spPr>
      </p:sp>
      <p:pic>
        <p:nvPicPr>
          <p:cNvPr id="5" name="title-icon" descr="preencoded.png">    </p:cNvPr>
          <p:cNvPicPr>
            <a:picLocks noChangeAspect="1"/>
          </p:cNvPicPr>
          <p:nvPr/>
        </p:nvPicPr>
        <p:blipFill>
          <a:blip r:embed="rId1"/>
          <a:stretch>
            <a:fillRect/>
          </a:stretch>
        </p:blipFill>
        <p:spPr>
          <a:xfrm>
            <a:off x="9738360" y="2331720"/>
            <a:ext cx="1280160" cy="12801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000" b="1" dirty="0">
                <a:solidFill>
                  <a:schemeClr val="tx2"/>
                </a:solidFill>
              </a:rPr>
              <a:t>Les PME sont exposées, mais sans équipe de sécurité</a:t>
            </a:r>
            <a:endParaRPr lang="en-US" sz="3000" dirty="0"/>
          </a:p>
        </p:txBody>
      </p:sp>
      <p:sp>
        <p:nvSpPr>
          <p:cNvPr id="3" name="prob-0"/>
          <p:cNvSpPr/>
          <p:nvPr/>
        </p:nvSpPr>
        <p:spPr>
          <a:xfrm>
            <a:off x="548640" y="1417320"/>
            <a:ext cx="3520440" cy="3749040"/>
          </a:xfrm>
          <a:prstGeom prst="roundRect">
            <a:avLst>
              <a:gd name="adj" fmla="val 3117"/>
            </a:avLst>
          </a:prstGeom>
          <a:solidFill>
            <a:schemeClr val="bg2"/>
          </a:solidFill>
          <a:ln w="12700">
            <a:solidFill>
              <a:schemeClr val="bg2"/>
            </a:solidFill>
            <a:prstDash val="solid"/>
          </a:ln>
        </p:spPr>
      </p:sp>
      <p:sp>
        <p:nvSpPr>
          <p:cNvPr id="4" name="prob-0-circle"/>
          <p:cNvSpPr/>
          <p:nvPr/>
        </p:nvSpPr>
        <p:spPr>
          <a:xfrm>
            <a:off x="822960" y="1691640"/>
            <a:ext cx="731520" cy="731520"/>
          </a:xfrm>
          <a:prstGeom prst="ellipse">
            <a:avLst/>
          </a:prstGeom>
          <a:solidFill>
            <a:schemeClr val="accent1"/>
          </a:solidFill>
          <a:ln w="12700">
            <a:solidFill>
              <a:schemeClr val="accent1"/>
            </a:solidFill>
            <a:prstDash val="solid"/>
          </a:ln>
        </p:spPr>
      </p:sp>
      <p:pic>
        <p:nvPicPr>
          <p:cNvPr id="5" name="prob-0-icon" descr="preencoded.png">    </p:cNvPr>
          <p:cNvPicPr>
            <a:picLocks noChangeAspect="1"/>
          </p:cNvPicPr>
          <p:nvPr/>
        </p:nvPicPr>
        <p:blipFill>
          <a:blip r:embed="rId1"/>
          <a:stretch>
            <a:fillRect/>
          </a:stretch>
        </p:blipFill>
        <p:spPr>
          <a:xfrm>
            <a:off x="1005840" y="1874520"/>
            <a:ext cx="365760" cy="365760"/>
          </a:xfrm>
          <a:prstGeom prst="rect">
            <a:avLst/>
          </a:prstGeom>
        </p:spPr>
      </p:pic>
      <p:sp>
        <p:nvSpPr>
          <p:cNvPr id="6" name="Text 3"/>
          <p:cNvSpPr txBox="1"/>
          <p:nvPr/>
        </p:nvSpPr>
        <p:spPr>
          <a:xfrm>
            <a:off x="822960" y="2606040"/>
            <a:ext cx="2971800" cy="411480"/>
          </a:xfrm>
          <a:prstGeom prst="rect">
            <a:avLst/>
          </a:prstGeom>
          <a:noFill/>
          <a:ln/>
        </p:spPr>
        <p:txBody>
          <a:bodyPr wrap="square" lIns="0" tIns="0" rIns="0" bIns="0" rtlCol="0" anchor="t"/>
          <a:lstStyle/>
          <a:p>
            <a:pPr indent="0" marL="0">
              <a:buNone/>
            </a:pPr>
            <a:r>
              <a:rPr lang="en-US" sz="2000" b="1" dirty="0">
                <a:solidFill>
                  <a:schemeClr val="tx2"/>
                </a:solidFill>
              </a:rPr>
              <a:t>Constat</a:t>
            </a:r>
            <a:endParaRPr lang="en-US" sz="2000" dirty="0"/>
          </a:p>
        </p:txBody>
      </p:sp>
      <p:sp>
        <p:nvSpPr>
          <p:cNvPr id="7" name="Text 4"/>
          <p:cNvSpPr txBox="1"/>
          <p:nvPr/>
        </p:nvSpPr>
        <p:spPr>
          <a:xfrm>
            <a:off x="822960" y="3108960"/>
            <a:ext cx="2971800" cy="1920240"/>
          </a:xfrm>
          <a:prstGeom prst="rect">
            <a:avLst/>
          </a:prstGeom>
          <a:noFill/>
          <a:ln/>
        </p:spPr>
        <p:txBody>
          <a:bodyPr wrap="square" lIns="0" tIns="0" rIns="0" bIns="0" rtlCol="0" anchor="t"/>
          <a:lstStyle/>
          <a:p>
            <a:pPr indent="0" marL="0">
              <a:buNone/>
            </a:pPr>
            <a:r>
              <a:rPr lang="en-US" sz="1500" dirty="0">
                <a:solidFill>
                  <a:schemeClr val="tx1"/>
                </a:solidFill>
              </a:rPr>
              <a:t>Les PME subissent les mêmes campagnes que les grandes entreprises (phishing, rançongiciels, vols d'identifiants), avec moins de budget, de personnel et de capacité de reprise.</a:t>
            </a:r>
            <a:endParaRPr lang="en-US" sz="1500" dirty="0"/>
          </a:p>
        </p:txBody>
      </p:sp>
      <p:sp>
        <p:nvSpPr>
          <p:cNvPr id="8" name="prob-1"/>
          <p:cNvSpPr/>
          <p:nvPr/>
        </p:nvSpPr>
        <p:spPr>
          <a:xfrm>
            <a:off x="4297680" y="1417320"/>
            <a:ext cx="3520440" cy="3749040"/>
          </a:xfrm>
          <a:prstGeom prst="roundRect">
            <a:avLst>
              <a:gd name="adj" fmla="val 3117"/>
            </a:avLst>
          </a:prstGeom>
          <a:solidFill>
            <a:schemeClr val="bg2"/>
          </a:solidFill>
          <a:ln w="12700">
            <a:solidFill>
              <a:schemeClr val="bg2"/>
            </a:solidFill>
            <a:prstDash val="solid"/>
          </a:ln>
        </p:spPr>
      </p:sp>
      <p:sp>
        <p:nvSpPr>
          <p:cNvPr id="9" name="prob-1-circle"/>
          <p:cNvSpPr/>
          <p:nvPr/>
        </p:nvSpPr>
        <p:spPr>
          <a:xfrm>
            <a:off x="4572000" y="1691640"/>
            <a:ext cx="731520" cy="731520"/>
          </a:xfrm>
          <a:prstGeom prst="ellipse">
            <a:avLst/>
          </a:prstGeom>
          <a:solidFill>
            <a:schemeClr val="accent1"/>
          </a:solidFill>
          <a:ln w="12700">
            <a:solidFill>
              <a:schemeClr val="accent1"/>
            </a:solidFill>
            <a:prstDash val="solid"/>
          </a:ln>
        </p:spPr>
      </p:sp>
      <p:pic>
        <p:nvPicPr>
          <p:cNvPr id="10" name="prob-1-icon" descr="preencoded.png">    </p:cNvPr>
          <p:cNvPicPr>
            <a:picLocks noChangeAspect="1"/>
          </p:cNvPicPr>
          <p:nvPr/>
        </p:nvPicPr>
        <p:blipFill>
          <a:blip r:embed="rId2"/>
          <a:stretch>
            <a:fillRect/>
          </a:stretch>
        </p:blipFill>
        <p:spPr>
          <a:xfrm>
            <a:off x="4754880" y="1874520"/>
            <a:ext cx="365760" cy="365760"/>
          </a:xfrm>
          <a:prstGeom prst="rect">
            <a:avLst/>
          </a:prstGeom>
        </p:spPr>
      </p:pic>
      <p:sp>
        <p:nvSpPr>
          <p:cNvPr id="11" name="Text 7"/>
          <p:cNvSpPr txBox="1"/>
          <p:nvPr/>
        </p:nvSpPr>
        <p:spPr>
          <a:xfrm>
            <a:off x="4572000" y="2606040"/>
            <a:ext cx="2971800" cy="411480"/>
          </a:xfrm>
          <a:prstGeom prst="rect">
            <a:avLst/>
          </a:prstGeom>
          <a:noFill/>
          <a:ln/>
        </p:spPr>
        <p:txBody>
          <a:bodyPr wrap="square" lIns="0" tIns="0" rIns="0" bIns="0" rtlCol="0" anchor="t"/>
          <a:lstStyle/>
          <a:p>
            <a:pPr indent="0" marL="0">
              <a:buNone/>
            </a:pPr>
            <a:r>
              <a:rPr lang="en-US" sz="2000" b="1" dirty="0">
                <a:solidFill>
                  <a:schemeClr val="tx2"/>
                </a:solidFill>
              </a:rPr>
              <a:t>Problème</a:t>
            </a:r>
            <a:endParaRPr lang="en-US" sz="2000" dirty="0"/>
          </a:p>
        </p:txBody>
      </p:sp>
      <p:sp>
        <p:nvSpPr>
          <p:cNvPr id="12" name="Text 8"/>
          <p:cNvSpPr txBox="1"/>
          <p:nvPr/>
        </p:nvSpPr>
        <p:spPr>
          <a:xfrm>
            <a:off x="4572000" y="3108960"/>
            <a:ext cx="2971800" cy="1920240"/>
          </a:xfrm>
          <a:prstGeom prst="rect">
            <a:avLst/>
          </a:prstGeom>
          <a:noFill/>
          <a:ln/>
        </p:spPr>
        <p:txBody>
          <a:bodyPr wrap="square" lIns="0" tIns="0" rIns="0" bIns="0" rtlCol="0" anchor="t"/>
          <a:lstStyle/>
          <a:p>
            <a:pPr indent="0" marL="0">
              <a:buNone/>
            </a:pPr>
            <a:r>
              <a:rPr lang="en-US" sz="1500" dirty="0">
                <a:solidFill>
                  <a:schemeClr val="tx1"/>
                </a:solidFill>
              </a:rPr>
              <a:t>Les flux de Threat Intelligence sont nombreux, hétérogènes et techniques : une PME ne peut pas les exploiter directement.</a:t>
            </a:r>
            <a:endParaRPr lang="en-US" sz="1500" dirty="0"/>
          </a:p>
        </p:txBody>
      </p:sp>
      <p:sp>
        <p:nvSpPr>
          <p:cNvPr id="13" name="prob-2"/>
          <p:cNvSpPr/>
          <p:nvPr/>
        </p:nvSpPr>
        <p:spPr>
          <a:xfrm>
            <a:off x="8046720" y="1417320"/>
            <a:ext cx="3520440" cy="3749040"/>
          </a:xfrm>
          <a:prstGeom prst="roundRect">
            <a:avLst>
              <a:gd name="adj" fmla="val 3117"/>
            </a:avLst>
          </a:prstGeom>
          <a:solidFill>
            <a:schemeClr val="tx2"/>
          </a:solidFill>
          <a:ln w="12700">
            <a:solidFill>
              <a:schemeClr val="tx2"/>
            </a:solidFill>
            <a:prstDash val="solid"/>
          </a:ln>
        </p:spPr>
      </p:sp>
      <p:sp>
        <p:nvSpPr>
          <p:cNvPr id="14" name="prob-2-circle"/>
          <p:cNvSpPr/>
          <p:nvPr/>
        </p:nvSpPr>
        <p:spPr>
          <a:xfrm>
            <a:off x="8321040" y="1691640"/>
            <a:ext cx="731520" cy="731520"/>
          </a:xfrm>
          <a:prstGeom prst="ellipse">
            <a:avLst/>
          </a:prstGeom>
          <a:solidFill>
            <a:schemeClr val="accent2"/>
          </a:solidFill>
          <a:ln w="12700">
            <a:solidFill>
              <a:schemeClr val="accent2"/>
            </a:solidFill>
            <a:prstDash val="solid"/>
          </a:ln>
        </p:spPr>
      </p:sp>
      <p:pic>
        <p:nvPicPr>
          <p:cNvPr id="15" name="prob-2-icon" descr="preencoded.png">    </p:cNvPr>
          <p:cNvPicPr>
            <a:picLocks noChangeAspect="1"/>
          </p:cNvPicPr>
          <p:nvPr/>
        </p:nvPicPr>
        <p:blipFill>
          <a:blip r:embed="rId3"/>
          <a:stretch>
            <a:fillRect/>
          </a:stretch>
        </p:blipFill>
        <p:spPr>
          <a:xfrm>
            <a:off x="8503920" y="1874520"/>
            <a:ext cx="365760" cy="365760"/>
          </a:xfrm>
          <a:prstGeom prst="rect">
            <a:avLst/>
          </a:prstGeom>
        </p:spPr>
      </p:pic>
      <p:sp>
        <p:nvSpPr>
          <p:cNvPr id="16" name="Text 11"/>
          <p:cNvSpPr txBox="1"/>
          <p:nvPr/>
        </p:nvSpPr>
        <p:spPr>
          <a:xfrm>
            <a:off x="8321040" y="2606040"/>
            <a:ext cx="2971800" cy="411480"/>
          </a:xfrm>
          <a:prstGeom prst="rect">
            <a:avLst/>
          </a:prstGeom>
          <a:noFill/>
          <a:ln/>
        </p:spPr>
        <p:txBody>
          <a:bodyPr wrap="square" lIns="0" tIns="0" rIns="0" bIns="0" rtlCol="0" anchor="t"/>
          <a:lstStyle/>
          <a:p>
            <a:pPr indent="0" marL="0">
              <a:buNone/>
            </a:pPr>
            <a:r>
              <a:rPr lang="en-US" sz="2000" b="1" dirty="0">
                <a:solidFill>
                  <a:schemeClr val="accent2"/>
                </a:solidFill>
              </a:rPr>
              <a:t>Réponse</a:t>
            </a:r>
            <a:endParaRPr lang="en-US" sz="2000" dirty="0"/>
          </a:p>
        </p:txBody>
      </p:sp>
      <p:sp>
        <p:nvSpPr>
          <p:cNvPr id="17" name="Text 12"/>
          <p:cNvSpPr txBox="1"/>
          <p:nvPr/>
        </p:nvSpPr>
        <p:spPr>
          <a:xfrm>
            <a:off x="8321040" y="3108960"/>
            <a:ext cx="2971800" cy="1920240"/>
          </a:xfrm>
          <a:prstGeom prst="rect">
            <a:avLst/>
          </a:prstGeom>
          <a:noFill/>
          <a:ln/>
        </p:spPr>
        <p:txBody>
          <a:bodyPr wrap="square" lIns="0" tIns="0" rIns="0" bIns="0" rtlCol="0" anchor="t"/>
          <a:lstStyle/>
          <a:p>
            <a:pPr indent="0" marL="0">
              <a:buNone/>
            </a:pPr>
            <a:r>
              <a:rPr lang="en-US" sz="1500" dirty="0">
                <a:solidFill>
                  <a:schemeClr val="bg1"/>
                </a:solidFill>
              </a:rPr>
              <a:t>Transformer ces flux en indicateurs normalisés, en scores compréhensibles, en alertes et en actions concrètes.</a:t>
            </a:r>
            <a:endParaRPr lang="en-US" sz="1500" dirty="0"/>
          </a:p>
        </p:txBody>
      </p:sp>
      <p:sp>
        <p:nvSpPr>
          <p:cNvPr id="18" name="prob-pos"/>
          <p:cNvSpPr/>
          <p:nvPr/>
        </p:nvSpPr>
        <p:spPr>
          <a:xfrm>
            <a:off x="548640" y="5394960"/>
            <a:ext cx="11064240" cy="685800"/>
          </a:xfrm>
          <a:prstGeom prst="roundRect">
            <a:avLst>
              <a:gd name="adj" fmla="val 16000"/>
            </a:avLst>
          </a:prstGeom>
          <a:solidFill>
            <a:schemeClr val="bg2"/>
          </a:solidFill>
          <a:ln w="12700">
            <a:solidFill>
              <a:schemeClr val="bg2"/>
            </a:solidFill>
            <a:prstDash val="solid"/>
          </a:ln>
        </p:spPr>
      </p:sp>
      <p:sp>
        <p:nvSpPr>
          <p:cNvPr id="19" name="Text 14"/>
          <p:cNvSpPr txBox="1"/>
          <p:nvPr/>
        </p:nvSpPr>
        <p:spPr>
          <a:xfrm>
            <a:off x="822960" y="5394960"/>
            <a:ext cx="10515600" cy="685800"/>
          </a:xfrm>
          <a:prstGeom prst="rect">
            <a:avLst/>
          </a:prstGeom>
          <a:noFill/>
          <a:ln/>
        </p:spPr>
        <p:txBody>
          <a:bodyPr wrap="square" lIns="0" tIns="0" rIns="0" bIns="0" rtlCol="0" anchor="ctr"/>
          <a:lstStyle/>
          <a:p>
            <a:pPr indent="0" marL="0">
              <a:buNone/>
            </a:pPr>
            <a:r>
              <a:rPr lang="en-US" sz="1500" b="1" dirty="0">
                <a:solidFill>
                  <a:schemeClr val="tx2"/>
                </a:solidFill>
              </a:rPr>
              <a:t>Positionnement : </a:t>
            </a:r>
            <a:pPr indent="0" marL="0">
              <a:buNone/>
            </a:pPr>
            <a:r>
              <a:rPr lang="en-US" sz="1500" dirty="0">
                <a:solidFill>
                  <a:schemeClr val="tx1"/>
                </a:solidFill>
              </a:rPr>
              <a:t>système d'alerte précoce « SIEM-light ». Il ne remplace ni un SIEM complet (Splunk, QRadar) ni un SOC.</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000" b="1" dirty="0">
                <a:solidFill>
                  <a:schemeClr val="tx2"/>
                </a:solidFill>
              </a:rPr>
              <a:t>Cinq objectifs, des critères de réussite mesurables</a:t>
            </a:r>
            <a:endParaRPr lang="en-US" sz="3000" dirty="0"/>
          </a:p>
        </p:txBody>
      </p:sp>
      <p:sp>
        <p:nvSpPr>
          <p:cNvPr id="3" name="obj-n-0"/>
          <p:cNvSpPr/>
          <p:nvPr/>
        </p:nvSpPr>
        <p:spPr>
          <a:xfrm>
            <a:off x="548640" y="1463040"/>
            <a:ext cx="548640" cy="548640"/>
          </a:xfrm>
          <a:prstGeom prst="ellipse">
            <a:avLst/>
          </a:prstGeom>
          <a:solidFill>
            <a:schemeClr val="accent1"/>
          </a:solidFill>
          <a:ln w="12700">
            <a:solidFill>
              <a:schemeClr val="accent1"/>
            </a:solidFill>
            <a:prstDash val="solid"/>
          </a:ln>
        </p:spPr>
      </p:sp>
      <p:sp>
        <p:nvSpPr>
          <p:cNvPr id="4" name="Text 2"/>
          <p:cNvSpPr txBox="1"/>
          <p:nvPr/>
        </p:nvSpPr>
        <p:spPr>
          <a:xfrm>
            <a:off x="548640" y="146304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5" name="Text 3"/>
          <p:cNvSpPr txBox="1"/>
          <p:nvPr/>
        </p:nvSpPr>
        <p:spPr>
          <a:xfrm>
            <a:off x="1325880" y="1463040"/>
            <a:ext cx="5120640" cy="548640"/>
          </a:xfrm>
          <a:prstGeom prst="rect">
            <a:avLst/>
          </a:prstGeom>
          <a:noFill/>
          <a:ln/>
        </p:spPr>
        <p:txBody>
          <a:bodyPr wrap="square" lIns="0" tIns="0" rIns="0" bIns="0" rtlCol="0" anchor="ctr"/>
          <a:lstStyle/>
          <a:p>
            <a:pPr indent="0" marL="0">
              <a:buNone/>
            </a:pPr>
            <a:r>
              <a:rPr lang="en-US" sz="1600" dirty="0">
                <a:solidFill>
                  <a:schemeClr val="tx1"/>
                </a:solidFill>
              </a:rPr>
              <a:t>Centraliser des indicateurs issus de plusieurs sources de Threat Intelligence</a:t>
            </a:r>
            <a:endParaRPr lang="en-US" sz="1600" dirty="0"/>
          </a:p>
        </p:txBody>
      </p:sp>
      <p:sp>
        <p:nvSpPr>
          <p:cNvPr id="6" name="obj-n-1"/>
          <p:cNvSpPr/>
          <p:nvPr/>
        </p:nvSpPr>
        <p:spPr>
          <a:xfrm>
            <a:off x="548640" y="2377440"/>
            <a:ext cx="548640" cy="548640"/>
          </a:xfrm>
          <a:prstGeom prst="ellipse">
            <a:avLst/>
          </a:prstGeom>
          <a:solidFill>
            <a:schemeClr val="accent1"/>
          </a:solidFill>
          <a:ln w="12700">
            <a:solidFill>
              <a:schemeClr val="accent1"/>
            </a:solidFill>
            <a:prstDash val="solid"/>
          </a:ln>
        </p:spPr>
      </p:sp>
      <p:sp>
        <p:nvSpPr>
          <p:cNvPr id="7" name="Text 5"/>
          <p:cNvSpPr txBox="1"/>
          <p:nvPr/>
        </p:nvSpPr>
        <p:spPr>
          <a:xfrm>
            <a:off x="548640" y="237744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8" name="Text 6"/>
          <p:cNvSpPr txBox="1"/>
          <p:nvPr/>
        </p:nvSpPr>
        <p:spPr>
          <a:xfrm>
            <a:off x="1325880" y="2377440"/>
            <a:ext cx="5120640" cy="548640"/>
          </a:xfrm>
          <a:prstGeom prst="rect">
            <a:avLst/>
          </a:prstGeom>
          <a:noFill/>
          <a:ln/>
        </p:spPr>
        <p:txBody>
          <a:bodyPr wrap="square" lIns="0" tIns="0" rIns="0" bIns="0" rtlCol="0" anchor="ctr"/>
          <a:lstStyle/>
          <a:p>
            <a:pPr indent="0" marL="0">
              <a:buNone/>
            </a:pPr>
            <a:r>
              <a:rPr lang="en-US" sz="1600" dirty="0">
                <a:solidFill>
                  <a:schemeClr val="tx1"/>
                </a:solidFill>
              </a:rPr>
              <a:t>Calculer un score de risque explicable, de 0 à 100</a:t>
            </a:r>
            <a:endParaRPr lang="en-US" sz="1600" dirty="0"/>
          </a:p>
        </p:txBody>
      </p:sp>
      <p:sp>
        <p:nvSpPr>
          <p:cNvPr id="9" name="obj-n-2"/>
          <p:cNvSpPr/>
          <p:nvPr/>
        </p:nvSpPr>
        <p:spPr>
          <a:xfrm>
            <a:off x="548640" y="3291840"/>
            <a:ext cx="548640" cy="548640"/>
          </a:xfrm>
          <a:prstGeom prst="ellipse">
            <a:avLst/>
          </a:prstGeom>
          <a:solidFill>
            <a:schemeClr val="accent1"/>
          </a:solidFill>
          <a:ln w="12700">
            <a:solidFill>
              <a:schemeClr val="accent1"/>
            </a:solidFill>
            <a:prstDash val="solid"/>
          </a:ln>
        </p:spPr>
      </p:sp>
      <p:sp>
        <p:nvSpPr>
          <p:cNvPr id="10" name="Text 8"/>
          <p:cNvSpPr txBox="1"/>
          <p:nvPr/>
        </p:nvSpPr>
        <p:spPr>
          <a:xfrm>
            <a:off x="548640" y="329184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1" name="Text 9"/>
          <p:cNvSpPr txBox="1"/>
          <p:nvPr/>
        </p:nvSpPr>
        <p:spPr>
          <a:xfrm>
            <a:off x="1325880" y="3291840"/>
            <a:ext cx="5120640" cy="548640"/>
          </a:xfrm>
          <a:prstGeom prst="rect">
            <a:avLst/>
          </a:prstGeom>
          <a:noFill/>
          <a:ln/>
        </p:spPr>
        <p:txBody>
          <a:bodyPr wrap="square" lIns="0" tIns="0" rIns="0" bIns="0" rtlCol="0" anchor="ctr"/>
          <a:lstStyle/>
          <a:p>
            <a:pPr indent="0" marL="0">
              <a:buNone/>
            </a:pPr>
            <a:r>
              <a:rPr lang="en-US" sz="1600" dirty="0">
                <a:solidFill>
                  <a:schemeClr val="tx1"/>
                </a:solidFill>
              </a:rPr>
              <a:t>Détecter automatiquement les menaces élevées et critiques</a:t>
            </a:r>
            <a:endParaRPr lang="en-US" sz="1600" dirty="0"/>
          </a:p>
        </p:txBody>
      </p:sp>
      <p:sp>
        <p:nvSpPr>
          <p:cNvPr id="12" name="obj-n-3"/>
          <p:cNvSpPr/>
          <p:nvPr/>
        </p:nvSpPr>
        <p:spPr>
          <a:xfrm>
            <a:off x="548640" y="4206240"/>
            <a:ext cx="548640" cy="548640"/>
          </a:xfrm>
          <a:prstGeom prst="ellipse">
            <a:avLst/>
          </a:prstGeom>
          <a:solidFill>
            <a:schemeClr val="accent1"/>
          </a:solidFill>
          <a:ln w="12700">
            <a:solidFill>
              <a:schemeClr val="accent1"/>
            </a:solidFill>
            <a:prstDash val="solid"/>
          </a:ln>
        </p:spPr>
      </p:sp>
      <p:sp>
        <p:nvSpPr>
          <p:cNvPr id="13" name="Text 11"/>
          <p:cNvSpPr txBox="1"/>
          <p:nvPr/>
        </p:nvSpPr>
        <p:spPr>
          <a:xfrm>
            <a:off x="548640" y="420624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14" name="Text 12"/>
          <p:cNvSpPr txBox="1"/>
          <p:nvPr/>
        </p:nvSpPr>
        <p:spPr>
          <a:xfrm>
            <a:off x="1325880" y="4206240"/>
            <a:ext cx="5120640" cy="548640"/>
          </a:xfrm>
          <a:prstGeom prst="rect">
            <a:avLst/>
          </a:prstGeom>
          <a:noFill/>
          <a:ln/>
        </p:spPr>
        <p:txBody>
          <a:bodyPr wrap="square" lIns="0" tIns="0" rIns="0" bIns="0" rtlCol="0" anchor="ctr"/>
          <a:lstStyle/>
          <a:p>
            <a:pPr indent="0" marL="0">
              <a:buNone/>
            </a:pPr>
            <a:r>
              <a:rPr lang="en-US" sz="1600" dirty="0">
                <a:solidFill>
                  <a:schemeClr val="tx1"/>
                </a:solidFill>
              </a:rPr>
              <a:t>Présenter les résultats dans un dashboard lisible par une PME</a:t>
            </a:r>
            <a:endParaRPr lang="en-US" sz="1600" dirty="0"/>
          </a:p>
        </p:txBody>
      </p:sp>
      <p:sp>
        <p:nvSpPr>
          <p:cNvPr id="15" name="obj-n-4"/>
          <p:cNvSpPr/>
          <p:nvPr/>
        </p:nvSpPr>
        <p:spPr>
          <a:xfrm>
            <a:off x="548640" y="5120640"/>
            <a:ext cx="548640" cy="548640"/>
          </a:xfrm>
          <a:prstGeom prst="ellipse">
            <a:avLst/>
          </a:prstGeom>
          <a:solidFill>
            <a:schemeClr val="accent1"/>
          </a:solidFill>
          <a:ln w="12700">
            <a:solidFill>
              <a:schemeClr val="accent1"/>
            </a:solidFill>
            <a:prstDash val="solid"/>
          </a:ln>
        </p:spPr>
      </p:sp>
      <p:sp>
        <p:nvSpPr>
          <p:cNvPr id="16" name="Text 14"/>
          <p:cNvSpPr txBox="1"/>
          <p:nvPr/>
        </p:nvSpPr>
        <p:spPr>
          <a:xfrm>
            <a:off x="548640" y="512064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5</a:t>
            </a:r>
            <a:endParaRPr lang="en-US" sz="1800" dirty="0"/>
          </a:p>
        </p:txBody>
      </p:sp>
      <p:sp>
        <p:nvSpPr>
          <p:cNvPr id="17" name="Text 15"/>
          <p:cNvSpPr txBox="1"/>
          <p:nvPr/>
        </p:nvSpPr>
        <p:spPr>
          <a:xfrm>
            <a:off x="1325880" y="5120640"/>
            <a:ext cx="5120640" cy="548640"/>
          </a:xfrm>
          <a:prstGeom prst="rect">
            <a:avLst/>
          </a:prstGeom>
          <a:noFill/>
          <a:ln/>
        </p:spPr>
        <p:txBody>
          <a:bodyPr wrap="square" lIns="0" tIns="0" rIns="0" bIns="0" rtlCol="0" anchor="ctr"/>
          <a:lstStyle/>
          <a:p>
            <a:pPr indent="0" marL="0">
              <a:buNone/>
            </a:pPr>
            <a:r>
              <a:rPr lang="en-US" sz="1600" dirty="0">
                <a:solidFill>
                  <a:schemeClr val="tx1"/>
                </a:solidFill>
              </a:rPr>
              <a:t>Associer chaque menace à des actions de réponse concrètes</a:t>
            </a:r>
            <a:endParaRPr lang="en-US" sz="1600" dirty="0"/>
          </a:p>
        </p:txBody>
      </p:sp>
      <p:sp>
        <p:nvSpPr>
          <p:cNvPr id="18" name="criteria"/>
          <p:cNvSpPr/>
          <p:nvPr/>
        </p:nvSpPr>
        <p:spPr>
          <a:xfrm>
            <a:off x="6858000" y="1371600"/>
            <a:ext cx="4754880" cy="4663440"/>
          </a:xfrm>
          <a:prstGeom prst="roundRect">
            <a:avLst>
              <a:gd name="adj" fmla="val 2353"/>
            </a:avLst>
          </a:prstGeom>
          <a:solidFill>
            <a:schemeClr val="tx2"/>
          </a:solidFill>
          <a:ln w="12700">
            <a:solidFill>
              <a:schemeClr val="tx2"/>
            </a:solidFill>
            <a:prstDash val="solid"/>
          </a:ln>
        </p:spPr>
      </p:sp>
      <p:sp>
        <p:nvSpPr>
          <p:cNvPr id="19" name="Text 17"/>
          <p:cNvSpPr txBox="1"/>
          <p:nvPr/>
        </p:nvSpPr>
        <p:spPr>
          <a:xfrm>
            <a:off x="7132320" y="1600200"/>
            <a:ext cx="4206240" cy="411480"/>
          </a:xfrm>
          <a:prstGeom prst="rect">
            <a:avLst/>
          </a:prstGeom>
          <a:noFill/>
          <a:ln/>
        </p:spPr>
        <p:txBody>
          <a:bodyPr wrap="square" lIns="0" tIns="0" rIns="0" bIns="0" rtlCol="0" anchor="t"/>
          <a:lstStyle/>
          <a:p>
            <a:pPr indent="0" marL="0">
              <a:buNone/>
            </a:pPr>
            <a:r>
              <a:rPr lang="en-US" sz="2000" b="1" dirty="0">
                <a:solidFill>
                  <a:schemeClr val="accent2"/>
                </a:solidFill>
              </a:rPr>
              <a:t>Critères de réussite</a:t>
            </a:r>
            <a:endParaRPr lang="en-US" sz="2000" dirty="0"/>
          </a:p>
        </p:txBody>
      </p:sp>
      <p:sp>
        <p:nvSpPr>
          <p:cNvPr id="20" name="Text 18"/>
          <p:cNvSpPr txBox="1"/>
          <p:nvPr/>
        </p:nvSpPr>
        <p:spPr>
          <a:xfrm>
            <a:off x="7132320" y="2148840"/>
            <a:ext cx="4206240" cy="365760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bg1"/>
                </a:solidFill>
              </a:rPr>
              <a:t>Une menace suit le même format de bout en bout</a:t>
            </a:r>
            <a:endParaRPr lang="en-US" sz="1500" dirty="0"/>
          </a:p>
          <a:p>
            <a:pPr marL="342900" indent="-342900">
              <a:spcAft>
                <a:spcPts val="1000"/>
              </a:spcAft>
              <a:buSzPct val="100000"/>
              <a:buChar char="•"/>
            </a:pPr>
            <a:r>
              <a:rPr lang="en-US" sz="1500" dirty="0">
                <a:solidFill>
                  <a:schemeClr val="bg1"/>
                </a:solidFill>
              </a:rPr>
              <a:t>Le score est reproductible, borné et explicable</a:t>
            </a:r>
            <a:endParaRPr lang="en-US" sz="1500" dirty="0"/>
          </a:p>
          <a:p>
            <a:pPr marL="342900" indent="-342900">
              <a:spcAft>
                <a:spcPts val="1000"/>
              </a:spcAft>
              <a:buSzPct val="100000"/>
              <a:buChar char="•"/>
            </a:pPr>
            <a:r>
              <a:rPr lang="en-US" sz="1500" dirty="0">
                <a:solidFill>
                  <a:schemeClr val="bg1"/>
                </a:solidFill>
              </a:rPr>
              <a:t>Un score élevé déclenche une alerte persistée</a:t>
            </a:r>
            <a:endParaRPr lang="en-US" sz="1500" dirty="0"/>
          </a:p>
          <a:p>
            <a:pPr marL="342900" indent="-342900">
              <a:spcAft>
                <a:spcPts val="1000"/>
              </a:spcAft>
              <a:buSzPct val="100000"/>
              <a:buChar char="•"/>
            </a:pPr>
            <a:r>
              <a:rPr lang="en-US" sz="1500" dirty="0">
                <a:solidFill>
                  <a:schemeClr val="bg1"/>
                </a:solidFill>
              </a:rPr>
              <a:t>Le dashboard est lisible sans expertise SOC</a:t>
            </a:r>
            <a:endParaRPr lang="en-US" sz="1500" dirty="0"/>
          </a:p>
          <a:p>
            <a:pPr marL="342900" indent="-342900">
              <a:spcAft>
                <a:spcPts val="1000"/>
              </a:spcAft>
              <a:buSzPct val="100000"/>
              <a:buChar char="•"/>
            </a:pPr>
            <a:r>
              <a:rPr lang="en-US" sz="1500" dirty="0">
                <a:solidFill>
                  <a:schemeClr val="bg1"/>
                </a:solidFill>
              </a:rPr>
              <a:t>Le projet démarre localement et ses fonctions critiques sont testées</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000" b="1" dirty="0">
                <a:solidFill>
                  <a:schemeClr val="tx2"/>
                </a:solidFill>
              </a:rPr>
              <a:t>De la source à l'action : un pipeline en huit étapes</a:t>
            </a:r>
            <a:endParaRPr lang="en-US" sz="3000" dirty="0"/>
          </a:p>
        </p:txBody>
      </p:sp>
      <p:sp>
        <p:nvSpPr>
          <p:cNvPr id="3" name="pipe-0"/>
          <p:cNvSpPr/>
          <p:nvPr/>
        </p:nvSpPr>
        <p:spPr>
          <a:xfrm>
            <a:off x="548640" y="1463040"/>
            <a:ext cx="2514600" cy="1600200"/>
          </a:xfrm>
          <a:prstGeom prst="roundRect">
            <a:avLst>
              <a:gd name="adj" fmla="val 6857"/>
            </a:avLst>
          </a:prstGeom>
          <a:solidFill>
            <a:schemeClr val="bg2"/>
          </a:solidFill>
          <a:ln w="12700">
            <a:solidFill>
              <a:schemeClr val="bg2"/>
            </a:solidFill>
            <a:prstDash val="solid"/>
          </a:ln>
        </p:spPr>
      </p:sp>
      <p:sp>
        <p:nvSpPr>
          <p:cNvPr id="4" name="Text 2"/>
          <p:cNvSpPr txBox="1"/>
          <p:nvPr/>
        </p:nvSpPr>
        <p:spPr>
          <a:xfrm>
            <a:off x="731520" y="1691640"/>
            <a:ext cx="2148840" cy="411480"/>
          </a:xfrm>
          <a:prstGeom prst="rect">
            <a:avLst/>
          </a:prstGeom>
          <a:noFill/>
          <a:ln/>
        </p:spPr>
        <p:txBody>
          <a:bodyPr wrap="square" lIns="0" tIns="0" rIns="0" bIns="0" rtlCol="0" anchor="t"/>
          <a:lstStyle/>
          <a:p>
            <a:pPr indent="0" marL="0">
              <a:buNone/>
            </a:pPr>
            <a:r>
              <a:rPr lang="en-US" sz="1800" b="1" dirty="0">
                <a:solidFill>
                  <a:schemeClr val="tx2"/>
                </a:solidFill>
              </a:rPr>
              <a:t>1. APIs TI</a:t>
            </a:r>
            <a:endParaRPr lang="en-US" sz="1800" dirty="0"/>
          </a:p>
        </p:txBody>
      </p:sp>
      <p:sp>
        <p:nvSpPr>
          <p:cNvPr id="5" name="Text 3"/>
          <p:cNvSpPr txBox="1"/>
          <p:nvPr/>
        </p:nvSpPr>
        <p:spPr>
          <a:xfrm>
            <a:off x="731520" y="2194560"/>
            <a:ext cx="2148840" cy="731520"/>
          </a:xfrm>
          <a:prstGeom prst="rect">
            <a:avLst/>
          </a:prstGeom>
          <a:noFill/>
          <a:ln/>
        </p:spPr>
        <p:txBody>
          <a:bodyPr wrap="square" lIns="0" tIns="0" rIns="0" bIns="0" rtlCol="0" anchor="t"/>
          <a:lstStyle/>
          <a:p>
            <a:pPr indent="0" marL="0">
              <a:buNone/>
            </a:pPr>
            <a:r>
              <a:rPr lang="en-US" sz="1400" dirty="0">
                <a:solidFill>
                  <a:schemeClr val="tx1"/>
                </a:solidFill>
              </a:rPr>
              <a:t>NVD, URLhaus, OTX, AbuseIPDB</a:t>
            </a:r>
            <a:endParaRPr lang="en-US" sz="1400" dirty="0"/>
          </a:p>
        </p:txBody>
      </p:sp>
      <p:sp>
        <p:nvSpPr>
          <p:cNvPr id="6" name="pipe-arrow-0"/>
          <p:cNvSpPr/>
          <p:nvPr/>
        </p:nvSpPr>
        <p:spPr>
          <a:xfrm>
            <a:off x="3081528" y="2258568"/>
            <a:ext cx="283464" cy="0"/>
          </a:xfrm>
          <a:prstGeom prst="line">
            <a:avLst/>
          </a:prstGeom>
          <a:noFill/>
          <a:ln w="19050">
            <a:solidFill>
              <a:schemeClr val="accent5"/>
            </a:solidFill>
            <a:prstDash val="solid"/>
            <a:tailEnd type="triangle"/>
          </a:ln>
        </p:spPr>
      </p:sp>
      <p:sp>
        <p:nvSpPr>
          <p:cNvPr id="7" name="pipe-1"/>
          <p:cNvSpPr/>
          <p:nvPr/>
        </p:nvSpPr>
        <p:spPr>
          <a:xfrm>
            <a:off x="3383280" y="1463040"/>
            <a:ext cx="2514600" cy="1600200"/>
          </a:xfrm>
          <a:prstGeom prst="roundRect">
            <a:avLst>
              <a:gd name="adj" fmla="val 6857"/>
            </a:avLst>
          </a:prstGeom>
          <a:solidFill>
            <a:schemeClr val="bg2"/>
          </a:solidFill>
          <a:ln w="12700">
            <a:solidFill>
              <a:schemeClr val="bg2"/>
            </a:solidFill>
            <a:prstDash val="solid"/>
          </a:ln>
        </p:spPr>
      </p:sp>
      <p:sp>
        <p:nvSpPr>
          <p:cNvPr id="8" name="Text 6"/>
          <p:cNvSpPr txBox="1"/>
          <p:nvPr/>
        </p:nvSpPr>
        <p:spPr>
          <a:xfrm>
            <a:off x="3566160" y="1691640"/>
            <a:ext cx="2148840" cy="411480"/>
          </a:xfrm>
          <a:prstGeom prst="rect">
            <a:avLst/>
          </a:prstGeom>
          <a:noFill/>
          <a:ln/>
        </p:spPr>
        <p:txBody>
          <a:bodyPr wrap="square" lIns="0" tIns="0" rIns="0" bIns="0" rtlCol="0" anchor="t"/>
          <a:lstStyle/>
          <a:p>
            <a:pPr indent="0" marL="0">
              <a:buNone/>
            </a:pPr>
            <a:r>
              <a:rPr lang="en-US" sz="1800" b="1" dirty="0">
                <a:solidFill>
                  <a:schemeClr val="tx2"/>
                </a:solidFill>
              </a:rPr>
              <a:t>2. Collecteurs</a:t>
            </a:r>
            <a:endParaRPr lang="en-US" sz="1800" dirty="0"/>
          </a:p>
        </p:txBody>
      </p:sp>
      <p:sp>
        <p:nvSpPr>
          <p:cNvPr id="9" name="Text 7"/>
          <p:cNvSpPr txBox="1"/>
          <p:nvPr/>
        </p:nvSpPr>
        <p:spPr>
          <a:xfrm>
            <a:off x="3566160" y="2194560"/>
            <a:ext cx="2148840" cy="731520"/>
          </a:xfrm>
          <a:prstGeom prst="rect">
            <a:avLst/>
          </a:prstGeom>
          <a:noFill/>
          <a:ln/>
        </p:spPr>
        <p:txBody>
          <a:bodyPr wrap="square" lIns="0" tIns="0" rIns="0" bIns="0" rtlCol="0" anchor="t"/>
          <a:lstStyle/>
          <a:p>
            <a:pPr indent="0" marL="0">
              <a:buNone/>
            </a:pPr>
            <a:r>
              <a:rPr lang="en-US" sz="1400" dirty="0">
                <a:solidFill>
                  <a:schemeClr val="tx1"/>
                </a:solidFill>
              </a:rPr>
              <a:t>Python, httpx, asynchrones</a:t>
            </a:r>
            <a:endParaRPr lang="en-US" sz="1400" dirty="0"/>
          </a:p>
        </p:txBody>
      </p:sp>
      <p:sp>
        <p:nvSpPr>
          <p:cNvPr id="10" name="pipe-arrow-1"/>
          <p:cNvSpPr/>
          <p:nvPr/>
        </p:nvSpPr>
        <p:spPr>
          <a:xfrm>
            <a:off x="5916168" y="2258568"/>
            <a:ext cx="283464" cy="0"/>
          </a:xfrm>
          <a:prstGeom prst="line">
            <a:avLst/>
          </a:prstGeom>
          <a:noFill/>
          <a:ln w="19050">
            <a:solidFill>
              <a:schemeClr val="accent5"/>
            </a:solidFill>
            <a:prstDash val="solid"/>
            <a:tailEnd type="triangle"/>
          </a:ln>
        </p:spPr>
      </p:sp>
      <p:sp>
        <p:nvSpPr>
          <p:cNvPr id="11" name="pipe-2"/>
          <p:cNvSpPr/>
          <p:nvPr/>
        </p:nvSpPr>
        <p:spPr>
          <a:xfrm>
            <a:off x="6217920" y="1463040"/>
            <a:ext cx="2514600" cy="1600200"/>
          </a:xfrm>
          <a:prstGeom prst="roundRect">
            <a:avLst>
              <a:gd name="adj" fmla="val 6857"/>
            </a:avLst>
          </a:prstGeom>
          <a:solidFill>
            <a:schemeClr val="bg2"/>
          </a:solidFill>
          <a:ln w="12700">
            <a:solidFill>
              <a:schemeClr val="bg2"/>
            </a:solidFill>
            <a:prstDash val="solid"/>
          </a:ln>
        </p:spPr>
      </p:sp>
      <p:sp>
        <p:nvSpPr>
          <p:cNvPr id="12" name="Text 10"/>
          <p:cNvSpPr txBox="1"/>
          <p:nvPr/>
        </p:nvSpPr>
        <p:spPr>
          <a:xfrm>
            <a:off x="6400800" y="1691640"/>
            <a:ext cx="2148840" cy="411480"/>
          </a:xfrm>
          <a:prstGeom prst="rect">
            <a:avLst/>
          </a:prstGeom>
          <a:noFill/>
          <a:ln/>
        </p:spPr>
        <p:txBody>
          <a:bodyPr wrap="square" lIns="0" tIns="0" rIns="0" bIns="0" rtlCol="0" anchor="t"/>
          <a:lstStyle/>
          <a:p>
            <a:pPr indent="0" marL="0">
              <a:buNone/>
            </a:pPr>
            <a:r>
              <a:rPr lang="en-US" sz="1800" b="1" dirty="0">
                <a:solidFill>
                  <a:schemeClr val="tx2"/>
                </a:solidFill>
              </a:rPr>
              <a:t>3. Normalisation</a:t>
            </a:r>
            <a:endParaRPr lang="en-US" sz="1800" dirty="0"/>
          </a:p>
        </p:txBody>
      </p:sp>
      <p:sp>
        <p:nvSpPr>
          <p:cNvPr id="13" name="Text 11"/>
          <p:cNvSpPr txBox="1"/>
          <p:nvPr/>
        </p:nvSpPr>
        <p:spPr>
          <a:xfrm>
            <a:off x="6400800" y="2194560"/>
            <a:ext cx="2148840" cy="731520"/>
          </a:xfrm>
          <a:prstGeom prst="rect">
            <a:avLst/>
          </a:prstGeom>
          <a:noFill/>
          <a:ln/>
        </p:spPr>
        <p:txBody>
          <a:bodyPr wrap="square" lIns="0" tIns="0" rIns="0" bIns="0" rtlCol="0" anchor="t"/>
          <a:lstStyle/>
          <a:p>
            <a:pPr indent="0" marL="0">
              <a:buNone/>
            </a:pPr>
            <a:r>
              <a:rPr lang="en-US" sz="1400" dirty="0">
                <a:solidFill>
                  <a:schemeClr val="tx1"/>
                </a:solidFill>
              </a:rPr>
              <a:t>schéma ThreatInput</a:t>
            </a:r>
            <a:endParaRPr lang="en-US" sz="1400" dirty="0"/>
          </a:p>
        </p:txBody>
      </p:sp>
      <p:sp>
        <p:nvSpPr>
          <p:cNvPr id="14" name="pipe-arrow-2"/>
          <p:cNvSpPr/>
          <p:nvPr/>
        </p:nvSpPr>
        <p:spPr>
          <a:xfrm>
            <a:off x="8750808" y="2258568"/>
            <a:ext cx="283464" cy="0"/>
          </a:xfrm>
          <a:prstGeom prst="line">
            <a:avLst/>
          </a:prstGeom>
          <a:noFill/>
          <a:ln w="19050">
            <a:solidFill>
              <a:schemeClr val="accent5"/>
            </a:solidFill>
            <a:prstDash val="solid"/>
            <a:tailEnd type="triangle"/>
          </a:ln>
        </p:spPr>
      </p:sp>
      <p:sp>
        <p:nvSpPr>
          <p:cNvPr id="15" name="pipe-3"/>
          <p:cNvSpPr/>
          <p:nvPr/>
        </p:nvSpPr>
        <p:spPr>
          <a:xfrm>
            <a:off x="9052560" y="1463040"/>
            <a:ext cx="2514600" cy="1600200"/>
          </a:xfrm>
          <a:prstGeom prst="roundRect">
            <a:avLst>
              <a:gd name="adj" fmla="val 6857"/>
            </a:avLst>
          </a:prstGeom>
          <a:solidFill>
            <a:schemeClr val="accent1"/>
          </a:solidFill>
          <a:ln w="12700">
            <a:solidFill>
              <a:schemeClr val="accent1"/>
            </a:solidFill>
            <a:prstDash val="solid"/>
          </a:ln>
        </p:spPr>
      </p:sp>
      <p:sp>
        <p:nvSpPr>
          <p:cNvPr id="16" name="Text 14"/>
          <p:cNvSpPr txBox="1"/>
          <p:nvPr/>
        </p:nvSpPr>
        <p:spPr>
          <a:xfrm>
            <a:off x="9235440" y="1691640"/>
            <a:ext cx="2148840" cy="411480"/>
          </a:xfrm>
          <a:prstGeom prst="rect">
            <a:avLst/>
          </a:prstGeom>
          <a:noFill/>
          <a:ln/>
        </p:spPr>
        <p:txBody>
          <a:bodyPr wrap="square" lIns="0" tIns="0" rIns="0" bIns="0" rtlCol="0" anchor="t"/>
          <a:lstStyle/>
          <a:p>
            <a:pPr indent="0" marL="0">
              <a:buNone/>
            </a:pPr>
            <a:r>
              <a:rPr lang="en-US" sz="1800" b="1" dirty="0">
                <a:solidFill>
                  <a:schemeClr val="bg1"/>
                </a:solidFill>
              </a:rPr>
              <a:t>4. Scoring</a:t>
            </a:r>
            <a:endParaRPr lang="en-US" sz="1800" dirty="0"/>
          </a:p>
        </p:txBody>
      </p:sp>
      <p:sp>
        <p:nvSpPr>
          <p:cNvPr id="17" name="Text 15"/>
          <p:cNvSpPr txBox="1"/>
          <p:nvPr/>
        </p:nvSpPr>
        <p:spPr>
          <a:xfrm>
            <a:off x="9235440" y="2194560"/>
            <a:ext cx="2148840" cy="731520"/>
          </a:xfrm>
          <a:prstGeom prst="rect">
            <a:avLst/>
          </a:prstGeom>
          <a:noFill/>
          <a:ln/>
        </p:spPr>
        <p:txBody>
          <a:bodyPr wrap="square" lIns="0" tIns="0" rIns="0" bIns="0" rtlCol="0" anchor="t"/>
          <a:lstStyle/>
          <a:p>
            <a:pPr indent="0" marL="0">
              <a:buNone/>
            </a:pPr>
            <a:r>
              <a:rPr lang="en-US" sz="1400" dirty="0">
                <a:solidFill>
                  <a:schemeClr val="bg1"/>
                </a:solidFill>
              </a:rPr>
              <a:t>règles, 0 à 100</a:t>
            </a:r>
            <a:endParaRPr lang="en-US" sz="1400" dirty="0"/>
          </a:p>
        </p:txBody>
      </p:sp>
      <p:sp>
        <p:nvSpPr>
          <p:cNvPr id="18" name="pipe-4"/>
          <p:cNvSpPr/>
          <p:nvPr/>
        </p:nvSpPr>
        <p:spPr>
          <a:xfrm>
            <a:off x="548640" y="3611880"/>
            <a:ext cx="2514600" cy="1600200"/>
          </a:xfrm>
          <a:prstGeom prst="roundRect">
            <a:avLst>
              <a:gd name="adj" fmla="val 6857"/>
            </a:avLst>
          </a:prstGeom>
          <a:solidFill>
            <a:schemeClr val="bg2"/>
          </a:solidFill>
          <a:ln w="12700">
            <a:solidFill>
              <a:schemeClr val="bg2"/>
            </a:solidFill>
            <a:prstDash val="solid"/>
          </a:ln>
        </p:spPr>
      </p:sp>
      <p:sp>
        <p:nvSpPr>
          <p:cNvPr id="19" name="Text 17"/>
          <p:cNvSpPr txBox="1"/>
          <p:nvPr/>
        </p:nvSpPr>
        <p:spPr>
          <a:xfrm>
            <a:off x="731520" y="3840480"/>
            <a:ext cx="2148840" cy="411480"/>
          </a:xfrm>
          <a:prstGeom prst="rect">
            <a:avLst/>
          </a:prstGeom>
          <a:noFill/>
          <a:ln/>
        </p:spPr>
        <p:txBody>
          <a:bodyPr wrap="square" lIns="0" tIns="0" rIns="0" bIns="0" rtlCol="0" anchor="t"/>
          <a:lstStyle/>
          <a:p>
            <a:pPr indent="0" marL="0">
              <a:buNone/>
            </a:pPr>
            <a:r>
              <a:rPr lang="en-US" sz="1800" b="1" dirty="0">
                <a:solidFill>
                  <a:schemeClr val="tx2"/>
                </a:solidFill>
              </a:rPr>
              <a:t>5. Base</a:t>
            </a:r>
            <a:endParaRPr lang="en-US" sz="1800" dirty="0"/>
          </a:p>
        </p:txBody>
      </p:sp>
      <p:sp>
        <p:nvSpPr>
          <p:cNvPr id="20" name="Text 18"/>
          <p:cNvSpPr txBox="1"/>
          <p:nvPr/>
        </p:nvSpPr>
        <p:spPr>
          <a:xfrm>
            <a:off x="731520" y="4343400"/>
            <a:ext cx="2148840" cy="731520"/>
          </a:xfrm>
          <a:prstGeom prst="rect">
            <a:avLst/>
          </a:prstGeom>
          <a:noFill/>
          <a:ln/>
        </p:spPr>
        <p:txBody>
          <a:bodyPr wrap="square" lIns="0" tIns="0" rIns="0" bIns="0" rtlCol="0" anchor="t"/>
          <a:lstStyle/>
          <a:p>
            <a:pPr indent="0" marL="0">
              <a:buNone/>
            </a:pPr>
            <a:r>
              <a:rPr lang="en-US" sz="1400" dirty="0">
                <a:solidFill>
                  <a:schemeClr val="tx1"/>
                </a:solidFill>
              </a:rPr>
              <a:t>SQLAlchemy, SQLite / PostgreSQL</a:t>
            </a:r>
            <a:endParaRPr lang="en-US" sz="1400" dirty="0"/>
          </a:p>
        </p:txBody>
      </p:sp>
      <p:sp>
        <p:nvSpPr>
          <p:cNvPr id="21" name="pipe-arrow-4"/>
          <p:cNvSpPr/>
          <p:nvPr/>
        </p:nvSpPr>
        <p:spPr>
          <a:xfrm>
            <a:off x="3081528" y="4407408"/>
            <a:ext cx="283464" cy="0"/>
          </a:xfrm>
          <a:prstGeom prst="line">
            <a:avLst/>
          </a:prstGeom>
          <a:noFill/>
          <a:ln w="19050">
            <a:solidFill>
              <a:schemeClr val="accent5"/>
            </a:solidFill>
            <a:prstDash val="solid"/>
            <a:tailEnd type="triangle"/>
          </a:ln>
        </p:spPr>
      </p:sp>
      <p:sp>
        <p:nvSpPr>
          <p:cNvPr id="22" name="pipe-5"/>
          <p:cNvSpPr/>
          <p:nvPr/>
        </p:nvSpPr>
        <p:spPr>
          <a:xfrm>
            <a:off x="3383280" y="3611880"/>
            <a:ext cx="2514600" cy="1600200"/>
          </a:xfrm>
          <a:prstGeom prst="roundRect">
            <a:avLst>
              <a:gd name="adj" fmla="val 6857"/>
            </a:avLst>
          </a:prstGeom>
          <a:solidFill>
            <a:schemeClr val="bg2"/>
          </a:solidFill>
          <a:ln w="12700">
            <a:solidFill>
              <a:schemeClr val="bg2"/>
            </a:solidFill>
            <a:prstDash val="solid"/>
          </a:ln>
        </p:spPr>
      </p:sp>
      <p:sp>
        <p:nvSpPr>
          <p:cNvPr id="23" name="Text 21"/>
          <p:cNvSpPr txBox="1"/>
          <p:nvPr/>
        </p:nvSpPr>
        <p:spPr>
          <a:xfrm>
            <a:off x="3566160" y="3840480"/>
            <a:ext cx="2148840" cy="411480"/>
          </a:xfrm>
          <a:prstGeom prst="rect">
            <a:avLst/>
          </a:prstGeom>
          <a:noFill/>
          <a:ln/>
        </p:spPr>
        <p:txBody>
          <a:bodyPr wrap="square" lIns="0" tIns="0" rIns="0" bIns="0" rtlCol="0" anchor="t"/>
          <a:lstStyle/>
          <a:p>
            <a:pPr indent="0" marL="0">
              <a:buNone/>
            </a:pPr>
            <a:r>
              <a:rPr lang="en-US" sz="1800" b="1" dirty="0">
                <a:solidFill>
                  <a:schemeClr val="tx2"/>
                </a:solidFill>
              </a:rPr>
              <a:t>6. API</a:t>
            </a:r>
            <a:endParaRPr lang="en-US" sz="1800" dirty="0"/>
          </a:p>
        </p:txBody>
      </p:sp>
      <p:sp>
        <p:nvSpPr>
          <p:cNvPr id="24" name="Text 22"/>
          <p:cNvSpPr txBox="1"/>
          <p:nvPr/>
        </p:nvSpPr>
        <p:spPr>
          <a:xfrm>
            <a:off x="3566160" y="4343400"/>
            <a:ext cx="2148840" cy="731520"/>
          </a:xfrm>
          <a:prstGeom prst="rect">
            <a:avLst/>
          </a:prstGeom>
          <a:noFill/>
          <a:ln/>
        </p:spPr>
        <p:txBody>
          <a:bodyPr wrap="square" lIns="0" tIns="0" rIns="0" bIns="0" rtlCol="0" anchor="t"/>
          <a:lstStyle/>
          <a:p>
            <a:pPr indent="0" marL="0">
              <a:buNone/>
            </a:pPr>
            <a:r>
              <a:rPr lang="en-US" sz="1400" dirty="0">
                <a:solidFill>
                  <a:schemeClr val="tx1"/>
                </a:solidFill>
              </a:rPr>
              <a:t>FastAPI, OpenAPI</a:t>
            </a:r>
            <a:endParaRPr lang="en-US" sz="1400" dirty="0"/>
          </a:p>
        </p:txBody>
      </p:sp>
      <p:sp>
        <p:nvSpPr>
          <p:cNvPr id="25" name="pipe-arrow-5"/>
          <p:cNvSpPr/>
          <p:nvPr/>
        </p:nvSpPr>
        <p:spPr>
          <a:xfrm>
            <a:off x="5916168" y="4407408"/>
            <a:ext cx="283464" cy="0"/>
          </a:xfrm>
          <a:prstGeom prst="line">
            <a:avLst/>
          </a:prstGeom>
          <a:noFill/>
          <a:ln w="19050">
            <a:solidFill>
              <a:schemeClr val="accent5"/>
            </a:solidFill>
            <a:prstDash val="solid"/>
            <a:tailEnd type="triangle"/>
          </a:ln>
        </p:spPr>
      </p:sp>
      <p:sp>
        <p:nvSpPr>
          <p:cNvPr id="26" name="pipe-6"/>
          <p:cNvSpPr/>
          <p:nvPr/>
        </p:nvSpPr>
        <p:spPr>
          <a:xfrm>
            <a:off x="6217920" y="3611880"/>
            <a:ext cx="2514600" cy="1600200"/>
          </a:xfrm>
          <a:prstGeom prst="roundRect">
            <a:avLst>
              <a:gd name="adj" fmla="val 6857"/>
            </a:avLst>
          </a:prstGeom>
          <a:solidFill>
            <a:schemeClr val="bg2"/>
          </a:solidFill>
          <a:ln w="12700">
            <a:solidFill>
              <a:schemeClr val="bg2"/>
            </a:solidFill>
            <a:prstDash val="solid"/>
          </a:ln>
        </p:spPr>
      </p:sp>
      <p:sp>
        <p:nvSpPr>
          <p:cNvPr id="27" name="Text 25"/>
          <p:cNvSpPr txBox="1"/>
          <p:nvPr/>
        </p:nvSpPr>
        <p:spPr>
          <a:xfrm>
            <a:off x="6400800" y="3840480"/>
            <a:ext cx="2148840" cy="411480"/>
          </a:xfrm>
          <a:prstGeom prst="rect">
            <a:avLst/>
          </a:prstGeom>
          <a:noFill/>
          <a:ln/>
        </p:spPr>
        <p:txBody>
          <a:bodyPr wrap="square" lIns="0" tIns="0" rIns="0" bIns="0" rtlCol="0" anchor="t"/>
          <a:lstStyle/>
          <a:p>
            <a:pPr indent="0" marL="0">
              <a:buNone/>
            </a:pPr>
            <a:r>
              <a:rPr lang="en-US" sz="1800" b="1" dirty="0">
                <a:solidFill>
                  <a:schemeClr val="tx2"/>
                </a:solidFill>
              </a:rPr>
              <a:t>7. Dashboard</a:t>
            </a:r>
            <a:endParaRPr lang="en-US" sz="1800" dirty="0"/>
          </a:p>
        </p:txBody>
      </p:sp>
      <p:sp>
        <p:nvSpPr>
          <p:cNvPr id="28" name="Text 26"/>
          <p:cNvSpPr txBox="1"/>
          <p:nvPr/>
        </p:nvSpPr>
        <p:spPr>
          <a:xfrm>
            <a:off x="6400800" y="4343400"/>
            <a:ext cx="2148840" cy="731520"/>
          </a:xfrm>
          <a:prstGeom prst="rect">
            <a:avLst/>
          </a:prstGeom>
          <a:noFill/>
          <a:ln/>
        </p:spPr>
        <p:txBody>
          <a:bodyPr wrap="square" lIns="0" tIns="0" rIns="0" bIns="0" rtlCol="0" anchor="t"/>
          <a:lstStyle/>
          <a:p>
            <a:pPr indent="0" marL="0">
              <a:buNone/>
            </a:pPr>
            <a:r>
              <a:rPr lang="en-US" sz="1400" dirty="0">
                <a:solidFill>
                  <a:schemeClr val="tx1"/>
                </a:solidFill>
              </a:rPr>
              <a:t>React + TypeScript</a:t>
            </a:r>
            <a:endParaRPr lang="en-US" sz="1400" dirty="0"/>
          </a:p>
        </p:txBody>
      </p:sp>
      <p:sp>
        <p:nvSpPr>
          <p:cNvPr id="29" name="pipe-arrow-6"/>
          <p:cNvSpPr/>
          <p:nvPr/>
        </p:nvSpPr>
        <p:spPr>
          <a:xfrm>
            <a:off x="8750808" y="4407408"/>
            <a:ext cx="283464" cy="0"/>
          </a:xfrm>
          <a:prstGeom prst="line">
            <a:avLst/>
          </a:prstGeom>
          <a:noFill/>
          <a:ln w="19050">
            <a:solidFill>
              <a:schemeClr val="accent5"/>
            </a:solidFill>
            <a:prstDash val="solid"/>
            <a:tailEnd type="triangle"/>
          </a:ln>
        </p:spPr>
      </p:sp>
      <p:sp>
        <p:nvSpPr>
          <p:cNvPr id="30" name="pipe-7"/>
          <p:cNvSpPr/>
          <p:nvPr/>
        </p:nvSpPr>
        <p:spPr>
          <a:xfrm>
            <a:off x="9052560" y="3611880"/>
            <a:ext cx="2514600" cy="1600200"/>
          </a:xfrm>
          <a:prstGeom prst="roundRect">
            <a:avLst>
              <a:gd name="adj" fmla="val 6857"/>
            </a:avLst>
          </a:prstGeom>
          <a:solidFill>
            <a:schemeClr val="accent1"/>
          </a:solidFill>
          <a:ln w="12700">
            <a:solidFill>
              <a:schemeClr val="accent1"/>
            </a:solidFill>
            <a:prstDash val="solid"/>
          </a:ln>
        </p:spPr>
      </p:sp>
      <p:sp>
        <p:nvSpPr>
          <p:cNvPr id="31" name="Text 29"/>
          <p:cNvSpPr txBox="1"/>
          <p:nvPr/>
        </p:nvSpPr>
        <p:spPr>
          <a:xfrm>
            <a:off x="9235440" y="3840480"/>
            <a:ext cx="2148840" cy="411480"/>
          </a:xfrm>
          <a:prstGeom prst="rect">
            <a:avLst/>
          </a:prstGeom>
          <a:noFill/>
          <a:ln/>
        </p:spPr>
        <p:txBody>
          <a:bodyPr wrap="square" lIns="0" tIns="0" rIns="0" bIns="0" rtlCol="0" anchor="t"/>
          <a:lstStyle/>
          <a:p>
            <a:pPr indent="0" marL="0">
              <a:buNone/>
            </a:pPr>
            <a:r>
              <a:rPr lang="en-US" sz="1800" b="1" dirty="0">
                <a:solidFill>
                  <a:schemeClr val="bg1"/>
                </a:solidFill>
              </a:rPr>
              <a:t>8. Action</a:t>
            </a:r>
            <a:endParaRPr lang="en-US" sz="1800" dirty="0"/>
          </a:p>
        </p:txBody>
      </p:sp>
      <p:sp>
        <p:nvSpPr>
          <p:cNvPr id="32" name="Text 30"/>
          <p:cNvSpPr txBox="1"/>
          <p:nvPr/>
        </p:nvSpPr>
        <p:spPr>
          <a:xfrm>
            <a:off x="9235440" y="4343400"/>
            <a:ext cx="2148840" cy="731520"/>
          </a:xfrm>
          <a:prstGeom prst="rect">
            <a:avLst/>
          </a:prstGeom>
          <a:noFill/>
          <a:ln/>
        </p:spPr>
        <p:txBody>
          <a:bodyPr wrap="square" lIns="0" tIns="0" rIns="0" bIns="0" rtlCol="0" anchor="t"/>
          <a:lstStyle/>
          <a:p>
            <a:pPr indent="0" marL="0">
              <a:buNone/>
            </a:pPr>
            <a:r>
              <a:rPr lang="en-US" sz="1400" dirty="0">
                <a:solidFill>
                  <a:schemeClr val="bg1"/>
                </a:solidFill>
              </a:rPr>
              <a:t>alertes et fiches réflexes</a:t>
            </a:r>
            <a:endParaRPr lang="en-US" sz="1400" dirty="0"/>
          </a:p>
        </p:txBody>
      </p:sp>
      <p:sp>
        <p:nvSpPr>
          <p:cNvPr id="33" name="pipe-wrap-1"/>
          <p:cNvSpPr/>
          <p:nvPr/>
        </p:nvSpPr>
        <p:spPr>
          <a:xfrm>
            <a:off x="10378440" y="3063240"/>
            <a:ext cx="0" cy="274320"/>
          </a:xfrm>
          <a:prstGeom prst="line">
            <a:avLst/>
          </a:prstGeom>
          <a:noFill/>
          <a:ln w="19050">
            <a:solidFill>
              <a:srgbClr val="6B7688"/>
            </a:solidFill>
            <a:prstDash val="solid"/>
          </a:ln>
        </p:spPr>
      </p:sp>
      <p:sp>
        <p:nvSpPr>
          <p:cNvPr id="34" name="pipe-wrap-2"/>
          <p:cNvSpPr/>
          <p:nvPr/>
        </p:nvSpPr>
        <p:spPr>
          <a:xfrm>
            <a:off x="1783080" y="3337560"/>
            <a:ext cx="8595360" cy="0"/>
          </a:xfrm>
          <a:prstGeom prst="line">
            <a:avLst/>
          </a:prstGeom>
          <a:noFill/>
          <a:ln w="19050">
            <a:solidFill>
              <a:srgbClr val="6B7688"/>
            </a:solidFill>
            <a:prstDash val="solid"/>
          </a:ln>
        </p:spPr>
      </p:sp>
      <p:sp>
        <p:nvSpPr>
          <p:cNvPr id="35" name="pipe-wrap-3"/>
          <p:cNvSpPr/>
          <p:nvPr/>
        </p:nvSpPr>
        <p:spPr>
          <a:xfrm>
            <a:off x="1783080" y="3337560"/>
            <a:ext cx="0" cy="256032"/>
          </a:xfrm>
          <a:prstGeom prst="line">
            <a:avLst/>
          </a:prstGeom>
          <a:noFill/>
          <a:ln w="19050">
            <a:solidFill>
              <a:schemeClr val="accent5"/>
            </a:solidFill>
            <a:prstDash val="solid"/>
            <a:tailEnd type="triangle"/>
          </a:ln>
        </p:spPr>
      </p:sp>
      <p:sp>
        <p:nvSpPr>
          <p:cNvPr id="36" name="pipe-note"/>
          <p:cNvSpPr/>
          <p:nvPr/>
        </p:nvSpPr>
        <p:spPr>
          <a:xfrm>
            <a:off x="548640" y="5486400"/>
            <a:ext cx="11064240" cy="594360"/>
          </a:xfrm>
          <a:prstGeom prst="roundRect">
            <a:avLst>
              <a:gd name="adj" fmla="val 18462"/>
            </a:avLst>
          </a:prstGeom>
          <a:solidFill>
            <a:schemeClr val="bg2"/>
          </a:solidFill>
          <a:ln w="12700">
            <a:solidFill>
              <a:schemeClr val="bg2"/>
            </a:solidFill>
            <a:prstDash val="solid"/>
          </a:ln>
        </p:spPr>
      </p:sp>
      <p:sp>
        <p:nvSpPr>
          <p:cNvPr id="37" name="Text 35"/>
          <p:cNvSpPr txBox="1"/>
          <p:nvPr/>
        </p:nvSpPr>
        <p:spPr>
          <a:xfrm>
            <a:off x="822960" y="5486400"/>
            <a:ext cx="10515600" cy="594360"/>
          </a:xfrm>
          <a:prstGeom prst="rect">
            <a:avLst/>
          </a:prstGeom>
          <a:noFill/>
          <a:ln/>
        </p:spPr>
        <p:txBody>
          <a:bodyPr wrap="square" lIns="0" tIns="0" rIns="0" bIns="0" rtlCol="0" anchor="ctr"/>
          <a:lstStyle/>
          <a:p>
            <a:pPr indent="0" marL="0">
              <a:buNone/>
            </a:pPr>
            <a:r>
              <a:rPr lang="en-US" sz="1400" i="1" dirty="0">
                <a:solidFill>
                  <a:schemeClr val="tx1"/>
                </a:solidFill>
              </a:rPr>
              <a:t>La frontière ThreatInput empêche les différences entre sources de se propager : le reste du système ne voit qu'un seul format.</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000" b="1" dirty="0">
                <a:solidFill>
                  <a:schemeClr val="tx2"/>
                </a:solidFill>
              </a:rPr>
              <a:t>Cinq collecteurs, une collecte planifiée et sans doublons</a:t>
            </a:r>
            <a:endParaRPr lang="en-US" sz="3000" dirty="0"/>
          </a:p>
        </p:txBody>
      </p:sp>
      <p:graphicFrame>
        <p:nvGraphicFramePr>
          <p:cNvPr id="6" name="src-table"/>
          <p:cNvGraphicFramePr>
            <a:graphicFrameLocks noGrp="1"/>
          </p:cNvGraphicFramePr>
          <p:nvPr>
            <p:extLst>
              <p:ext uri="{D42A27DB-BD31-4B8C-83A1-F6EECF244321}">
                <p14:modId xmlns:p14="http://schemas.microsoft.com/office/powerpoint/2010/main" val="1579011935"/>
              </p:ext>
            </p:extLst>
          </p:nvPr>
        </p:nvGraphicFramePr>
        <p:xfrm>
          <a:off x="548640" y="1371600"/>
          <a:ext cx="7498080" cy="914400"/>
        </p:xfrm>
        <a:graphic>
          <a:graphicData uri="http://schemas.openxmlformats.org/drawingml/2006/table">
            <a:tbl>
              <a:tblPr/>
              <a:tblGrid>
                <a:gridCol w="1920240"/>
                <a:gridCol w="2743200"/>
                <a:gridCol w="1737360"/>
                <a:gridCol w="1097280"/>
              </a:tblGrid>
              <a:tr h="548640">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Source</a:t>
                      </a:r>
                      <a:endParaRPr lang="en-US" sz="1400" dirty="0">
                        <a:latin typeface="Calibri" charset="0"/>
                        <a:ea typeface="Calibri" charset="0"/>
                        <a:cs typeface="Calibri" charset="0"/>
                      </a:endParaRPr>
                    </a:p>
                  </a:txBody>
                  <a:tcPr marL="91440" marR="91440" marT="0" marB="0" anchor="ctr">
                    <a:lnL w="9525" cap="flat" cmpd="sng" algn="ctr">
                      <a:solidFill>
                        <a:srgbClr val="C8D2E0"/>
                      </a:solidFill>
                      <a:prstDash val="solid"/>
                      <a:round/>
                      <a:headEnd type="none" w="med" len="med"/>
                      <a:tailEnd type="none" w="med" len="med"/>
                    </a:lnL>
                    <a:lnR w="9525" cap="flat" cmpd="sng" algn="ctr">
                      <a:solidFill>
                        <a:srgbClr val="C8D2E0"/>
                      </a:solidFill>
                      <a:prstDash val="solid"/>
                      <a:round/>
                      <a:headEnd type="none" w="med" len="med"/>
                      <a:tailEnd type="none" w="med" len="med"/>
                    </a:lnR>
                    <a:lnT w="9525" cap="flat" cmpd="sng" algn="ctr">
                      <a:solidFill>
                        <a:srgbClr val="C8D2E0"/>
                      </a:solidFill>
                      <a:prstDash val="solid"/>
                      <a:round/>
                      <a:headEnd type="none" w="med" len="med"/>
                      <a:tailEnd type="none" w="med" len="med"/>
                    </a:lnT>
                    <a:lnB w="9525" cap="flat" cmpd="sng" algn="ctr">
                      <a:solidFill>
                        <a:srgbClr val="C8D2E0"/>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Données</a:t>
                      </a:r>
                      <a:endParaRPr lang="en-US" sz="1400" dirty="0">
                        <a:latin typeface="Calibri" charset="0"/>
                        <a:ea typeface="Calibri" charset="0"/>
                        <a:cs typeface="Calibri" charset="0"/>
                      </a:endParaRPr>
                    </a:p>
                  </a:txBody>
                  <a:tcPr marL="91440" marR="91440" marT="0" marB="0" anchor="ctr">
                    <a:lnL w="9525" cap="flat" cmpd="sng" algn="ctr">
                      <a:solidFill>
                        <a:srgbClr val="C8D2E0"/>
                      </a:solidFill>
                      <a:prstDash val="solid"/>
                      <a:round/>
                      <a:headEnd type="none" w="med" len="med"/>
                      <a:tailEnd type="none" w="med" len="med"/>
                    </a:lnL>
                    <a:lnR w="9525" cap="flat" cmpd="sng" algn="ctr">
                      <a:solidFill>
                        <a:srgbClr val="C8D2E0"/>
                      </a:solidFill>
                      <a:prstDash val="solid"/>
                      <a:round/>
                      <a:headEnd type="none" w="med" len="med"/>
                      <a:tailEnd type="none" w="med" len="med"/>
                    </a:lnR>
                    <a:lnT w="9525" cap="flat" cmpd="sng" algn="ctr">
                      <a:solidFill>
                        <a:srgbClr val="C8D2E0"/>
                      </a:solidFill>
                      <a:prstDash val="solid"/>
                      <a:round/>
                      <a:headEnd type="none" w="med" len="med"/>
                      <a:tailEnd type="none" w="med" len="med"/>
                    </a:lnT>
                    <a:lnB w="9525" cap="flat" cmpd="sng" algn="ctr">
                      <a:solidFill>
                        <a:srgbClr val="C8D2E0"/>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Type de menace</a:t>
                      </a:r>
                      <a:endParaRPr lang="en-US" sz="1400" dirty="0">
                        <a:latin typeface="Calibri" charset="0"/>
                        <a:ea typeface="Calibri" charset="0"/>
                        <a:cs typeface="Calibri" charset="0"/>
                      </a:endParaRPr>
                    </a:p>
                  </a:txBody>
                  <a:tcPr marL="91440" marR="91440" marT="0" marB="0" anchor="ctr">
                    <a:lnL w="9525" cap="flat" cmpd="sng" algn="ctr">
                      <a:solidFill>
                        <a:srgbClr val="C8D2E0"/>
                      </a:solidFill>
                      <a:prstDash val="solid"/>
                      <a:round/>
                      <a:headEnd type="none" w="med" len="med"/>
                      <a:tailEnd type="none" w="med" len="med"/>
                    </a:lnL>
                    <a:lnR w="9525" cap="flat" cmpd="sng" algn="ctr">
                      <a:solidFill>
                        <a:srgbClr val="C8D2E0"/>
                      </a:solidFill>
                      <a:prstDash val="solid"/>
                      <a:round/>
                      <a:headEnd type="none" w="med" len="med"/>
                      <a:tailEnd type="none" w="med" len="med"/>
                    </a:lnR>
                    <a:lnT w="9525" cap="flat" cmpd="sng" algn="ctr">
                      <a:solidFill>
                        <a:srgbClr val="C8D2E0"/>
                      </a:solidFill>
                      <a:prstDash val="solid"/>
                      <a:round/>
                      <a:headEnd type="none" w="med" len="med"/>
                      <a:tailEnd type="none" w="med" len="med"/>
                    </a:lnT>
                    <a:lnB w="9525" cap="flat" cmpd="sng" algn="ctr">
                      <a:solidFill>
                        <a:srgbClr val="C8D2E0"/>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Clé API</a:t>
                      </a:r>
                      <a:endParaRPr lang="en-US" sz="1400" dirty="0">
                        <a:latin typeface="Calibri" charset="0"/>
                        <a:ea typeface="Calibri" charset="0"/>
                        <a:cs typeface="Calibri" charset="0"/>
                      </a:endParaRPr>
                    </a:p>
                  </a:txBody>
                  <a:tcPr marL="91440" marR="91440" marT="0" marB="0" anchor="ctr">
                    <a:lnL w="9525" cap="flat" cmpd="sng" algn="ctr">
                      <a:solidFill>
                        <a:srgbClr val="C8D2E0"/>
                      </a:solidFill>
                      <a:prstDash val="solid"/>
                      <a:round/>
                      <a:headEnd type="none" w="med" len="med"/>
                      <a:tailEnd type="none" w="med" len="med"/>
                    </a:lnL>
                    <a:lnR w="9525" cap="flat" cmpd="sng" algn="ctr">
                      <a:solidFill>
                        <a:srgbClr val="C8D2E0"/>
                      </a:solidFill>
                      <a:prstDash val="solid"/>
                      <a:round/>
                      <a:headEnd type="none" w="med" len="med"/>
                      <a:tailEnd type="none" w="med" len="med"/>
                    </a:lnR>
                    <a:lnT w="9525" cap="flat" cmpd="sng" algn="ctr">
                      <a:solidFill>
                        <a:srgbClr val="C8D2E0"/>
                      </a:solidFill>
                      <a:prstDash val="solid"/>
                      <a:round/>
                      <a:headEnd type="none" w="med" len="med"/>
                      <a:tailEnd type="none" w="med" len="med"/>
                    </a:lnT>
                    <a:lnB w="9525" cap="flat" cmpd="sng" algn="ctr">
                      <a:solidFill>
                        <a:srgbClr val="C8D2E0"/>
                      </a:solidFill>
                      <a:prstDash val="solid"/>
                      <a:round/>
                      <a:headEnd type="none" w="med" len="med"/>
                      <a:tailEnd type="none" w="med" len="med"/>
                    </a:lnB>
                    <a:solidFill>
                      <a:schemeClr val="tx2"/>
                    </a:solidFill>
                  </a:tcPr>
                </a:tc>
              </a:tr>
              <a:tr h="548640">
                <a:tc>
                  <a:txBody>
                    <a:bodyPr/>
                    <a:lstStyle/>
                    <a:p>
                      <a:pPr indent="0" marL="0">
                        <a:buNone/>
                      </a:pPr>
                      <a:r>
                        <a:rPr lang="en-US" sz="1300" b="1" dirty="0">
                          <a:solidFill>
                            <a:schemeClr val="tx1"/>
                          </a:solidFill>
                          <a:latin typeface="Calibri" pitchFamily="34" charset="0"/>
                          <a:ea typeface="Calibri" pitchFamily="34" charset="-122"/>
                          <a:cs typeface="Calibri" pitchFamily="34" charset="-120"/>
                        </a:rPr>
                        <a:t>NVD (NIST)</a:t>
                      </a:r>
                      <a:endParaRPr lang="en-US" sz="1300" dirty="0">
                        <a:latin typeface="Calibri" charset="0"/>
                        <a:ea typeface="Calibri" charset="0"/>
                        <a:cs typeface="Calibri" charset="0"/>
                      </a:endParaRPr>
                    </a:p>
                  </a:txBody>
                  <a:tcPr marL="91440" marR="91440" marT="0" marB="0" anchor="ctr">
                    <a:lnL w="9525" cap="flat" cmpd="sng" algn="ctr">
                      <a:solidFill>
                        <a:srgbClr val="C8D2E0"/>
                      </a:solidFill>
                      <a:prstDash val="solid"/>
                      <a:round/>
                      <a:headEnd type="none" w="med" len="med"/>
                      <a:tailEnd type="none" w="med" len="med"/>
                    </a:lnL>
                    <a:lnR w="9525" cap="flat" cmpd="sng" algn="ctr">
                      <a:solidFill>
                        <a:srgbClr val="C8D2E0"/>
                      </a:solidFill>
                      <a:prstDash val="solid"/>
                      <a:round/>
                      <a:headEnd type="none" w="med" len="med"/>
                      <a:tailEnd type="none" w="med" len="med"/>
                    </a:lnR>
                    <a:lnT w="9525" cap="flat" cmpd="sng" algn="ctr">
                      <a:solidFill>
                        <a:srgbClr val="C8D2E0"/>
                      </a:solidFill>
                      <a:prstDash val="solid"/>
                      <a:round/>
                      <a:headEnd type="none" w="med" len="med"/>
                      <a:tailEnd type="none" w="med" len="med"/>
                    </a:lnT>
                    <a:lnB w="9525" cap="flat" cmpd="sng" algn="ctr">
                      <a:solidFill>
                        <a:srgbClr val="C8D2E0"/>
                      </a:solidFill>
                      <a:prstDash val="solid"/>
                      <a:round/>
                      <a:headEnd type="none" w="med" len="med"/>
                      <a:tailEnd type="none" w="med" len="med"/>
                    </a:lnB>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CVE et scores CVSS</a:t>
                      </a:r>
                      <a:endParaRPr lang="en-US" sz="1300" dirty="0">
                        <a:latin typeface="Calibri" charset="0"/>
                        <a:ea typeface="Calibri" charset="0"/>
                        <a:cs typeface="Calibri" charset="0"/>
                      </a:endParaRPr>
                    </a:p>
                  </a:txBody>
                  <a:tcPr marL="91440" marR="91440" marT="0" marB="0" anchor="ctr">
                    <a:lnL w="9525" cap="flat" cmpd="sng" algn="ctr">
                      <a:solidFill>
                        <a:srgbClr val="C8D2E0"/>
                      </a:solidFill>
                      <a:prstDash val="solid"/>
                      <a:round/>
                      <a:headEnd type="none" w="med" len="med"/>
                      <a:tailEnd type="none" w="med" len="med"/>
                    </a:lnL>
                    <a:lnR w="9525" cap="flat" cmpd="sng" algn="ctr">
                      <a:solidFill>
                        <a:srgbClr val="C8D2E0"/>
                      </a:solidFill>
                      <a:prstDash val="solid"/>
                      <a:round/>
                      <a:headEnd type="none" w="med" len="med"/>
                      <a:tailEnd type="none" w="med" len="med"/>
                    </a:lnR>
                    <a:lnT w="9525" cap="flat" cmpd="sng" algn="ctr">
                      <a:solidFill>
                        <a:srgbClr val="C8D2E0"/>
                      </a:solidFill>
                      <a:prstDash val="solid"/>
                      <a:round/>
                      <a:headEnd type="none" w="med" len="med"/>
                      <a:tailEnd type="none" w="med" len="med"/>
                    </a:lnT>
                    <a:lnB w="9525" cap="flat" cmpd="sng" algn="ctr">
                      <a:solidFill>
                        <a:srgbClr val="C8D2E0"/>
                      </a:solidFill>
                      <a:prstDash val="solid"/>
                      <a:round/>
                      <a:headEnd type="none" w="med" len="med"/>
                      <a:tailEnd type="none" w="med" len="med"/>
                    </a:lnB>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Vulnérabilité</a:t>
                      </a:r>
                      <a:endParaRPr lang="en-US" sz="1300" dirty="0">
                        <a:latin typeface="Calibri" charset="0"/>
                        <a:ea typeface="Calibri" charset="0"/>
                        <a:cs typeface="Calibri" charset="0"/>
                      </a:endParaRPr>
                    </a:p>
                  </a:txBody>
                  <a:tcPr marL="91440" marR="91440" marT="0" marB="0" anchor="ctr">
                    <a:lnL w="9525" cap="flat" cmpd="sng" algn="ctr">
                      <a:solidFill>
                        <a:srgbClr val="C8D2E0"/>
                      </a:solidFill>
                      <a:prstDash val="solid"/>
                      <a:round/>
                      <a:headEnd type="none" w="med" len="med"/>
                      <a:tailEnd type="none" w="med" len="med"/>
                    </a:lnL>
                    <a:lnR w="9525" cap="flat" cmpd="sng" algn="ctr">
                      <a:solidFill>
                        <a:srgbClr val="C8D2E0"/>
                      </a:solidFill>
                      <a:prstDash val="solid"/>
                      <a:round/>
                      <a:headEnd type="none" w="med" len="med"/>
                      <a:tailEnd type="none" w="med" len="med"/>
                    </a:lnR>
                    <a:lnT w="9525" cap="flat" cmpd="sng" algn="ctr">
                      <a:solidFill>
                        <a:srgbClr val="C8D2E0"/>
                      </a:solidFill>
                      <a:prstDash val="solid"/>
                      <a:round/>
                      <a:headEnd type="none" w="med" len="med"/>
                      <a:tailEnd type="none" w="med" len="med"/>
                    </a:lnT>
                    <a:lnB w="9525" cap="flat" cmpd="sng" algn="ctr">
                      <a:solidFill>
                        <a:srgbClr val="C8D2E0"/>
                      </a:solidFill>
                      <a:prstDash val="solid"/>
                      <a:round/>
                      <a:headEnd type="none" w="med" len="med"/>
                      <a:tailEnd type="none" w="med" len="med"/>
                    </a:lnB>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Optionnelle</a:t>
                      </a:r>
                      <a:endParaRPr lang="en-US" sz="1300" dirty="0">
                        <a:latin typeface="Calibri" charset="0"/>
                        <a:ea typeface="Calibri" charset="0"/>
                        <a:cs typeface="Calibri" charset="0"/>
                      </a:endParaRPr>
                    </a:p>
                  </a:txBody>
                  <a:tcPr marL="91440" marR="91440" marT="0" marB="0" anchor="ctr">
                    <a:lnL w="9525" cap="flat" cmpd="sng" algn="ctr">
                      <a:solidFill>
                        <a:srgbClr val="C8D2E0"/>
                      </a:solidFill>
                      <a:prstDash val="solid"/>
                      <a:round/>
                      <a:headEnd type="none" w="med" len="med"/>
                      <a:tailEnd type="none" w="med" len="med"/>
                    </a:lnL>
                    <a:lnR w="9525" cap="flat" cmpd="sng" algn="ctr">
                      <a:solidFill>
                        <a:srgbClr val="C8D2E0"/>
                      </a:solidFill>
                      <a:prstDash val="solid"/>
                      <a:round/>
                      <a:headEnd type="none" w="med" len="med"/>
                      <a:tailEnd type="none" w="med" len="med"/>
                    </a:lnR>
                    <a:lnT w="9525" cap="flat" cmpd="sng" algn="ctr">
                      <a:solidFill>
                        <a:srgbClr val="C8D2E0"/>
                      </a:solidFill>
                      <a:prstDash val="solid"/>
                      <a:round/>
                      <a:headEnd type="none" w="med" len="med"/>
                      <a:tailEnd type="none" w="med" len="med"/>
                    </a:lnT>
                    <a:lnB w="9525" cap="flat" cmpd="sng" algn="ctr">
                      <a:solidFill>
                        <a:srgbClr val="C8D2E0"/>
                      </a:solidFill>
                      <a:prstDash val="solid"/>
                      <a:round/>
                      <a:headEnd type="none" w="med" len="med"/>
                      <a:tailEnd type="none" w="med" len="med"/>
                    </a:lnB>
                  </a:tcPr>
                </a:tc>
              </a:tr>
              <a:tr h="548640">
                <a:tc>
                  <a:txBody>
                    <a:bodyPr/>
                    <a:lstStyle/>
                    <a:p>
                      <a:pPr indent="0" marL="0">
                        <a:buNone/>
                      </a:pPr>
                      <a:r>
                        <a:rPr lang="en-US" sz="1300" b="1" dirty="0">
                          <a:solidFill>
                            <a:schemeClr val="tx1"/>
                          </a:solidFill>
                          <a:latin typeface="Calibri" pitchFamily="34" charset="0"/>
                          <a:ea typeface="Calibri" pitchFamily="34" charset="-122"/>
                          <a:cs typeface="Calibri" pitchFamily="34" charset="-120"/>
                        </a:rPr>
                        <a:t>URLhaus (abuse.ch)</a:t>
                      </a:r>
                      <a:endParaRPr lang="en-US" sz="1300" dirty="0">
                        <a:latin typeface="Calibri" charset="0"/>
                        <a:ea typeface="Calibri" charset="0"/>
                        <a:cs typeface="Calibri" charset="0"/>
                      </a:endParaRPr>
                    </a:p>
                  </a:txBody>
                  <a:tcPr marL="91440" marR="91440" marT="0" marB="0" anchor="ctr">
                    <a:lnL w="9525" cap="flat" cmpd="sng" algn="ctr">
                      <a:solidFill>
                        <a:srgbClr val="C8D2E0"/>
                      </a:solidFill>
                      <a:prstDash val="solid"/>
                      <a:round/>
                      <a:headEnd type="none" w="med" len="med"/>
                      <a:tailEnd type="none" w="med" len="med"/>
                    </a:lnL>
                    <a:lnR w="9525" cap="flat" cmpd="sng" algn="ctr">
                      <a:solidFill>
                        <a:srgbClr val="C8D2E0"/>
                      </a:solidFill>
                      <a:prstDash val="solid"/>
                      <a:round/>
                      <a:headEnd type="none" w="med" len="med"/>
                      <a:tailEnd type="none" w="med" len="med"/>
                    </a:lnR>
                    <a:lnT w="9525" cap="flat" cmpd="sng" algn="ctr">
                      <a:solidFill>
                        <a:srgbClr val="C8D2E0"/>
                      </a:solidFill>
                      <a:prstDash val="solid"/>
                      <a:round/>
                      <a:headEnd type="none" w="med" len="med"/>
                      <a:tailEnd type="none" w="med" len="med"/>
                    </a:lnT>
                    <a:lnB w="9525" cap="flat" cmpd="sng" algn="ctr">
                      <a:solidFill>
                        <a:srgbClr val="C8D2E0"/>
                      </a:solidFill>
                      <a:prstDash val="solid"/>
                      <a:round/>
                      <a:headEnd type="none" w="med" len="med"/>
                      <a:tailEnd type="none" w="med" len="med"/>
                    </a:lnB>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URLs récentes de malwares</a:t>
                      </a:r>
                      <a:endParaRPr lang="en-US" sz="1300" dirty="0">
                        <a:latin typeface="Calibri" charset="0"/>
                        <a:ea typeface="Calibri" charset="0"/>
                        <a:cs typeface="Calibri" charset="0"/>
                      </a:endParaRPr>
                    </a:p>
                  </a:txBody>
                  <a:tcPr marL="91440" marR="91440" marT="0" marB="0" anchor="ctr">
                    <a:lnL w="9525" cap="flat" cmpd="sng" algn="ctr">
                      <a:solidFill>
                        <a:srgbClr val="C8D2E0"/>
                      </a:solidFill>
                      <a:prstDash val="solid"/>
                      <a:round/>
                      <a:headEnd type="none" w="med" len="med"/>
                      <a:tailEnd type="none" w="med" len="med"/>
                    </a:lnL>
                    <a:lnR w="9525" cap="flat" cmpd="sng" algn="ctr">
                      <a:solidFill>
                        <a:srgbClr val="C8D2E0"/>
                      </a:solidFill>
                      <a:prstDash val="solid"/>
                      <a:round/>
                      <a:headEnd type="none" w="med" len="med"/>
                      <a:tailEnd type="none" w="med" len="med"/>
                    </a:lnR>
                    <a:lnT w="9525" cap="flat" cmpd="sng" algn="ctr">
                      <a:solidFill>
                        <a:srgbClr val="C8D2E0"/>
                      </a:solidFill>
                      <a:prstDash val="solid"/>
                      <a:round/>
                      <a:headEnd type="none" w="med" len="med"/>
                      <a:tailEnd type="none" w="med" len="med"/>
                    </a:lnT>
                    <a:lnB w="9525" cap="flat" cmpd="sng" algn="ctr">
                      <a:solidFill>
                        <a:srgbClr val="C8D2E0"/>
                      </a:solidFill>
                      <a:prstDash val="solid"/>
                      <a:round/>
                      <a:headEnd type="none" w="med" len="med"/>
                      <a:tailEnd type="none" w="med" len="med"/>
                    </a:lnB>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Malware</a:t>
                      </a:r>
                      <a:endParaRPr lang="en-US" sz="1300" dirty="0">
                        <a:latin typeface="Calibri" charset="0"/>
                        <a:ea typeface="Calibri" charset="0"/>
                        <a:cs typeface="Calibri" charset="0"/>
                      </a:endParaRPr>
                    </a:p>
                  </a:txBody>
                  <a:tcPr marL="91440" marR="91440" marT="0" marB="0" anchor="ctr">
                    <a:lnL w="9525" cap="flat" cmpd="sng" algn="ctr">
                      <a:solidFill>
                        <a:srgbClr val="C8D2E0"/>
                      </a:solidFill>
                      <a:prstDash val="solid"/>
                      <a:round/>
                      <a:headEnd type="none" w="med" len="med"/>
                      <a:tailEnd type="none" w="med" len="med"/>
                    </a:lnL>
                    <a:lnR w="9525" cap="flat" cmpd="sng" algn="ctr">
                      <a:solidFill>
                        <a:srgbClr val="C8D2E0"/>
                      </a:solidFill>
                      <a:prstDash val="solid"/>
                      <a:round/>
                      <a:headEnd type="none" w="med" len="med"/>
                      <a:tailEnd type="none" w="med" len="med"/>
                    </a:lnR>
                    <a:lnT w="9525" cap="flat" cmpd="sng" algn="ctr">
                      <a:solidFill>
                        <a:srgbClr val="C8D2E0"/>
                      </a:solidFill>
                      <a:prstDash val="solid"/>
                      <a:round/>
                      <a:headEnd type="none" w="med" len="med"/>
                      <a:tailEnd type="none" w="med" len="med"/>
                    </a:lnT>
                    <a:lnB w="9525" cap="flat" cmpd="sng" algn="ctr">
                      <a:solidFill>
                        <a:srgbClr val="C8D2E0"/>
                      </a:solidFill>
                      <a:prstDash val="solid"/>
                      <a:round/>
                      <a:headEnd type="none" w="med" len="med"/>
                      <a:tailEnd type="none" w="med" len="med"/>
                    </a:lnB>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Non</a:t>
                      </a:r>
                      <a:endParaRPr lang="en-US" sz="1300" dirty="0">
                        <a:latin typeface="Calibri" charset="0"/>
                        <a:ea typeface="Calibri" charset="0"/>
                        <a:cs typeface="Calibri" charset="0"/>
                      </a:endParaRPr>
                    </a:p>
                  </a:txBody>
                  <a:tcPr marL="91440" marR="91440" marT="0" marB="0" anchor="ctr">
                    <a:lnL w="9525" cap="flat" cmpd="sng" algn="ctr">
                      <a:solidFill>
                        <a:srgbClr val="C8D2E0"/>
                      </a:solidFill>
                      <a:prstDash val="solid"/>
                      <a:round/>
                      <a:headEnd type="none" w="med" len="med"/>
                      <a:tailEnd type="none" w="med" len="med"/>
                    </a:lnL>
                    <a:lnR w="9525" cap="flat" cmpd="sng" algn="ctr">
                      <a:solidFill>
                        <a:srgbClr val="C8D2E0"/>
                      </a:solidFill>
                      <a:prstDash val="solid"/>
                      <a:round/>
                      <a:headEnd type="none" w="med" len="med"/>
                      <a:tailEnd type="none" w="med" len="med"/>
                    </a:lnR>
                    <a:lnT w="9525" cap="flat" cmpd="sng" algn="ctr">
                      <a:solidFill>
                        <a:srgbClr val="C8D2E0"/>
                      </a:solidFill>
                      <a:prstDash val="solid"/>
                      <a:round/>
                      <a:headEnd type="none" w="med" len="med"/>
                      <a:tailEnd type="none" w="med" len="med"/>
                    </a:lnT>
                    <a:lnB w="9525" cap="flat" cmpd="sng" algn="ctr">
                      <a:solidFill>
                        <a:srgbClr val="C8D2E0"/>
                      </a:solidFill>
                      <a:prstDash val="solid"/>
                      <a:round/>
                      <a:headEnd type="none" w="med" len="med"/>
                      <a:tailEnd type="none" w="med" len="med"/>
                    </a:lnB>
                  </a:tcPr>
                </a:tc>
              </a:tr>
              <a:tr h="548640">
                <a:tc>
                  <a:txBody>
                    <a:bodyPr/>
                    <a:lstStyle/>
                    <a:p>
                      <a:pPr indent="0" marL="0">
                        <a:buNone/>
                      </a:pPr>
                      <a:r>
                        <a:rPr lang="en-US" sz="1300" b="1" dirty="0">
                          <a:solidFill>
                            <a:schemeClr val="tx1"/>
                          </a:solidFill>
                          <a:latin typeface="Calibri" pitchFamily="34" charset="0"/>
                          <a:ea typeface="Calibri" pitchFamily="34" charset="-122"/>
                          <a:cs typeface="Calibri" pitchFamily="34" charset="-120"/>
                        </a:rPr>
                        <a:t>AbuseIPDB</a:t>
                      </a:r>
                      <a:endParaRPr lang="en-US" sz="1300" dirty="0">
                        <a:latin typeface="Calibri" charset="0"/>
                        <a:ea typeface="Calibri" charset="0"/>
                        <a:cs typeface="Calibri" charset="0"/>
                      </a:endParaRPr>
                    </a:p>
                  </a:txBody>
                  <a:tcPr marL="91440" marR="91440" marT="0" marB="0" anchor="ctr">
                    <a:lnL w="9525" cap="flat" cmpd="sng" algn="ctr">
                      <a:solidFill>
                        <a:srgbClr val="C8D2E0"/>
                      </a:solidFill>
                      <a:prstDash val="solid"/>
                      <a:round/>
                      <a:headEnd type="none" w="med" len="med"/>
                      <a:tailEnd type="none" w="med" len="med"/>
                    </a:lnL>
                    <a:lnR w="9525" cap="flat" cmpd="sng" algn="ctr">
                      <a:solidFill>
                        <a:srgbClr val="C8D2E0"/>
                      </a:solidFill>
                      <a:prstDash val="solid"/>
                      <a:round/>
                      <a:headEnd type="none" w="med" len="med"/>
                      <a:tailEnd type="none" w="med" len="med"/>
                    </a:lnR>
                    <a:lnT w="9525" cap="flat" cmpd="sng" algn="ctr">
                      <a:solidFill>
                        <a:srgbClr val="C8D2E0"/>
                      </a:solidFill>
                      <a:prstDash val="solid"/>
                      <a:round/>
                      <a:headEnd type="none" w="med" len="med"/>
                      <a:tailEnd type="none" w="med" len="med"/>
                    </a:lnT>
                    <a:lnB w="9525" cap="flat" cmpd="sng" algn="ctr">
                      <a:solidFill>
                        <a:srgbClr val="C8D2E0"/>
                      </a:solidFill>
                      <a:prstDash val="solid"/>
                      <a:round/>
                      <a:headEnd type="none" w="med" len="med"/>
                      <a:tailEnd type="none" w="med" len="med"/>
                    </a:lnB>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Liste noire d'adresses IP</a:t>
                      </a:r>
                      <a:endParaRPr lang="en-US" sz="1300" dirty="0">
                        <a:latin typeface="Calibri" charset="0"/>
                        <a:ea typeface="Calibri" charset="0"/>
                        <a:cs typeface="Calibri" charset="0"/>
                      </a:endParaRPr>
                    </a:p>
                  </a:txBody>
                  <a:tcPr marL="91440" marR="91440" marT="0" marB="0" anchor="ctr">
                    <a:lnL w="9525" cap="flat" cmpd="sng" algn="ctr">
                      <a:solidFill>
                        <a:srgbClr val="C8D2E0"/>
                      </a:solidFill>
                      <a:prstDash val="solid"/>
                      <a:round/>
                      <a:headEnd type="none" w="med" len="med"/>
                      <a:tailEnd type="none" w="med" len="med"/>
                    </a:lnL>
                    <a:lnR w="9525" cap="flat" cmpd="sng" algn="ctr">
                      <a:solidFill>
                        <a:srgbClr val="C8D2E0"/>
                      </a:solidFill>
                      <a:prstDash val="solid"/>
                      <a:round/>
                      <a:headEnd type="none" w="med" len="med"/>
                      <a:tailEnd type="none" w="med" len="med"/>
                    </a:lnR>
                    <a:lnT w="9525" cap="flat" cmpd="sng" algn="ctr">
                      <a:solidFill>
                        <a:srgbClr val="C8D2E0"/>
                      </a:solidFill>
                      <a:prstDash val="solid"/>
                      <a:round/>
                      <a:headEnd type="none" w="med" len="med"/>
                      <a:tailEnd type="none" w="med" len="med"/>
                    </a:lnT>
                    <a:lnB w="9525" cap="flat" cmpd="sng" algn="ctr">
                      <a:solidFill>
                        <a:srgbClr val="C8D2E0"/>
                      </a:solidFill>
                      <a:prstDash val="solid"/>
                      <a:round/>
                      <a:headEnd type="none" w="med" len="med"/>
                      <a:tailEnd type="none" w="med" len="med"/>
                    </a:lnB>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IP suspecte</a:t>
                      </a:r>
                      <a:endParaRPr lang="en-US" sz="1300" dirty="0">
                        <a:latin typeface="Calibri" charset="0"/>
                        <a:ea typeface="Calibri" charset="0"/>
                        <a:cs typeface="Calibri" charset="0"/>
                      </a:endParaRPr>
                    </a:p>
                  </a:txBody>
                  <a:tcPr marL="91440" marR="91440" marT="0" marB="0" anchor="ctr">
                    <a:lnL w="9525" cap="flat" cmpd="sng" algn="ctr">
                      <a:solidFill>
                        <a:srgbClr val="C8D2E0"/>
                      </a:solidFill>
                      <a:prstDash val="solid"/>
                      <a:round/>
                      <a:headEnd type="none" w="med" len="med"/>
                      <a:tailEnd type="none" w="med" len="med"/>
                    </a:lnL>
                    <a:lnR w="9525" cap="flat" cmpd="sng" algn="ctr">
                      <a:solidFill>
                        <a:srgbClr val="C8D2E0"/>
                      </a:solidFill>
                      <a:prstDash val="solid"/>
                      <a:round/>
                      <a:headEnd type="none" w="med" len="med"/>
                      <a:tailEnd type="none" w="med" len="med"/>
                    </a:lnR>
                    <a:lnT w="9525" cap="flat" cmpd="sng" algn="ctr">
                      <a:solidFill>
                        <a:srgbClr val="C8D2E0"/>
                      </a:solidFill>
                      <a:prstDash val="solid"/>
                      <a:round/>
                      <a:headEnd type="none" w="med" len="med"/>
                      <a:tailEnd type="none" w="med" len="med"/>
                    </a:lnT>
                    <a:lnB w="9525" cap="flat" cmpd="sng" algn="ctr">
                      <a:solidFill>
                        <a:srgbClr val="C8D2E0"/>
                      </a:solidFill>
                      <a:prstDash val="solid"/>
                      <a:round/>
                      <a:headEnd type="none" w="med" len="med"/>
                      <a:tailEnd type="none" w="med" len="med"/>
                    </a:lnB>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Oui</a:t>
                      </a:r>
                      <a:endParaRPr lang="en-US" sz="1300" dirty="0">
                        <a:latin typeface="Calibri" charset="0"/>
                        <a:ea typeface="Calibri" charset="0"/>
                        <a:cs typeface="Calibri" charset="0"/>
                      </a:endParaRPr>
                    </a:p>
                  </a:txBody>
                  <a:tcPr marL="91440" marR="91440" marT="0" marB="0" anchor="ctr">
                    <a:lnL w="9525" cap="flat" cmpd="sng" algn="ctr">
                      <a:solidFill>
                        <a:srgbClr val="C8D2E0"/>
                      </a:solidFill>
                      <a:prstDash val="solid"/>
                      <a:round/>
                      <a:headEnd type="none" w="med" len="med"/>
                      <a:tailEnd type="none" w="med" len="med"/>
                    </a:lnL>
                    <a:lnR w="9525" cap="flat" cmpd="sng" algn="ctr">
                      <a:solidFill>
                        <a:srgbClr val="C8D2E0"/>
                      </a:solidFill>
                      <a:prstDash val="solid"/>
                      <a:round/>
                      <a:headEnd type="none" w="med" len="med"/>
                      <a:tailEnd type="none" w="med" len="med"/>
                    </a:lnR>
                    <a:lnT w="9525" cap="flat" cmpd="sng" algn="ctr">
                      <a:solidFill>
                        <a:srgbClr val="C8D2E0"/>
                      </a:solidFill>
                      <a:prstDash val="solid"/>
                      <a:round/>
                      <a:headEnd type="none" w="med" len="med"/>
                      <a:tailEnd type="none" w="med" len="med"/>
                    </a:lnT>
                    <a:lnB w="9525" cap="flat" cmpd="sng" algn="ctr">
                      <a:solidFill>
                        <a:srgbClr val="C8D2E0"/>
                      </a:solidFill>
                      <a:prstDash val="solid"/>
                      <a:round/>
                      <a:headEnd type="none" w="med" len="med"/>
                      <a:tailEnd type="none" w="med" len="med"/>
                    </a:lnB>
                  </a:tcPr>
                </a:tc>
              </a:tr>
              <a:tr h="548640">
                <a:tc>
                  <a:txBody>
                    <a:bodyPr/>
                    <a:lstStyle/>
                    <a:p>
                      <a:pPr indent="0" marL="0">
                        <a:buNone/>
                      </a:pPr>
                      <a:r>
                        <a:rPr lang="en-US" sz="1300" b="1" dirty="0">
                          <a:solidFill>
                            <a:schemeClr val="tx1"/>
                          </a:solidFill>
                          <a:latin typeface="Calibri" pitchFamily="34" charset="0"/>
                          <a:ea typeface="Calibri" pitchFamily="34" charset="-122"/>
                          <a:cs typeface="Calibri" pitchFamily="34" charset="-120"/>
                        </a:rPr>
                        <a:t>AlienVault OTX</a:t>
                      </a:r>
                      <a:endParaRPr lang="en-US" sz="1300" dirty="0">
                        <a:latin typeface="Calibri" charset="0"/>
                        <a:ea typeface="Calibri" charset="0"/>
                        <a:cs typeface="Calibri" charset="0"/>
                      </a:endParaRPr>
                    </a:p>
                  </a:txBody>
                  <a:tcPr marL="91440" marR="91440" marT="0" marB="0" anchor="ctr">
                    <a:lnL w="9525" cap="flat" cmpd="sng" algn="ctr">
                      <a:solidFill>
                        <a:srgbClr val="C8D2E0"/>
                      </a:solidFill>
                      <a:prstDash val="solid"/>
                      <a:round/>
                      <a:headEnd type="none" w="med" len="med"/>
                      <a:tailEnd type="none" w="med" len="med"/>
                    </a:lnL>
                    <a:lnR w="9525" cap="flat" cmpd="sng" algn="ctr">
                      <a:solidFill>
                        <a:srgbClr val="C8D2E0"/>
                      </a:solidFill>
                      <a:prstDash val="solid"/>
                      <a:round/>
                      <a:headEnd type="none" w="med" len="med"/>
                      <a:tailEnd type="none" w="med" len="med"/>
                    </a:lnR>
                    <a:lnT w="9525" cap="flat" cmpd="sng" algn="ctr">
                      <a:solidFill>
                        <a:srgbClr val="C8D2E0"/>
                      </a:solidFill>
                      <a:prstDash val="solid"/>
                      <a:round/>
                      <a:headEnd type="none" w="med" len="med"/>
                      <a:tailEnd type="none" w="med" len="med"/>
                    </a:lnT>
                    <a:lnB w="9525" cap="flat" cmpd="sng" algn="ctr">
                      <a:solidFill>
                        <a:srgbClr val="C8D2E0"/>
                      </a:solidFill>
                      <a:prstDash val="solid"/>
                      <a:round/>
                      <a:headEnd type="none" w="med" len="med"/>
                      <a:tailEnd type="none" w="med" len="med"/>
                    </a:lnB>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Pulses : IP, domaines, URLs, hashes, CVE</a:t>
                      </a:r>
                      <a:endParaRPr lang="en-US" sz="1300" dirty="0">
                        <a:latin typeface="Calibri" charset="0"/>
                        <a:ea typeface="Calibri" charset="0"/>
                        <a:cs typeface="Calibri" charset="0"/>
                      </a:endParaRPr>
                    </a:p>
                  </a:txBody>
                  <a:tcPr marL="91440" marR="91440" marT="0" marB="0" anchor="ctr">
                    <a:lnL w="9525" cap="flat" cmpd="sng" algn="ctr">
                      <a:solidFill>
                        <a:srgbClr val="C8D2E0"/>
                      </a:solidFill>
                      <a:prstDash val="solid"/>
                      <a:round/>
                      <a:headEnd type="none" w="med" len="med"/>
                      <a:tailEnd type="none" w="med" len="med"/>
                    </a:lnL>
                    <a:lnR w="9525" cap="flat" cmpd="sng" algn="ctr">
                      <a:solidFill>
                        <a:srgbClr val="C8D2E0"/>
                      </a:solidFill>
                      <a:prstDash val="solid"/>
                      <a:round/>
                      <a:headEnd type="none" w="med" len="med"/>
                      <a:tailEnd type="none" w="med" len="med"/>
                    </a:lnR>
                    <a:lnT w="9525" cap="flat" cmpd="sng" algn="ctr">
                      <a:solidFill>
                        <a:srgbClr val="C8D2E0"/>
                      </a:solidFill>
                      <a:prstDash val="solid"/>
                      <a:round/>
                      <a:headEnd type="none" w="med" len="med"/>
                      <a:tailEnd type="none" w="med" len="med"/>
                    </a:lnT>
                    <a:lnB w="9525" cap="flat" cmpd="sng" algn="ctr">
                      <a:solidFill>
                        <a:srgbClr val="C8D2E0"/>
                      </a:solidFill>
                      <a:prstDash val="solid"/>
                      <a:round/>
                      <a:headEnd type="none" w="med" len="med"/>
                      <a:tailEnd type="none" w="med" len="med"/>
                    </a:lnB>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Malware / vulnérabilité</a:t>
                      </a:r>
                      <a:endParaRPr lang="en-US" sz="1300" dirty="0">
                        <a:latin typeface="Calibri" charset="0"/>
                        <a:ea typeface="Calibri" charset="0"/>
                        <a:cs typeface="Calibri" charset="0"/>
                      </a:endParaRPr>
                    </a:p>
                  </a:txBody>
                  <a:tcPr marL="91440" marR="91440" marT="0" marB="0" anchor="ctr">
                    <a:lnL w="9525" cap="flat" cmpd="sng" algn="ctr">
                      <a:solidFill>
                        <a:srgbClr val="C8D2E0"/>
                      </a:solidFill>
                      <a:prstDash val="solid"/>
                      <a:round/>
                      <a:headEnd type="none" w="med" len="med"/>
                      <a:tailEnd type="none" w="med" len="med"/>
                    </a:lnL>
                    <a:lnR w="9525" cap="flat" cmpd="sng" algn="ctr">
                      <a:solidFill>
                        <a:srgbClr val="C8D2E0"/>
                      </a:solidFill>
                      <a:prstDash val="solid"/>
                      <a:round/>
                      <a:headEnd type="none" w="med" len="med"/>
                      <a:tailEnd type="none" w="med" len="med"/>
                    </a:lnR>
                    <a:lnT w="9525" cap="flat" cmpd="sng" algn="ctr">
                      <a:solidFill>
                        <a:srgbClr val="C8D2E0"/>
                      </a:solidFill>
                      <a:prstDash val="solid"/>
                      <a:round/>
                      <a:headEnd type="none" w="med" len="med"/>
                      <a:tailEnd type="none" w="med" len="med"/>
                    </a:lnT>
                    <a:lnB w="9525" cap="flat" cmpd="sng" algn="ctr">
                      <a:solidFill>
                        <a:srgbClr val="C8D2E0"/>
                      </a:solidFill>
                      <a:prstDash val="solid"/>
                      <a:round/>
                      <a:headEnd type="none" w="med" len="med"/>
                      <a:tailEnd type="none" w="med" len="med"/>
                    </a:lnB>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Oui</a:t>
                      </a:r>
                      <a:endParaRPr lang="en-US" sz="1300" dirty="0">
                        <a:latin typeface="Calibri" charset="0"/>
                        <a:ea typeface="Calibri" charset="0"/>
                        <a:cs typeface="Calibri" charset="0"/>
                      </a:endParaRPr>
                    </a:p>
                  </a:txBody>
                  <a:tcPr marL="91440" marR="91440" marT="0" marB="0" anchor="ctr">
                    <a:lnL w="9525" cap="flat" cmpd="sng" algn="ctr">
                      <a:solidFill>
                        <a:srgbClr val="C8D2E0"/>
                      </a:solidFill>
                      <a:prstDash val="solid"/>
                      <a:round/>
                      <a:headEnd type="none" w="med" len="med"/>
                      <a:tailEnd type="none" w="med" len="med"/>
                    </a:lnL>
                    <a:lnR w="9525" cap="flat" cmpd="sng" algn="ctr">
                      <a:solidFill>
                        <a:srgbClr val="C8D2E0"/>
                      </a:solidFill>
                      <a:prstDash val="solid"/>
                      <a:round/>
                      <a:headEnd type="none" w="med" len="med"/>
                      <a:tailEnd type="none" w="med" len="med"/>
                    </a:lnR>
                    <a:lnT w="9525" cap="flat" cmpd="sng" algn="ctr">
                      <a:solidFill>
                        <a:srgbClr val="C8D2E0"/>
                      </a:solidFill>
                      <a:prstDash val="solid"/>
                      <a:round/>
                      <a:headEnd type="none" w="med" len="med"/>
                      <a:tailEnd type="none" w="med" len="med"/>
                    </a:lnT>
                    <a:lnB w="9525" cap="flat" cmpd="sng" algn="ctr">
                      <a:solidFill>
                        <a:srgbClr val="C8D2E0"/>
                      </a:solidFill>
                      <a:prstDash val="solid"/>
                      <a:round/>
                      <a:headEnd type="none" w="med" len="med"/>
                      <a:tailEnd type="none" w="med" len="med"/>
                    </a:lnB>
                  </a:tcPr>
                </a:tc>
              </a:tr>
              <a:tr h="548640">
                <a:tc>
                  <a:txBody>
                    <a:bodyPr/>
                    <a:lstStyle/>
                    <a:p>
                      <a:pPr indent="0" marL="0">
                        <a:buNone/>
                      </a:pPr>
                      <a:r>
                        <a:rPr lang="en-US" sz="1300" b="1" dirty="0">
                          <a:solidFill>
                            <a:schemeClr val="tx1"/>
                          </a:solidFill>
                          <a:latin typeface="Calibri" pitchFamily="34" charset="0"/>
                          <a:ea typeface="Calibri" pitchFamily="34" charset="-122"/>
                          <a:cs typeface="Calibri" pitchFamily="34" charset="-120"/>
                        </a:rPr>
                        <a:t>Jeu de démonstration</a:t>
                      </a:r>
                      <a:endParaRPr lang="en-US" sz="1300" dirty="0">
                        <a:latin typeface="Calibri" charset="0"/>
                        <a:ea typeface="Calibri" charset="0"/>
                        <a:cs typeface="Calibri" charset="0"/>
                      </a:endParaRPr>
                    </a:p>
                  </a:txBody>
                  <a:tcPr marL="91440" marR="91440" marT="0" marB="0" anchor="ctr">
                    <a:lnL w="9525" cap="flat" cmpd="sng" algn="ctr">
                      <a:solidFill>
                        <a:srgbClr val="C8D2E0"/>
                      </a:solidFill>
                      <a:prstDash val="solid"/>
                      <a:round/>
                      <a:headEnd type="none" w="med" len="med"/>
                      <a:tailEnd type="none" w="med" len="med"/>
                    </a:lnL>
                    <a:lnR w="9525" cap="flat" cmpd="sng" algn="ctr">
                      <a:solidFill>
                        <a:srgbClr val="C8D2E0"/>
                      </a:solidFill>
                      <a:prstDash val="solid"/>
                      <a:round/>
                      <a:headEnd type="none" w="med" len="med"/>
                      <a:tailEnd type="none" w="med" len="med"/>
                    </a:lnR>
                    <a:lnT w="9525" cap="flat" cmpd="sng" algn="ctr">
                      <a:solidFill>
                        <a:srgbClr val="C8D2E0"/>
                      </a:solidFill>
                      <a:prstDash val="solid"/>
                      <a:round/>
                      <a:headEnd type="none" w="med" len="med"/>
                      <a:tailEnd type="none" w="med" len="med"/>
                    </a:lnT>
                    <a:lnB w="9525" cap="flat" cmpd="sng" algn="ctr">
                      <a:solidFill>
                        <a:srgbClr val="C8D2E0"/>
                      </a:solidFill>
                      <a:prstDash val="solid"/>
                      <a:round/>
                      <a:headEnd type="none" w="med" len="med"/>
                      <a:tailEnd type="none" w="med" len="med"/>
                    </a:lnB>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Exemples locaux reproductibles</a:t>
                      </a:r>
                      <a:endParaRPr lang="en-US" sz="1300" dirty="0">
                        <a:latin typeface="Calibri" charset="0"/>
                        <a:ea typeface="Calibri" charset="0"/>
                        <a:cs typeface="Calibri" charset="0"/>
                      </a:endParaRPr>
                    </a:p>
                  </a:txBody>
                  <a:tcPr marL="91440" marR="91440" marT="0" marB="0" anchor="ctr">
                    <a:lnL w="9525" cap="flat" cmpd="sng" algn="ctr">
                      <a:solidFill>
                        <a:srgbClr val="C8D2E0"/>
                      </a:solidFill>
                      <a:prstDash val="solid"/>
                      <a:round/>
                      <a:headEnd type="none" w="med" len="med"/>
                      <a:tailEnd type="none" w="med" len="med"/>
                    </a:lnL>
                    <a:lnR w="9525" cap="flat" cmpd="sng" algn="ctr">
                      <a:solidFill>
                        <a:srgbClr val="C8D2E0"/>
                      </a:solidFill>
                      <a:prstDash val="solid"/>
                      <a:round/>
                      <a:headEnd type="none" w="med" len="med"/>
                      <a:tailEnd type="none" w="med" len="med"/>
                    </a:lnR>
                    <a:lnT w="9525" cap="flat" cmpd="sng" algn="ctr">
                      <a:solidFill>
                        <a:srgbClr val="C8D2E0"/>
                      </a:solidFill>
                      <a:prstDash val="solid"/>
                      <a:round/>
                      <a:headEnd type="none" w="med" len="med"/>
                      <a:tailEnd type="none" w="med" len="med"/>
                    </a:lnT>
                    <a:lnB w="9525" cap="flat" cmpd="sng" algn="ctr">
                      <a:solidFill>
                        <a:srgbClr val="C8D2E0"/>
                      </a:solidFill>
                      <a:prstDash val="solid"/>
                      <a:round/>
                      <a:headEnd type="none" w="med" len="med"/>
                      <a:tailEnd type="none" w="med" len="med"/>
                    </a:lnB>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Tous types</a:t>
                      </a:r>
                      <a:endParaRPr lang="en-US" sz="1300" dirty="0">
                        <a:latin typeface="Calibri" charset="0"/>
                        <a:ea typeface="Calibri" charset="0"/>
                        <a:cs typeface="Calibri" charset="0"/>
                      </a:endParaRPr>
                    </a:p>
                  </a:txBody>
                  <a:tcPr marL="91440" marR="91440" marT="0" marB="0" anchor="ctr">
                    <a:lnL w="9525" cap="flat" cmpd="sng" algn="ctr">
                      <a:solidFill>
                        <a:srgbClr val="C8D2E0"/>
                      </a:solidFill>
                      <a:prstDash val="solid"/>
                      <a:round/>
                      <a:headEnd type="none" w="med" len="med"/>
                      <a:tailEnd type="none" w="med" len="med"/>
                    </a:lnL>
                    <a:lnR w="9525" cap="flat" cmpd="sng" algn="ctr">
                      <a:solidFill>
                        <a:srgbClr val="C8D2E0"/>
                      </a:solidFill>
                      <a:prstDash val="solid"/>
                      <a:round/>
                      <a:headEnd type="none" w="med" len="med"/>
                      <a:tailEnd type="none" w="med" len="med"/>
                    </a:lnR>
                    <a:lnT w="9525" cap="flat" cmpd="sng" algn="ctr">
                      <a:solidFill>
                        <a:srgbClr val="C8D2E0"/>
                      </a:solidFill>
                      <a:prstDash val="solid"/>
                      <a:round/>
                      <a:headEnd type="none" w="med" len="med"/>
                      <a:tailEnd type="none" w="med" len="med"/>
                    </a:lnT>
                    <a:lnB w="9525" cap="flat" cmpd="sng" algn="ctr">
                      <a:solidFill>
                        <a:srgbClr val="C8D2E0"/>
                      </a:solidFill>
                      <a:prstDash val="solid"/>
                      <a:round/>
                      <a:headEnd type="none" w="med" len="med"/>
                      <a:tailEnd type="none" w="med" len="med"/>
                    </a:lnB>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Non</a:t>
                      </a:r>
                      <a:endParaRPr lang="en-US" sz="1300" dirty="0">
                        <a:latin typeface="Calibri" charset="0"/>
                        <a:ea typeface="Calibri" charset="0"/>
                        <a:cs typeface="Calibri" charset="0"/>
                      </a:endParaRPr>
                    </a:p>
                  </a:txBody>
                  <a:tcPr marL="91440" marR="91440" marT="0" marB="0" anchor="ctr">
                    <a:lnL w="9525" cap="flat" cmpd="sng" algn="ctr">
                      <a:solidFill>
                        <a:srgbClr val="C8D2E0"/>
                      </a:solidFill>
                      <a:prstDash val="solid"/>
                      <a:round/>
                      <a:headEnd type="none" w="med" len="med"/>
                      <a:tailEnd type="none" w="med" len="med"/>
                    </a:lnL>
                    <a:lnR w="9525" cap="flat" cmpd="sng" algn="ctr">
                      <a:solidFill>
                        <a:srgbClr val="C8D2E0"/>
                      </a:solidFill>
                      <a:prstDash val="solid"/>
                      <a:round/>
                      <a:headEnd type="none" w="med" len="med"/>
                      <a:tailEnd type="none" w="med" len="med"/>
                    </a:lnR>
                    <a:lnT w="9525" cap="flat" cmpd="sng" algn="ctr">
                      <a:solidFill>
                        <a:srgbClr val="C8D2E0"/>
                      </a:solidFill>
                      <a:prstDash val="solid"/>
                      <a:round/>
                      <a:headEnd type="none" w="med" len="med"/>
                      <a:tailEnd type="none" w="med" len="med"/>
                    </a:lnT>
                    <a:lnB w="9525" cap="flat" cmpd="sng" algn="ctr">
                      <a:solidFill>
                        <a:srgbClr val="C8D2E0"/>
                      </a:solidFill>
                      <a:prstDash val="solid"/>
                      <a:round/>
                      <a:headEnd type="none" w="med" len="med"/>
                      <a:tailEnd type="none" w="med" len="med"/>
                    </a:lnB>
                  </a:tcPr>
                </a:tc>
              </a:tr>
            </a:tbl>
          </a:graphicData>
        </a:graphic>
      </p:graphicFrame>
      <p:sp>
        <p:nvSpPr>
          <p:cNvPr id="4" name="srcc-0"/>
          <p:cNvSpPr/>
          <p:nvPr/>
        </p:nvSpPr>
        <p:spPr>
          <a:xfrm>
            <a:off x="8321040" y="1371600"/>
            <a:ext cx="3291840" cy="1417320"/>
          </a:xfrm>
          <a:prstGeom prst="roundRect">
            <a:avLst>
              <a:gd name="adj" fmla="val 7742"/>
            </a:avLst>
          </a:prstGeom>
          <a:solidFill>
            <a:schemeClr val="bg2"/>
          </a:solidFill>
          <a:ln w="12700">
            <a:solidFill>
              <a:schemeClr val="bg2"/>
            </a:solidFill>
            <a:prstDash val="solid"/>
          </a:ln>
        </p:spPr>
      </p:sp>
      <p:sp>
        <p:nvSpPr>
          <p:cNvPr id="5" name="srcc-0-circle"/>
          <p:cNvSpPr/>
          <p:nvPr/>
        </p:nvSpPr>
        <p:spPr>
          <a:xfrm>
            <a:off x="8503920" y="1554480"/>
            <a:ext cx="502920" cy="502920"/>
          </a:xfrm>
          <a:prstGeom prst="ellipse">
            <a:avLst/>
          </a:prstGeom>
          <a:solidFill>
            <a:schemeClr val="accent1"/>
          </a:solidFill>
          <a:ln w="12700">
            <a:solidFill>
              <a:schemeClr val="accent1"/>
            </a:solidFill>
            <a:prstDash val="solid"/>
          </a:ln>
        </p:spPr>
      </p:sp>
      <p:pic>
        <p:nvPicPr>
          <p:cNvPr id="6" name="srcc-0-icon" descr="preencoded.png">    </p:cNvPr>
          <p:cNvPicPr>
            <a:picLocks noChangeAspect="1"/>
          </p:cNvPicPr>
          <p:nvPr/>
        </p:nvPicPr>
        <p:blipFill>
          <a:blip r:embed="rId1"/>
          <a:stretch>
            <a:fillRect/>
          </a:stretch>
        </p:blipFill>
        <p:spPr>
          <a:xfrm>
            <a:off x="8629650" y="1680210"/>
            <a:ext cx="251460" cy="251460"/>
          </a:xfrm>
          <a:prstGeom prst="rect">
            <a:avLst/>
          </a:prstGeom>
        </p:spPr>
      </p:pic>
      <p:sp>
        <p:nvSpPr>
          <p:cNvPr id="7" name="Text 3"/>
          <p:cNvSpPr txBox="1"/>
          <p:nvPr/>
        </p:nvSpPr>
        <p:spPr>
          <a:xfrm>
            <a:off x="9144000" y="1600200"/>
            <a:ext cx="2286000" cy="411480"/>
          </a:xfrm>
          <a:prstGeom prst="rect">
            <a:avLst/>
          </a:prstGeom>
          <a:noFill/>
          <a:ln/>
        </p:spPr>
        <p:txBody>
          <a:bodyPr wrap="square" lIns="0" tIns="0" rIns="0" bIns="0" rtlCol="0" anchor="ctr"/>
          <a:lstStyle/>
          <a:p>
            <a:pPr indent="0" marL="0">
              <a:buNone/>
            </a:pPr>
            <a:r>
              <a:rPr lang="en-US" sz="1600" b="1" dirty="0">
                <a:solidFill>
                  <a:schemeClr val="tx2"/>
                </a:solidFill>
              </a:rPr>
              <a:t>Planifiée</a:t>
            </a:r>
            <a:endParaRPr lang="en-US" sz="1600" dirty="0"/>
          </a:p>
        </p:txBody>
      </p:sp>
      <p:sp>
        <p:nvSpPr>
          <p:cNvPr id="8" name="Text 4"/>
          <p:cNvSpPr txBox="1"/>
          <p:nvPr/>
        </p:nvSpPr>
        <p:spPr>
          <a:xfrm>
            <a:off x="8503920" y="2148840"/>
            <a:ext cx="2971800" cy="594360"/>
          </a:xfrm>
          <a:prstGeom prst="rect">
            <a:avLst/>
          </a:prstGeom>
          <a:noFill/>
          <a:ln/>
        </p:spPr>
        <p:txBody>
          <a:bodyPr wrap="square" lIns="0" tIns="0" rIns="0" bIns="0" rtlCol="0" anchor="t"/>
          <a:lstStyle/>
          <a:p>
            <a:pPr indent="0" marL="0">
              <a:buNone/>
            </a:pPr>
            <a:r>
              <a:rPr lang="en-US" sz="1150" dirty="0">
                <a:solidFill>
                  <a:schemeClr val="tx1"/>
                </a:solidFill>
              </a:rPr>
              <a:t>APScheduler lance tous les collecteurs toutes les 60 minutes ; collecte aussi déclenchable depuis le dashboard.</a:t>
            </a:r>
            <a:endParaRPr lang="en-US" sz="1150" dirty="0"/>
          </a:p>
        </p:txBody>
      </p:sp>
      <p:sp>
        <p:nvSpPr>
          <p:cNvPr id="9" name="srcc-1"/>
          <p:cNvSpPr/>
          <p:nvPr/>
        </p:nvSpPr>
        <p:spPr>
          <a:xfrm>
            <a:off x="8321040" y="2971800"/>
            <a:ext cx="3291840" cy="1417320"/>
          </a:xfrm>
          <a:prstGeom prst="roundRect">
            <a:avLst>
              <a:gd name="adj" fmla="val 7742"/>
            </a:avLst>
          </a:prstGeom>
          <a:solidFill>
            <a:schemeClr val="bg2"/>
          </a:solidFill>
          <a:ln w="12700">
            <a:solidFill>
              <a:schemeClr val="bg2"/>
            </a:solidFill>
            <a:prstDash val="solid"/>
          </a:ln>
        </p:spPr>
      </p:sp>
      <p:sp>
        <p:nvSpPr>
          <p:cNvPr id="10" name="srcc-1-circle"/>
          <p:cNvSpPr/>
          <p:nvPr/>
        </p:nvSpPr>
        <p:spPr>
          <a:xfrm>
            <a:off x="8503920" y="3154680"/>
            <a:ext cx="502920" cy="502920"/>
          </a:xfrm>
          <a:prstGeom prst="ellipse">
            <a:avLst/>
          </a:prstGeom>
          <a:solidFill>
            <a:schemeClr val="accent1"/>
          </a:solidFill>
          <a:ln w="12700">
            <a:solidFill>
              <a:schemeClr val="accent1"/>
            </a:solidFill>
            <a:prstDash val="solid"/>
          </a:ln>
        </p:spPr>
      </p:sp>
      <p:pic>
        <p:nvPicPr>
          <p:cNvPr id="11" name="srcc-1-icon" descr="preencoded.png">    </p:cNvPr>
          <p:cNvPicPr>
            <a:picLocks noChangeAspect="1"/>
          </p:cNvPicPr>
          <p:nvPr/>
        </p:nvPicPr>
        <p:blipFill>
          <a:blip r:embed="rId2"/>
          <a:stretch>
            <a:fillRect/>
          </a:stretch>
        </p:blipFill>
        <p:spPr>
          <a:xfrm>
            <a:off x="8629650" y="3280410"/>
            <a:ext cx="251460" cy="251460"/>
          </a:xfrm>
          <a:prstGeom prst="rect">
            <a:avLst/>
          </a:prstGeom>
        </p:spPr>
      </p:pic>
      <p:sp>
        <p:nvSpPr>
          <p:cNvPr id="12" name="Text 7"/>
          <p:cNvSpPr txBox="1"/>
          <p:nvPr/>
        </p:nvSpPr>
        <p:spPr>
          <a:xfrm>
            <a:off x="9144000" y="3200400"/>
            <a:ext cx="2286000" cy="411480"/>
          </a:xfrm>
          <a:prstGeom prst="rect">
            <a:avLst/>
          </a:prstGeom>
          <a:noFill/>
          <a:ln/>
        </p:spPr>
        <p:txBody>
          <a:bodyPr wrap="square" lIns="0" tIns="0" rIns="0" bIns="0" rtlCol="0" anchor="ctr"/>
          <a:lstStyle/>
          <a:p>
            <a:pPr indent="0" marL="0">
              <a:buNone/>
            </a:pPr>
            <a:r>
              <a:rPr lang="en-US" sz="1600" b="1" dirty="0">
                <a:solidFill>
                  <a:schemeClr val="tx2"/>
                </a:solidFill>
              </a:rPr>
              <a:t>Dédupliquée</a:t>
            </a:r>
            <a:endParaRPr lang="en-US" sz="1600" dirty="0"/>
          </a:p>
        </p:txBody>
      </p:sp>
      <p:sp>
        <p:nvSpPr>
          <p:cNvPr id="13" name="Text 8"/>
          <p:cNvSpPr txBox="1"/>
          <p:nvPr/>
        </p:nvSpPr>
        <p:spPr>
          <a:xfrm>
            <a:off x="8503920" y="3749040"/>
            <a:ext cx="2971800" cy="594360"/>
          </a:xfrm>
          <a:prstGeom prst="rect">
            <a:avLst/>
          </a:prstGeom>
          <a:noFill/>
          <a:ln/>
        </p:spPr>
        <p:txBody>
          <a:bodyPr wrap="square" lIns="0" tIns="0" rIns="0" bIns="0" rtlCol="0" anchor="t"/>
          <a:lstStyle/>
          <a:p>
            <a:pPr indent="0" marL="0">
              <a:buNone/>
            </a:pPr>
            <a:r>
              <a:rPr lang="en-US" sz="1150" dirty="0">
                <a:solidFill>
                  <a:schemeClr val="tx1"/>
                </a:solidFill>
              </a:rPr>
              <a:t>Même indicateur + même source : la menace est mise à jour, pas dupliquée.</a:t>
            </a:r>
            <a:endParaRPr lang="en-US" sz="1150" dirty="0"/>
          </a:p>
        </p:txBody>
      </p:sp>
      <p:sp>
        <p:nvSpPr>
          <p:cNvPr id="14" name="srcc-2"/>
          <p:cNvSpPr/>
          <p:nvPr/>
        </p:nvSpPr>
        <p:spPr>
          <a:xfrm>
            <a:off x="8321040" y="4572000"/>
            <a:ext cx="3291840" cy="1417320"/>
          </a:xfrm>
          <a:prstGeom prst="roundRect">
            <a:avLst>
              <a:gd name="adj" fmla="val 7742"/>
            </a:avLst>
          </a:prstGeom>
          <a:solidFill>
            <a:schemeClr val="bg2"/>
          </a:solidFill>
          <a:ln w="12700">
            <a:solidFill>
              <a:schemeClr val="bg2"/>
            </a:solidFill>
            <a:prstDash val="solid"/>
          </a:ln>
        </p:spPr>
      </p:sp>
      <p:sp>
        <p:nvSpPr>
          <p:cNvPr id="15" name="srcc-2-circle"/>
          <p:cNvSpPr/>
          <p:nvPr/>
        </p:nvSpPr>
        <p:spPr>
          <a:xfrm>
            <a:off x="8503920" y="4754880"/>
            <a:ext cx="502920" cy="502920"/>
          </a:xfrm>
          <a:prstGeom prst="ellipse">
            <a:avLst/>
          </a:prstGeom>
          <a:solidFill>
            <a:schemeClr val="accent1"/>
          </a:solidFill>
          <a:ln w="12700">
            <a:solidFill>
              <a:schemeClr val="accent1"/>
            </a:solidFill>
            <a:prstDash val="solid"/>
          </a:ln>
        </p:spPr>
      </p:sp>
      <p:pic>
        <p:nvPicPr>
          <p:cNvPr id="16" name="srcc-2-icon" descr="preencoded.png">    </p:cNvPr>
          <p:cNvPicPr>
            <a:picLocks noChangeAspect="1"/>
          </p:cNvPicPr>
          <p:nvPr/>
        </p:nvPicPr>
        <p:blipFill>
          <a:blip r:embed="rId3"/>
          <a:stretch>
            <a:fillRect/>
          </a:stretch>
        </p:blipFill>
        <p:spPr>
          <a:xfrm>
            <a:off x="8629650" y="4880610"/>
            <a:ext cx="251460" cy="251460"/>
          </a:xfrm>
          <a:prstGeom prst="rect">
            <a:avLst/>
          </a:prstGeom>
        </p:spPr>
      </p:pic>
      <p:sp>
        <p:nvSpPr>
          <p:cNvPr id="17" name="Text 11"/>
          <p:cNvSpPr txBox="1"/>
          <p:nvPr/>
        </p:nvSpPr>
        <p:spPr>
          <a:xfrm>
            <a:off x="9144000" y="4800600"/>
            <a:ext cx="2286000" cy="411480"/>
          </a:xfrm>
          <a:prstGeom prst="rect">
            <a:avLst/>
          </a:prstGeom>
          <a:noFill/>
          <a:ln/>
        </p:spPr>
        <p:txBody>
          <a:bodyPr wrap="square" lIns="0" tIns="0" rIns="0" bIns="0" rtlCol="0" anchor="ctr"/>
          <a:lstStyle/>
          <a:p>
            <a:pPr indent="0" marL="0">
              <a:buNone/>
            </a:pPr>
            <a:r>
              <a:rPr lang="en-US" sz="1600" b="1" dirty="0">
                <a:solidFill>
                  <a:schemeClr val="tx2"/>
                </a:solidFill>
              </a:rPr>
              <a:t>Robuste</a:t>
            </a:r>
            <a:endParaRPr lang="en-US" sz="1600" dirty="0"/>
          </a:p>
        </p:txBody>
      </p:sp>
      <p:sp>
        <p:nvSpPr>
          <p:cNvPr id="18" name="Text 12"/>
          <p:cNvSpPr txBox="1"/>
          <p:nvPr/>
        </p:nvSpPr>
        <p:spPr>
          <a:xfrm>
            <a:off x="8503920" y="5349240"/>
            <a:ext cx="2971800" cy="594360"/>
          </a:xfrm>
          <a:prstGeom prst="rect">
            <a:avLst/>
          </a:prstGeom>
          <a:noFill/>
          <a:ln/>
        </p:spPr>
        <p:txBody>
          <a:bodyPr wrap="square" lIns="0" tIns="0" rIns="0" bIns="0" rtlCol="0" anchor="t"/>
          <a:lstStyle/>
          <a:p>
            <a:pPr indent="0" marL="0">
              <a:buNone/>
            </a:pPr>
            <a:r>
              <a:rPr lang="en-US" sz="1150" dirty="0">
                <a:solidFill>
                  <a:schemeClr val="tx1"/>
                </a:solidFill>
              </a:rPr>
              <a:t>Une source en panne ne bloque pas les autres ; aucun secret dans le code.</a:t>
            </a:r>
            <a:endParaRPr lang="en-US" sz="115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000" b="1" dirty="0">
                <a:solidFill>
                  <a:schemeClr val="tx2"/>
                </a:solidFill>
              </a:rPr>
              <a:t>Un modèle de menace unique, de la collecte au dashboard</a:t>
            </a:r>
            <a:endParaRPr lang="en-US" sz="3000" dirty="0"/>
          </a:p>
        </p:txBody>
      </p:sp>
      <p:sp>
        <p:nvSpPr>
          <p:cNvPr id="3" name="field-0"/>
          <p:cNvSpPr/>
          <p:nvPr/>
        </p:nvSpPr>
        <p:spPr>
          <a:xfrm>
            <a:off x="548640" y="1417320"/>
            <a:ext cx="2971800" cy="960120"/>
          </a:xfrm>
          <a:prstGeom prst="roundRect">
            <a:avLst>
              <a:gd name="adj" fmla="val 11429"/>
            </a:avLst>
          </a:prstGeom>
          <a:solidFill>
            <a:schemeClr val="bg2"/>
          </a:solidFill>
          <a:ln w="12700">
            <a:solidFill>
              <a:schemeClr val="bg2"/>
            </a:solidFill>
            <a:prstDash val="solid"/>
          </a:ln>
        </p:spPr>
      </p:sp>
      <p:sp>
        <p:nvSpPr>
          <p:cNvPr id="4" name="Text 2"/>
          <p:cNvSpPr txBox="1"/>
          <p:nvPr/>
        </p:nvSpPr>
        <p:spPr>
          <a:xfrm>
            <a:off x="731520" y="1554480"/>
            <a:ext cx="2651760" cy="320040"/>
          </a:xfrm>
          <a:prstGeom prst="rect">
            <a:avLst/>
          </a:prstGeom>
          <a:noFill/>
          <a:ln/>
        </p:spPr>
        <p:txBody>
          <a:bodyPr wrap="square" lIns="0" tIns="0" rIns="0" bIns="0" rtlCol="0" anchor="t"/>
          <a:lstStyle/>
          <a:p>
            <a:pPr indent="0" marL="0">
              <a:buNone/>
            </a:pPr>
            <a:r>
              <a:rPr lang="en-US" sz="1400" b="1" dirty="0">
                <a:solidFill>
                  <a:schemeClr val="accent1"/>
                </a:solidFill>
                <a:latin typeface="Courier New" pitchFamily="34" charset="0"/>
                <a:ea typeface="Courier New" pitchFamily="34" charset="-122"/>
                <a:cs typeface="Courier New" pitchFamily="34" charset="-120"/>
              </a:rPr>
              <a:t>indicator</a:t>
            </a:r>
            <a:endParaRPr lang="en-US" sz="1400" dirty="0"/>
          </a:p>
        </p:txBody>
      </p:sp>
      <p:sp>
        <p:nvSpPr>
          <p:cNvPr id="5" name="Text 3"/>
          <p:cNvSpPr txBox="1"/>
          <p:nvPr/>
        </p:nvSpPr>
        <p:spPr>
          <a:xfrm>
            <a:off x="731520" y="1920240"/>
            <a:ext cx="2651760" cy="365760"/>
          </a:xfrm>
          <a:prstGeom prst="rect">
            <a:avLst/>
          </a:prstGeom>
          <a:noFill/>
          <a:ln/>
        </p:spPr>
        <p:txBody>
          <a:bodyPr wrap="square" lIns="0" tIns="0" rIns="0" bIns="0" rtlCol="0" anchor="t"/>
          <a:lstStyle/>
          <a:p>
            <a:pPr indent="0" marL="0">
              <a:buNone/>
            </a:pPr>
            <a:r>
              <a:rPr lang="en-US" sz="1300" dirty="0">
                <a:solidFill>
                  <a:schemeClr val="tx1"/>
                </a:solidFill>
              </a:rPr>
              <a:t>la valeur observée</a:t>
            </a:r>
            <a:endParaRPr lang="en-US" sz="1300" dirty="0"/>
          </a:p>
        </p:txBody>
      </p:sp>
      <p:sp>
        <p:nvSpPr>
          <p:cNvPr id="6" name="field-1"/>
          <p:cNvSpPr/>
          <p:nvPr/>
        </p:nvSpPr>
        <p:spPr>
          <a:xfrm>
            <a:off x="3703320" y="1417320"/>
            <a:ext cx="2971800" cy="960120"/>
          </a:xfrm>
          <a:prstGeom prst="roundRect">
            <a:avLst>
              <a:gd name="adj" fmla="val 11429"/>
            </a:avLst>
          </a:prstGeom>
          <a:solidFill>
            <a:schemeClr val="bg2"/>
          </a:solidFill>
          <a:ln w="12700">
            <a:solidFill>
              <a:schemeClr val="bg2"/>
            </a:solidFill>
            <a:prstDash val="solid"/>
          </a:ln>
        </p:spPr>
      </p:sp>
      <p:sp>
        <p:nvSpPr>
          <p:cNvPr id="7" name="Text 5"/>
          <p:cNvSpPr txBox="1"/>
          <p:nvPr/>
        </p:nvSpPr>
        <p:spPr>
          <a:xfrm>
            <a:off x="3886200" y="1554480"/>
            <a:ext cx="2651760" cy="320040"/>
          </a:xfrm>
          <a:prstGeom prst="rect">
            <a:avLst/>
          </a:prstGeom>
          <a:noFill/>
          <a:ln/>
        </p:spPr>
        <p:txBody>
          <a:bodyPr wrap="square" lIns="0" tIns="0" rIns="0" bIns="0" rtlCol="0" anchor="t"/>
          <a:lstStyle/>
          <a:p>
            <a:pPr indent="0" marL="0">
              <a:buNone/>
            </a:pPr>
            <a:r>
              <a:rPr lang="en-US" sz="1400" b="1" dirty="0">
                <a:solidFill>
                  <a:schemeClr val="accent1"/>
                </a:solidFill>
                <a:latin typeface="Courier New" pitchFamily="34" charset="0"/>
                <a:ea typeface="Courier New" pitchFamily="34" charset="-122"/>
                <a:cs typeface="Courier New" pitchFamily="34" charset="-120"/>
              </a:rPr>
              <a:t>indicator_type</a:t>
            </a:r>
            <a:endParaRPr lang="en-US" sz="1400" dirty="0"/>
          </a:p>
        </p:txBody>
      </p:sp>
      <p:sp>
        <p:nvSpPr>
          <p:cNvPr id="8" name="Text 6"/>
          <p:cNvSpPr txBox="1"/>
          <p:nvPr/>
        </p:nvSpPr>
        <p:spPr>
          <a:xfrm>
            <a:off x="3886200" y="1920240"/>
            <a:ext cx="2651760" cy="365760"/>
          </a:xfrm>
          <a:prstGeom prst="rect">
            <a:avLst/>
          </a:prstGeom>
          <a:noFill/>
          <a:ln/>
        </p:spPr>
        <p:txBody>
          <a:bodyPr wrap="square" lIns="0" tIns="0" rIns="0" bIns="0" rtlCol="0" anchor="t"/>
          <a:lstStyle/>
          <a:p>
            <a:pPr indent="0" marL="0">
              <a:buNone/>
            </a:pPr>
            <a:r>
              <a:rPr lang="en-US" sz="1300" dirty="0">
                <a:solidFill>
                  <a:schemeClr val="tx1"/>
                </a:solidFill>
              </a:rPr>
              <a:t>ip, domain, url, hash, cve</a:t>
            </a:r>
            <a:endParaRPr lang="en-US" sz="1300" dirty="0"/>
          </a:p>
        </p:txBody>
      </p:sp>
      <p:sp>
        <p:nvSpPr>
          <p:cNvPr id="9" name="field-2"/>
          <p:cNvSpPr/>
          <p:nvPr/>
        </p:nvSpPr>
        <p:spPr>
          <a:xfrm>
            <a:off x="548640" y="2560320"/>
            <a:ext cx="2971800" cy="960120"/>
          </a:xfrm>
          <a:prstGeom prst="roundRect">
            <a:avLst>
              <a:gd name="adj" fmla="val 11429"/>
            </a:avLst>
          </a:prstGeom>
          <a:solidFill>
            <a:schemeClr val="bg2"/>
          </a:solidFill>
          <a:ln w="12700">
            <a:solidFill>
              <a:schemeClr val="bg2"/>
            </a:solidFill>
            <a:prstDash val="solid"/>
          </a:ln>
        </p:spPr>
      </p:sp>
      <p:sp>
        <p:nvSpPr>
          <p:cNvPr id="10" name="Text 8"/>
          <p:cNvSpPr txBox="1"/>
          <p:nvPr/>
        </p:nvSpPr>
        <p:spPr>
          <a:xfrm>
            <a:off x="731520" y="2697480"/>
            <a:ext cx="2651760" cy="320040"/>
          </a:xfrm>
          <a:prstGeom prst="rect">
            <a:avLst/>
          </a:prstGeom>
          <a:noFill/>
          <a:ln/>
        </p:spPr>
        <p:txBody>
          <a:bodyPr wrap="square" lIns="0" tIns="0" rIns="0" bIns="0" rtlCol="0" anchor="t"/>
          <a:lstStyle/>
          <a:p>
            <a:pPr indent="0" marL="0">
              <a:buNone/>
            </a:pPr>
            <a:r>
              <a:rPr lang="en-US" sz="1400" b="1" dirty="0">
                <a:solidFill>
                  <a:schemeClr val="accent1"/>
                </a:solidFill>
                <a:latin typeface="Courier New" pitchFamily="34" charset="0"/>
                <a:ea typeface="Courier New" pitchFamily="34" charset="-122"/>
                <a:cs typeface="Courier New" pitchFamily="34" charset="-120"/>
              </a:rPr>
              <a:t>threat_type</a:t>
            </a:r>
            <a:endParaRPr lang="en-US" sz="1400" dirty="0"/>
          </a:p>
        </p:txBody>
      </p:sp>
      <p:sp>
        <p:nvSpPr>
          <p:cNvPr id="11" name="Text 9"/>
          <p:cNvSpPr txBox="1"/>
          <p:nvPr/>
        </p:nvSpPr>
        <p:spPr>
          <a:xfrm>
            <a:off x="731520" y="3063240"/>
            <a:ext cx="2651760" cy="365760"/>
          </a:xfrm>
          <a:prstGeom prst="rect">
            <a:avLst/>
          </a:prstGeom>
          <a:noFill/>
          <a:ln/>
        </p:spPr>
        <p:txBody>
          <a:bodyPr wrap="square" lIns="0" tIns="0" rIns="0" bIns="0" rtlCol="0" anchor="t"/>
          <a:lstStyle/>
          <a:p>
            <a:pPr indent="0" marL="0">
              <a:buNone/>
            </a:pPr>
            <a:r>
              <a:rPr lang="en-US" sz="1300" dirty="0">
                <a:solidFill>
                  <a:schemeClr val="tx1"/>
                </a:solidFill>
              </a:rPr>
              <a:t>phishing, malware, ransomware…</a:t>
            </a:r>
            <a:endParaRPr lang="en-US" sz="1300" dirty="0"/>
          </a:p>
        </p:txBody>
      </p:sp>
      <p:sp>
        <p:nvSpPr>
          <p:cNvPr id="12" name="field-3"/>
          <p:cNvSpPr/>
          <p:nvPr/>
        </p:nvSpPr>
        <p:spPr>
          <a:xfrm>
            <a:off x="3703320" y="2560320"/>
            <a:ext cx="2971800" cy="960120"/>
          </a:xfrm>
          <a:prstGeom prst="roundRect">
            <a:avLst>
              <a:gd name="adj" fmla="val 11429"/>
            </a:avLst>
          </a:prstGeom>
          <a:solidFill>
            <a:schemeClr val="bg2"/>
          </a:solidFill>
          <a:ln w="12700">
            <a:solidFill>
              <a:schemeClr val="bg2"/>
            </a:solidFill>
            <a:prstDash val="solid"/>
          </a:ln>
        </p:spPr>
      </p:sp>
      <p:sp>
        <p:nvSpPr>
          <p:cNvPr id="13" name="Text 11"/>
          <p:cNvSpPr txBox="1"/>
          <p:nvPr/>
        </p:nvSpPr>
        <p:spPr>
          <a:xfrm>
            <a:off x="3886200" y="2697480"/>
            <a:ext cx="2651760" cy="320040"/>
          </a:xfrm>
          <a:prstGeom prst="rect">
            <a:avLst/>
          </a:prstGeom>
          <a:noFill/>
          <a:ln/>
        </p:spPr>
        <p:txBody>
          <a:bodyPr wrap="square" lIns="0" tIns="0" rIns="0" bIns="0" rtlCol="0" anchor="t"/>
          <a:lstStyle/>
          <a:p>
            <a:pPr indent="0" marL="0">
              <a:buNone/>
            </a:pPr>
            <a:r>
              <a:rPr lang="en-US" sz="1400" b="1" dirty="0">
                <a:solidFill>
                  <a:schemeClr val="accent1"/>
                </a:solidFill>
                <a:latin typeface="Courier New" pitchFamily="34" charset="0"/>
                <a:ea typeface="Courier New" pitchFamily="34" charset="-122"/>
                <a:cs typeface="Courier New" pitchFamily="34" charset="-120"/>
              </a:rPr>
              <a:t>source</a:t>
            </a:r>
            <a:endParaRPr lang="en-US" sz="1400" dirty="0"/>
          </a:p>
        </p:txBody>
      </p:sp>
      <p:sp>
        <p:nvSpPr>
          <p:cNvPr id="14" name="Text 12"/>
          <p:cNvSpPr txBox="1"/>
          <p:nvPr/>
        </p:nvSpPr>
        <p:spPr>
          <a:xfrm>
            <a:off x="3886200" y="3063240"/>
            <a:ext cx="2651760" cy="365760"/>
          </a:xfrm>
          <a:prstGeom prst="rect">
            <a:avLst/>
          </a:prstGeom>
          <a:noFill/>
          <a:ln/>
        </p:spPr>
        <p:txBody>
          <a:bodyPr wrap="square" lIns="0" tIns="0" rIns="0" bIns="0" rtlCol="0" anchor="t"/>
          <a:lstStyle/>
          <a:p>
            <a:pPr indent="0" marL="0">
              <a:buNone/>
            </a:pPr>
            <a:r>
              <a:rPr lang="en-US" sz="1300" dirty="0">
                <a:solidFill>
                  <a:schemeClr val="tx1"/>
                </a:solidFill>
              </a:rPr>
              <a:t>nvd, urlhaus, otx…</a:t>
            </a:r>
            <a:endParaRPr lang="en-US" sz="1300" dirty="0"/>
          </a:p>
        </p:txBody>
      </p:sp>
      <p:sp>
        <p:nvSpPr>
          <p:cNvPr id="15" name="field-4"/>
          <p:cNvSpPr/>
          <p:nvPr/>
        </p:nvSpPr>
        <p:spPr>
          <a:xfrm>
            <a:off x="548640" y="3703320"/>
            <a:ext cx="2971800" cy="960120"/>
          </a:xfrm>
          <a:prstGeom prst="roundRect">
            <a:avLst>
              <a:gd name="adj" fmla="val 11429"/>
            </a:avLst>
          </a:prstGeom>
          <a:solidFill>
            <a:schemeClr val="bg2"/>
          </a:solidFill>
          <a:ln w="12700">
            <a:solidFill>
              <a:schemeClr val="bg2"/>
            </a:solidFill>
            <a:prstDash val="solid"/>
          </a:ln>
        </p:spPr>
      </p:sp>
      <p:sp>
        <p:nvSpPr>
          <p:cNvPr id="16" name="Text 14"/>
          <p:cNvSpPr txBox="1"/>
          <p:nvPr/>
        </p:nvSpPr>
        <p:spPr>
          <a:xfrm>
            <a:off x="731520" y="3840480"/>
            <a:ext cx="2651760" cy="320040"/>
          </a:xfrm>
          <a:prstGeom prst="rect">
            <a:avLst/>
          </a:prstGeom>
          <a:noFill/>
          <a:ln/>
        </p:spPr>
        <p:txBody>
          <a:bodyPr wrap="square" lIns="0" tIns="0" rIns="0" bIns="0" rtlCol="0" anchor="t"/>
          <a:lstStyle/>
          <a:p>
            <a:pPr indent="0" marL="0">
              <a:buNone/>
            </a:pPr>
            <a:r>
              <a:rPr lang="en-US" sz="1400" b="1" dirty="0">
                <a:solidFill>
                  <a:schemeClr val="accent1"/>
                </a:solidFill>
                <a:latin typeface="Courier New" pitchFamily="34" charset="0"/>
                <a:ea typeface="Courier New" pitchFamily="34" charset="-122"/>
                <a:cs typeface="Courier New" pitchFamily="34" charset="-120"/>
              </a:rPr>
              <a:t>severity</a:t>
            </a:r>
            <a:endParaRPr lang="en-US" sz="1400" dirty="0"/>
          </a:p>
        </p:txBody>
      </p:sp>
      <p:sp>
        <p:nvSpPr>
          <p:cNvPr id="17" name="Text 15"/>
          <p:cNvSpPr txBox="1"/>
          <p:nvPr/>
        </p:nvSpPr>
        <p:spPr>
          <a:xfrm>
            <a:off x="731520" y="4206240"/>
            <a:ext cx="2651760" cy="365760"/>
          </a:xfrm>
          <a:prstGeom prst="rect">
            <a:avLst/>
          </a:prstGeom>
          <a:noFill/>
          <a:ln/>
        </p:spPr>
        <p:txBody>
          <a:bodyPr wrap="square" lIns="0" tIns="0" rIns="0" bIns="0" rtlCol="0" anchor="t"/>
          <a:lstStyle/>
          <a:p>
            <a:pPr indent="0" marL="0">
              <a:buNone/>
            </a:pPr>
            <a:r>
              <a:rPr lang="en-US" sz="1300" dirty="0">
                <a:solidFill>
                  <a:schemeClr val="tx1"/>
                </a:solidFill>
              </a:rPr>
              <a:t>low, medium, high, critical</a:t>
            </a:r>
            <a:endParaRPr lang="en-US" sz="1300" dirty="0"/>
          </a:p>
        </p:txBody>
      </p:sp>
      <p:sp>
        <p:nvSpPr>
          <p:cNvPr id="18" name="field-5"/>
          <p:cNvSpPr/>
          <p:nvPr/>
        </p:nvSpPr>
        <p:spPr>
          <a:xfrm>
            <a:off x="3703320" y="3703320"/>
            <a:ext cx="2971800" cy="960120"/>
          </a:xfrm>
          <a:prstGeom prst="roundRect">
            <a:avLst>
              <a:gd name="adj" fmla="val 11429"/>
            </a:avLst>
          </a:prstGeom>
          <a:solidFill>
            <a:schemeClr val="bg2"/>
          </a:solidFill>
          <a:ln w="12700">
            <a:solidFill>
              <a:schemeClr val="bg2"/>
            </a:solidFill>
            <a:prstDash val="solid"/>
          </a:ln>
        </p:spPr>
      </p:sp>
      <p:sp>
        <p:nvSpPr>
          <p:cNvPr id="19" name="Text 17"/>
          <p:cNvSpPr txBox="1"/>
          <p:nvPr/>
        </p:nvSpPr>
        <p:spPr>
          <a:xfrm>
            <a:off x="3886200" y="3840480"/>
            <a:ext cx="2651760" cy="320040"/>
          </a:xfrm>
          <a:prstGeom prst="rect">
            <a:avLst/>
          </a:prstGeom>
          <a:noFill/>
          <a:ln/>
        </p:spPr>
        <p:txBody>
          <a:bodyPr wrap="square" lIns="0" tIns="0" rIns="0" bIns="0" rtlCol="0" anchor="t"/>
          <a:lstStyle/>
          <a:p>
            <a:pPr indent="0" marL="0">
              <a:buNone/>
            </a:pPr>
            <a:r>
              <a:rPr lang="en-US" sz="1400" b="1" dirty="0">
                <a:solidFill>
                  <a:schemeClr val="accent1"/>
                </a:solidFill>
                <a:latin typeface="Courier New" pitchFamily="34" charset="0"/>
                <a:ea typeface="Courier New" pitchFamily="34" charset="-122"/>
                <a:cs typeface="Courier New" pitchFamily="34" charset="-120"/>
              </a:rPr>
              <a:t>risk_score</a:t>
            </a:r>
            <a:endParaRPr lang="en-US" sz="1400" dirty="0"/>
          </a:p>
        </p:txBody>
      </p:sp>
      <p:sp>
        <p:nvSpPr>
          <p:cNvPr id="20" name="Text 18"/>
          <p:cNvSpPr txBox="1"/>
          <p:nvPr/>
        </p:nvSpPr>
        <p:spPr>
          <a:xfrm>
            <a:off x="3886200" y="4206240"/>
            <a:ext cx="2651760" cy="365760"/>
          </a:xfrm>
          <a:prstGeom prst="rect">
            <a:avLst/>
          </a:prstGeom>
          <a:noFill/>
          <a:ln/>
        </p:spPr>
        <p:txBody>
          <a:bodyPr wrap="square" lIns="0" tIns="0" rIns="0" bIns="0" rtlCol="0" anchor="t"/>
          <a:lstStyle/>
          <a:p>
            <a:pPr indent="0" marL="0">
              <a:buNone/>
            </a:pPr>
            <a:r>
              <a:rPr lang="en-US" sz="1300" dirty="0">
                <a:solidFill>
                  <a:schemeClr val="tx1"/>
                </a:solidFill>
              </a:rPr>
              <a:t>entier de 0 à 100</a:t>
            </a:r>
            <a:endParaRPr lang="en-US" sz="1300" dirty="0"/>
          </a:p>
        </p:txBody>
      </p:sp>
      <p:sp>
        <p:nvSpPr>
          <p:cNvPr id="21" name="field-6"/>
          <p:cNvSpPr/>
          <p:nvPr/>
        </p:nvSpPr>
        <p:spPr>
          <a:xfrm>
            <a:off x="548640" y="4846320"/>
            <a:ext cx="2971800" cy="960120"/>
          </a:xfrm>
          <a:prstGeom prst="roundRect">
            <a:avLst>
              <a:gd name="adj" fmla="val 11429"/>
            </a:avLst>
          </a:prstGeom>
          <a:solidFill>
            <a:schemeClr val="bg2"/>
          </a:solidFill>
          <a:ln w="12700">
            <a:solidFill>
              <a:schemeClr val="bg2"/>
            </a:solidFill>
            <a:prstDash val="solid"/>
          </a:ln>
        </p:spPr>
      </p:sp>
      <p:sp>
        <p:nvSpPr>
          <p:cNvPr id="22" name="Text 20"/>
          <p:cNvSpPr txBox="1"/>
          <p:nvPr/>
        </p:nvSpPr>
        <p:spPr>
          <a:xfrm>
            <a:off x="731520" y="4983480"/>
            <a:ext cx="2651760" cy="320040"/>
          </a:xfrm>
          <a:prstGeom prst="rect">
            <a:avLst/>
          </a:prstGeom>
          <a:noFill/>
          <a:ln/>
        </p:spPr>
        <p:txBody>
          <a:bodyPr wrap="square" lIns="0" tIns="0" rIns="0" bIns="0" rtlCol="0" anchor="t"/>
          <a:lstStyle/>
          <a:p>
            <a:pPr indent="0" marL="0">
              <a:buNone/>
            </a:pPr>
            <a:r>
              <a:rPr lang="en-US" sz="1400" b="1" dirty="0">
                <a:solidFill>
                  <a:schemeClr val="accent1"/>
                </a:solidFill>
                <a:latin typeface="Courier New" pitchFamily="34" charset="0"/>
                <a:ea typeface="Courier New" pitchFamily="34" charset="-122"/>
                <a:cs typeface="Courier New" pitchFamily="34" charset="-120"/>
              </a:rPr>
              <a:t>recommended_action</a:t>
            </a:r>
            <a:endParaRPr lang="en-US" sz="1400" dirty="0"/>
          </a:p>
        </p:txBody>
      </p:sp>
      <p:sp>
        <p:nvSpPr>
          <p:cNvPr id="23" name="Text 21"/>
          <p:cNvSpPr txBox="1"/>
          <p:nvPr/>
        </p:nvSpPr>
        <p:spPr>
          <a:xfrm>
            <a:off x="731520" y="5349240"/>
            <a:ext cx="2651760" cy="365760"/>
          </a:xfrm>
          <a:prstGeom prst="rect">
            <a:avLst/>
          </a:prstGeom>
          <a:noFill/>
          <a:ln/>
        </p:spPr>
        <p:txBody>
          <a:bodyPr wrap="square" lIns="0" tIns="0" rIns="0" bIns="0" rtlCol="0" anchor="t"/>
          <a:lstStyle/>
          <a:p>
            <a:pPr indent="0" marL="0">
              <a:buNone/>
            </a:pPr>
            <a:r>
              <a:rPr lang="en-US" sz="1300" dirty="0">
                <a:solidFill>
                  <a:schemeClr val="tx1"/>
                </a:solidFill>
              </a:rPr>
              <a:t>issue des fiches réflexes</a:t>
            </a:r>
            <a:endParaRPr lang="en-US" sz="1300" dirty="0"/>
          </a:p>
        </p:txBody>
      </p:sp>
      <p:sp>
        <p:nvSpPr>
          <p:cNvPr id="24" name="field-7"/>
          <p:cNvSpPr/>
          <p:nvPr/>
        </p:nvSpPr>
        <p:spPr>
          <a:xfrm>
            <a:off x="3703320" y="4846320"/>
            <a:ext cx="2971800" cy="960120"/>
          </a:xfrm>
          <a:prstGeom prst="roundRect">
            <a:avLst>
              <a:gd name="adj" fmla="val 11429"/>
            </a:avLst>
          </a:prstGeom>
          <a:solidFill>
            <a:schemeClr val="bg2"/>
          </a:solidFill>
          <a:ln w="12700">
            <a:solidFill>
              <a:schemeClr val="bg2"/>
            </a:solidFill>
            <a:prstDash val="solid"/>
          </a:ln>
        </p:spPr>
      </p:sp>
      <p:sp>
        <p:nvSpPr>
          <p:cNvPr id="25" name="Text 23"/>
          <p:cNvSpPr txBox="1"/>
          <p:nvPr/>
        </p:nvSpPr>
        <p:spPr>
          <a:xfrm>
            <a:off x="3886200" y="4983480"/>
            <a:ext cx="2651760" cy="320040"/>
          </a:xfrm>
          <a:prstGeom prst="rect">
            <a:avLst/>
          </a:prstGeom>
          <a:noFill/>
          <a:ln/>
        </p:spPr>
        <p:txBody>
          <a:bodyPr wrap="square" lIns="0" tIns="0" rIns="0" bIns="0" rtlCol="0" anchor="t"/>
          <a:lstStyle/>
          <a:p>
            <a:pPr indent="0" marL="0">
              <a:buNone/>
            </a:pPr>
            <a:r>
              <a:rPr lang="en-US" sz="1400" b="1" dirty="0">
                <a:solidFill>
                  <a:schemeClr val="accent1"/>
                </a:solidFill>
                <a:latin typeface="Courier New" pitchFamily="34" charset="0"/>
                <a:ea typeface="Courier New" pitchFamily="34" charset="-122"/>
                <a:cs typeface="Courier New" pitchFamily="34" charset="-120"/>
              </a:rPr>
              <a:t>first_seen / last_seen</a:t>
            </a:r>
            <a:endParaRPr lang="en-US" sz="1400" dirty="0"/>
          </a:p>
        </p:txBody>
      </p:sp>
      <p:sp>
        <p:nvSpPr>
          <p:cNvPr id="26" name="Text 24"/>
          <p:cNvSpPr txBox="1"/>
          <p:nvPr/>
        </p:nvSpPr>
        <p:spPr>
          <a:xfrm>
            <a:off x="3886200" y="5349240"/>
            <a:ext cx="2651760" cy="365760"/>
          </a:xfrm>
          <a:prstGeom prst="rect">
            <a:avLst/>
          </a:prstGeom>
          <a:noFill/>
          <a:ln/>
        </p:spPr>
        <p:txBody>
          <a:bodyPr wrap="square" lIns="0" tIns="0" rIns="0" bIns="0" rtlCol="0" anchor="t"/>
          <a:lstStyle/>
          <a:p>
            <a:pPr indent="0" marL="0">
              <a:buNone/>
            </a:pPr>
            <a:r>
              <a:rPr lang="en-US" sz="1300" dirty="0">
                <a:solidFill>
                  <a:schemeClr val="tx1"/>
                </a:solidFill>
              </a:rPr>
              <a:t>dates d'observation</a:t>
            </a:r>
            <a:endParaRPr lang="en-US" sz="1300" dirty="0"/>
          </a:p>
        </p:txBody>
      </p:sp>
      <p:sp>
        <p:nvSpPr>
          <p:cNvPr id="27" name="json"/>
          <p:cNvSpPr/>
          <p:nvPr/>
        </p:nvSpPr>
        <p:spPr>
          <a:xfrm>
            <a:off x="7040880" y="1417320"/>
            <a:ext cx="4572000" cy="4434840"/>
          </a:xfrm>
          <a:prstGeom prst="roundRect">
            <a:avLst>
              <a:gd name="adj" fmla="val 2474"/>
            </a:avLst>
          </a:prstGeom>
          <a:solidFill>
            <a:schemeClr val="tx2"/>
          </a:solidFill>
          <a:ln w="12700">
            <a:solidFill>
              <a:schemeClr val="tx2"/>
            </a:solidFill>
            <a:prstDash val="solid"/>
          </a:ln>
        </p:spPr>
      </p:sp>
      <p:sp>
        <p:nvSpPr>
          <p:cNvPr id="28" name="Text 26"/>
          <p:cNvSpPr txBox="1"/>
          <p:nvPr/>
        </p:nvSpPr>
        <p:spPr>
          <a:xfrm>
            <a:off x="7269480" y="1600200"/>
            <a:ext cx="4114800" cy="320040"/>
          </a:xfrm>
          <a:prstGeom prst="rect">
            <a:avLst/>
          </a:prstGeom>
          <a:noFill/>
          <a:ln/>
        </p:spPr>
        <p:txBody>
          <a:bodyPr wrap="square" lIns="0" tIns="0" rIns="0" bIns="0" rtlCol="0" anchor="t"/>
          <a:lstStyle/>
          <a:p>
            <a:pPr indent="0" marL="0">
              <a:buNone/>
            </a:pPr>
            <a:r>
              <a:rPr lang="en-US" sz="1400" b="1" dirty="0">
                <a:solidFill>
                  <a:schemeClr val="accent2"/>
                </a:solidFill>
              </a:rPr>
              <a:t>Exemple</a:t>
            </a:r>
            <a:endParaRPr lang="en-US" sz="1400" dirty="0"/>
          </a:p>
        </p:txBody>
      </p:sp>
      <p:sp>
        <p:nvSpPr>
          <p:cNvPr id="29" name="Text 27"/>
          <p:cNvSpPr txBox="1"/>
          <p:nvPr/>
        </p:nvSpPr>
        <p:spPr>
          <a:xfrm>
            <a:off x="7269480" y="2011680"/>
            <a:ext cx="4114800" cy="3657600"/>
          </a:xfrm>
          <a:prstGeom prst="rect">
            <a:avLst/>
          </a:prstGeom>
          <a:noFill/>
          <a:ln/>
        </p:spPr>
        <p:txBody>
          <a:bodyPr wrap="square" lIns="0" tIns="0" rIns="0" bIns="0" rtlCol="0" anchor="t"/>
          <a:lstStyle/>
          <a:p>
            <a:pPr indent="0" marL="0">
              <a:buNone/>
            </a:pPr>
            <a:r>
              <a:rPr lang="en-US" sz="1300" dirty="0">
                <a:solidFill>
                  <a:schemeClr val="bg1"/>
                </a:solidFill>
                <a:latin typeface="Courier New" pitchFamily="34" charset="0"/>
                <a:ea typeface="Courier New" pitchFamily="34" charset="-122"/>
                <a:cs typeface="Courier New" pitchFamily="34" charset="-120"/>
              </a:rPr>
              <a:t>{</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"indicator": "malicious-domain.com",</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"indicator_type": "domain",</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"threat_type": "phishing",</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"source": "otx",</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"severity": "high",</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"risk_score": 85,</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"recommended_action":</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"Bloquer le domaine et</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alerter les employés"</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000" b="1" dirty="0">
                <a:solidFill>
                  <a:schemeClr val="tx2"/>
                </a:solidFill>
              </a:rPr>
              <a:t>Un score explicable : huit facteurs, plafonné à 100</a:t>
            </a:r>
            <a:endParaRPr lang="en-US" sz="3000" dirty="0"/>
          </a:p>
        </p:txBody>
      </p:sp>
      <p:graphicFrame>
        <p:nvGraphicFramePr>
          <p:cNvPr id="3" name="score-chart" descr=""/>
          <p:cNvGraphicFramePr/>
          <p:nvPr/>
        </p:nvGraphicFramePr>
        <p:xfrm>
          <a:off x="548640" y="1325880"/>
          <a:ext cx="6766560" cy="475488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7680960" y="1371600"/>
            <a:ext cx="3931920" cy="365760"/>
          </a:xfrm>
          <a:prstGeom prst="rect">
            <a:avLst/>
          </a:prstGeom>
          <a:noFill/>
          <a:ln/>
        </p:spPr>
        <p:txBody>
          <a:bodyPr wrap="square" lIns="0" tIns="0" rIns="0" bIns="0" rtlCol="0" anchor="t"/>
          <a:lstStyle/>
          <a:p>
            <a:pPr indent="0" marL="0">
              <a:buNone/>
            </a:pPr>
            <a:r>
              <a:rPr lang="en-US" sz="1700" b="1" dirty="0">
                <a:solidFill>
                  <a:schemeClr val="tx2"/>
                </a:solidFill>
              </a:rPr>
              <a:t>Niveaux de risque</a:t>
            </a:r>
            <a:endParaRPr lang="en-US" sz="1700" dirty="0"/>
          </a:p>
        </p:txBody>
      </p:sp>
      <p:sp>
        <p:nvSpPr>
          <p:cNvPr id="5" name="lvl-0"/>
          <p:cNvSpPr/>
          <p:nvPr/>
        </p:nvSpPr>
        <p:spPr>
          <a:xfrm>
            <a:off x="7680960" y="1874520"/>
            <a:ext cx="3931920" cy="868680"/>
          </a:xfrm>
          <a:prstGeom prst="roundRect">
            <a:avLst>
              <a:gd name="adj" fmla="val 12632"/>
            </a:avLst>
          </a:prstGeom>
          <a:solidFill>
            <a:schemeClr val="bg2"/>
          </a:solidFill>
          <a:ln w="12700">
            <a:solidFill>
              <a:schemeClr val="bg2"/>
            </a:solidFill>
            <a:prstDash val="solid"/>
          </a:ln>
        </p:spPr>
      </p:sp>
      <p:sp>
        <p:nvSpPr>
          <p:cNvPr id="6" name="lvl-tag-0"/>
          <p:cNvSpPr/>
          <p:nvPr/>
        </p:nvSpPr>
        <p:spPr>
          <a:xfrm>
            <a:off x="7818120" y="2011680"/>
            <a:ext cx="1188720" cy="594360"/>
          </a:xfrm>
          <a:prstGeom prst="roundRect">
            <a:avLst>
              <a:gd name="adj" fmla="val 18462"/>
            </a:avLst>
          </a:prstGeom>
          <a:solidFill>
            <a:schemeClr val="accent4"/>
          </a:solidFill>
          <a:ln w="12700">
            <a:solidFill>
              <a:schemeClr val="accent4"/>
            </a:solidFill>
            <a:prstDash val="solid"/>
          </a:ln>
        </p:spPr>
      </p:sp>
      <p:sp>
        <p:nvSpPr>
          <p:cNvPr id="7" name="Text 4"/>
          <p:cNvSpPr txBox="1"/>
          <p:nvPr/>
        </p:nvSpPr>
        <p:spPr>
          <a:xfrm>
            <a:off x="7818120" y="2011680"/>
            <a:ext cx="1188720" cy="594360"/>
          </a:xfrm>
          <a:prstGeom prst="rect">
            <a:avLst/>
          </a:prstGeom>
          <a:noFill/>
          <a:ln/>
        </p:spPr>
        <p:txBody>
          <a:bodyPr wrap="square" lIns="0" tIns="0" rIns="0" bIns="0" rtlCol="0" anchor="ctr"/>
          <a:lstStyle/>
          <a:p>
            <a:pPr algn="ctr" indent="0" marL="0">
              <a:buNone/>
            </a:pPr>
            <a:r>
              <a:rPr lang="en-US" sz="1500" b="1" dirty="0">
                <a:solidFill>
                  <a:schemeClr val="bg1"/>
                </a:solidFill>
              </a:rPr>
              <a:t>90–100</a:t>
            </a:r>
            <a:endParaRPr lang="en-US" sz="1500" dirty="0"/>
          </a:p>
        </p:txBody>
      </p:sp>
      <p:sp>
        <p:nvSpPr>
          <p:cNvPr id="8" name="Text 5"/>
          <p:cNvSpPr txBox="1"/>
          <p:nvPr/>
        </p:nvSpPr>
        <p:spPr>
          <a:xfrm>
            <a:off x="9189720" y="1984248"/>
            <a:ext cx="2286000" cy="320040"/>
          </a:xfrm>
          <a:prstGeom prst="rect">
            <a:avLst/>
          </a:prstGeom>
          <a:noFill/>
          <a:ln/>
        </p:spPr>
        <p:txBody>
          <a:bodyPr wrap="square" lIns="0" tIns="0" rIns="0" bIns="0" rtlCol="0" anchor="t"/>
          <a:lstStyle/>
          <a:p>
            <a:pPr indent="0" marL="0">
              <a:buNone/>
            </a:pPr>
            <a:r>
              <a:rPr lang="en-US" sz="1500" b="1" dirty="0">
                <a:solidFill>
                  <a:schemeClr val="tx2"/>
                </a:solidFill>
              </a:rPr>
              <a:t>Critique</a:t>
            </a:r>
            <a:endParaRPr lang="en-US" sz="1500" dirty="0"/>
          </a:p>
        </p:txBody>
      </p:sp>
      <p:sp>
        <p:nvSpPr>
          <p:cNvPr id="9" name="Text 6"/>
          <p:cNvSpPr txBox="1"/>
          <p:nvPr/>
        </p:nvSpPr>
        <p:spPr>
          <a:xfrm>
            <a:off x="9189720" y="2313432"/>
            <a:ext cx="2331720" cy="320040"/>
          </a:xfrm>
          <a:prstGeom prst="rect">
            <a:avLst/>
          </a:prstGeom>
          <a:noFill/>
          <a:ln/>
        </p:spPr>
        <p:txBody>
          <a:bodyPr wrap="square" lIns="0" tIns="0" rIns="0" bIns="0" rtlCol="0" anchor="t"/>
          <a:lstStyle/>
          <a:p>
            <a:pPr indent="0" marL="0">
              <a:buNone/>
            </a:pPr>
            <a:r>
              <a:rPr lang="en-US" sz="1200" dirty="0">
                <a:solidFill>
                  <a:schemeClr val="tx1"/>
                </a:solidFill>
              </a:rPr>
              <a:t>Alerte, agir immédiatement</a:t>
            </a:r>
            <a:endParaRPr lang="en-US" sz="1200" dirty="0"/>
          </a:p>
        </p:txBody>
      </p:sp>
      <p:sp>
        <p:nvSpPr>
          <p:cNvPr id="10" name="lvl-1"/>
          <p:cNvSpPr/>
          <p:nvPr/>
        </p:nvSpPr>
        <p:spPr>
          <a:xfrm>
            <a:off x="7680960" y="2898648"/>
            <a:ext cx="3931920" cy="868680"/>
          </a:xfrm>
          <a:prstGeom prst="roundRect">
            <a:avLst>
              <a:gd name="adj" fmla="val 12632"/>
            </a:avLst>
          </a:prstGeom>
          <a:solidFill>
            <a:schemeClr val="bg2"/>
          </a:solidFill>
          <a:ln w="12700">
            <a:solidFill>
              <a:schemeClr val="bg2"/>
            </a:solidFill>
            <a:prstDash val="solid"/>
          </a:ln>
        </p:spPr>
      </p:sp>
      <p:sp>
        <p:nvSpPr>
          <p:cNvPr id="11" name="lvl-tag-1"/>
          <p:cNvSpPr/>
          <p:nvPr/>
        </p:nvSpPr>
        <p:spPr>
          <a:xfrm>
            <a:off x="7818120" y="3035808"/>
            <a:ext cx="1188720" cy="594360"/>
          </a:xfrm>
          <a:prstGeom prst="roundRect">
            <a:avLst>
              <a:gd name="adj" fmla="val 18462"/>
            </a:avLst>
          </a:prstGeom>
          <a:solidFill>
            <a:schemeClr val="accent2"/>
          </a:solidFill>
          <a:ln w="12700">
            <a:solidFill>
              <a:schemeClr val="accent2"/>
            </a:solidFill>
            <a:prstDash val="solid"/>
          </a:ln>
        </p:spPr>
      </p:sp>
      <p:sp>
        <p:nvSpPr>
          <p:cNvPr id="12" name="Text 9"/>
          <p:cNvSpPr txBox="1"/>
          <p:nvPr/>
        </p:nvSpPr>
        <p:spPr>
          <a:xfrm>
            <a:off x="7818120" y="3035808"/>
            <a:ext cx="1188720" cy="594360"/>
          </a:xfrm>
          <a:prstGeom prst="rect">
            <a:avLst/>
          </a:prstGeom>
          <a:noFill/>
          <a:ln/>
        </p:spPr>
        <p:txBody>
          <a:bodyPr wrap="square" lIns="0" tIns="0" rIns="0" bIns="0" rtlCol="0" anchor="ctr"/>
          <a:lstStyle/>
          <a:p>
            <a:pPr algn="ctr" indent="0" marL="0">
              <a:buNone/>
            </a:pPr>
            <a:r>
              <a:rPr lang="en-US" sz="1500" b="1" dirty="0">
                <a:solidFill>
                  <a:schemeClr val="bg1"/>
                </a:solidFill>
              </a:rPr>
              <a:t>70–89</a:t>
            </a:r>
            <a:endParaRPr lang="en-US" sz="1500" dirty="0"/>
          </a:p>
        </p:txBody>
      </p:sp>
      <p:sp>
        <p:nvSpPr>
          <p:cNvPr id="13" name="Text 10"/>
          <p:cNvSpPr txBox="1"/>
          <p:nvPr/>
        </p:nvSpPr>
        <p:spPr>
          <a:xfrm>
            <a:off x="9189720" y="3008376"/>
            <a:ext cx="2286000" cy="320040"/>
          </a:xfrm>
          <a:prstGeom prst="rect">
            <a:avLst/>
          </a:prstGeom>
          <a:noFill/>
          <a:ln/>
        </p:spPr>
        <p:txBody>
          <a:bodyPr wrap="square" lIns="0" tIns="0" rIns="0" bIns="0" rtlCol="0" anchor="t"/>
          <a:lstStyle/>
          <a:p>
            <a:pPr indent="0" marL="0">
              <a:buNone/>
            </a:pPr>
            <a:r>
              <a:rPr lang="en-US" sz="1500" b="1" dirty="0">
                <a:solidFill>
                  <a:schemeClr val="tx2"/>
                </a:solidFill>
              </a:rPr>
              <a:t>Élevé</a:t>
            </a:r>
            <a:endParaRPr lang="en-US" sz="1500" dirty="0"/>
          </a:p>
        </p:txBody>
      </p:sp>
      <p:sp>
        <p:nvSpPr>
          <p:cNvPr id="14" name="Text 11"/>
          <p:cNvSpPr txBox="1"/>
          <p:nvPr/>
        </p:nvSpPr>
        <p:spPr>
          <a:xfrm>
            <a:off x="9189720" y="3337560"/>
            <a:ext cx="2331720" cy="320040"/>
          </a:xfrm>
          <a:prstGeom prst="rect">
            <a:avLst/>
          </a:prstGeom>
          <a:noFill/>
          <a:ln/>
        </p:spPr>
        <p:txBody>
          <a:bodyPr wrap="square" lIns="0" tIns="0" rIns="0" bIns="0" rtlCol="0" anchor="t"/>
          <a:lstStyle/>
          <a:p>
            <a:pPr indent="0" marL="0">
              <a:buNone/>
            </a:pPr>
            <a:r>
              <a:rPr lang="en-US" sz="1200" dirty="0">
                <a:solidFill>
                  <a:schemeClr val="tx1"/>
                </a:solidFill>
              </a:rPr>
              <a:t>Alerte, traiter rapidement</a:t>
            </a:r>
            <a:endParaRPr lang="en-US" sz="1200" dirty="0"/>
          </a:p>
        </p:txBody>
      </p:sp>
      <p:sp>
        <p:nvSpPr>
          <p:cNvPr id="15" name="lvl-2"/>
          <p:cNvSpPr/>
          <p:nvPr/>
        </p:nvSpPr>
        <p:spPr>
          <a:xfrm>
            <a:off x="7680960" y="3922776"/>
            <a:ext cx="3931920" cy="868680"/>
          </a:xfrm>
          <a:prstGeom prst="roundRect">
            <a:avLst>
              <a:gd name="adj" fmla="val 12632"/>
            </a:avLst>
          </a:prstGeom>
          <a:solidFill>
            <a:schemeClr val="bg2"/>
          </a:solidFill>
          <a:ln w="12700">
            <a:solidFill>
              <a:schemeClr val="bg2"/>
            </a:solidFill>
            <a:prstDash val="solid"/>
          </a:ln>
        </p:spPr>
      </p:sp>
      <p:sp>
        <p:nvSpPr>
          <p:cNvPr id="16" name="lvl-tag-2"/>
          <p:cNvSpPr/>
          <p:nvPr/>
        </p:nvSpPr>
        <p:spPr>
          <a:xfrm>
            <a:off x="7818120" y="4059936"/>
            <a:ext cx="1188720" cy="594360"/>
          </a:xfrm>
          <a:prstGeom prst="roundRect">
            <a:avLst>
              <a:gd name="adj" fmla="val 18462"/>
            </a:avLst>
          </a:prstGeom>
          <a:solidFill>
            <a:schemeClr val="accent1"/>
          </a:solidFill>
          <a:ln w="12700">
            <a:solidFill>
              <a:schemeClr val="accent1"/>
            </a:solidFill>
            <a:prstDash val="solid"/>
          </a:ln>
        </p:spPr>
      </p:sp>
      <p:sp>
        <p:nvSpPr>
          <p:cNvPr id="17" name="Text 14"/>
          <p:cNvSpPr txBox="1"/>
          <p:nvPr/>
        </p:nvSpPr>
        <p:spPr>
          <a:xfrm>
            <a:off x="7818120" y="4059936"/>
            <a:ext cx="1188720" cy="594360"/>
          </a:xfrm>
          <a:prstGeom prst="rect">
            <a:avLst/>
          </a:prstGeom>
          <a:noFill/>
          <a:ln/>
        </p:spPr>
        <p:txBody>
          <a:bodyPr wrap="square" lIns="0" tIns="0" rIns="0" bIns="0" rtlCol="0" anchor="ctr"/>
          <a:lstStyle/>
          <a:p>
            <a:pPr algn="ctr" indent="0" marL="0">
              <a:buNone/>
            </a:pPr>
            <a:r>
              <a:rPr lang="en-US" sz="1500" b="1" dirty="0">
                <a:solidFill>
                  <a:schemeClr val="bg1"/>
                </a:solidFill>
              </a:rPr>
              <a:t>40–69</a:t>
            </a:r>
            <a:endParaRPr lang="en-US" sz="1500" dirty="0"/>
          </a:p>
        </p:txBody>
      </p:sp>
      <p:sp>
        <p:nvSpPr>
          <p:cNvPr id="18" name="Text 15"/>
          <p:cNvSpPr txBox="1"/>
          <p:nvPr/>
        </p:nvSpPr>
        <p:spPr>
          <a:xfrm>
            <a:off x="9189720" y="4032504"/>
            <a:ext cx="2286000" cy="320040"/>
          </a:xfrm>
          <a:prstGeom prst="rect">
            <a:avLst/>
          </a:prstGeom>
          <a:noFill/>
          <a:ln/>
        </p:spPr>
        <p:txBody>
          <a:bodyPr wrap="square" lIns="0" tIns="0" rIns="0" bIns="0" rtlCol="0" anchor="t"/>
          <a:lstStyle/>
          <a:p>
            <a:pPr indent="0" marL="0">
              <a:buNone/>
            </a:pPr>
            <a:r>
              <a:rPr lang="en-US" sz="1500" b="1" dirty="0">
                <a:solidFill>
                  <a:schemeClr val="tx2"/>
                </a:solidFill>
              </a:rPr>
              <a:t>Moyen</a:t>
            </a:r>
            <a:endParaRPr lang="en-US" sz="1500" dirty="0"/>
          </a:p>
        </p:txBody>
      </p:sp>
      <p:sp>
        <p:nvSpPr>
          <p:cNvPr id="19" name="Text 16"/>
          <p:cNvSpPr txBox="1"/>
          <p:nvPr/>
        </p:nvSpPr>
        <p:spPr>
          <a:xfrm>
            <a:off x="9189720" y="4361688"/>
            <a:ext cx="2331720" cy="320040"/>
          </a:xfrm>
          <a:prstGeom prst="rect">
            <a:avLst/>
          </a:prstGeom>
          <a:noFill/>
          <a:ln/>
        </p:spPr>
        <p:txBody>
          <a:bodyPr wrap="square" lIns="0" tIns="0" rIns="0" bIns="0" rtlCol="0" anchor="t"/>
          <a:lstStyle/>
          <a:p>
            <a:pPr indent="0" marL="0">
              <a:buNone/>
            </a:pPr>
            <a:r>
              <a:rPr lang="en-US" sz="1200" dirty="0">
                <a:solidFill>
                  <a:schemeClr val="tx1"/>
                </a:solidFill>
              </a:rPr>
              <a:t>Vérifier dans le cycle normal</a:t>
            </a:r>
            <a:endParaRPr lang="en-US" sz="1200" dirty="0"/>
          </a:p>
        </p:txBody>
      </p:sp>
      <p:sp>
        <p:nvSpPr>
          <p:cNvPr id="20" name="lvl-3"/>
          <p:cNvSpPr/>
          <p:nvPr/>
        </p:nvSpPr>
        <p:spPr>
          <a:xfrm>
            <a:off x="7680960" y="4946904"/>
            <a:ext cx="3931920" cy="868680"/>
          </a:xfrm>
          <a:prstGeom prst="roundRect">
            <a:avLst>
              <a:gd name="adj" fmla="val 12632"/>
            </a:avLst>
          </a:prstGeom>
          <a:solidFill>
            <a:schemeClr val="bg2"/>
          </a:solidFill>
          <a:ln w="12700">
            <a:solidFill>
              <a:schemeClr val="bg2"/>
            </a:solidFill>
            <a:prstDash val="solid"/>
          </a:ln>
        </p:spPr>
      </p:sp>
      <p:sp>
        <p:nvSpPr>
          <p:cNvPr id="21" name="lvl-tag-3"/>
          <p:cNvSpPr/>
          <p:nvPr/>
        </p:nvSpPr>
        <p:spPr>
          <a:xfrm>
            <a:off x="7818120" y="5084064"/>
            <a:ext cx="1188720" cy="594360"/>
          </a:xfrm>
          <a:prstGeom prst="roundRect">
            <a:avLst>
              <a:gd name="adj" fmla="val 18462"/>
            </a:avLst>
          </a:prstGeom>
          <a:solidFill>
            <a:schemeClr val="accent5"/>
          </a:solidFill>
          <a:ln w="12700">
            <a:solidFill>
              <a:schemeClr val="accent5"/>
            </a:solidFill>
            <a:prstDash val="solid"/>
          </a:ln>
        </p:spPr>
      </p:sp>
      <p:sp>
        <p:nvSpPr>
          <p:cNvPr id="22" name="Text 19"/>
          <p:cNvSpPr txBox="1"/>
          <p:nvPr/>
        </p:nvSpPr>
        <p:spPr>
          <a:xfrm>
            <a:off x="7818120" y="5084064"/>
            <a:ext cx="1188720" cy="594360"/>
          </a:xfrm>
          <a:prstGeom prst="rect">
            <a:avLst/>
          </a:prstGeom>
          <a:noFill/>
          <a:ln/>
        </p:spPr>
        <p:txBody>
          <a:bodyPr wrap="square" lIns="0" tIns="0" rIns="0" bIns="0" rtlCol="0" anchor="ctr"/>
          <a:lstStyle/>
          <a:p>
            <a:pPr algn="ctr" indent="0" marL="0">
              <a:buNone/>
            </a:pPr>
            <a:r>
              <a:rPr lang="en-US" sz="1500" b="1" dirty="0">
                <a:solidFill>
                  <a:schemeClr val="bg1"/>
                </a:solidFill>
              </a:rPr>
              <a:t>0–39</a:t>
            </a:r>
            <a:endParaRPr lang="en-US" sz="1500" dirty="0"/>
          </a:p>
        </p:txBody>
      </p:sp>
      <p:sp>
        <p:nvSpPr>
          <p:cNvPr id="23" name="Text 20"/>
          <p:cNvSpPr txBox="1"/>
          <p:nvPr/>
        </p:nvSpPr>
        <p:spPr>
          <a:xfrm>
            <a:off x="9189720" y="5056632"/>
            <a:ext cx="2286000" cy="320040"/>
          </a:xfrm>
          <a:prstGeom prst="rect">
            <a:avLst/>
          </a:prstGeom>
          <a:noFill/>
          <a:ln/>
        </p:spPr>
        <p:txBody>
          <a:bodyPr wrap="square" lIns="0" tIns="0" rIns="0" bIns="0" rtlCol="0" anchor="t"/>
          <a:lstStyle/>
          <a:p>
            <a:pPr indent="0" marL="0">
              <a:buNone/>
            </a:pPr>
            <a:r>
              <a:rPr lang="en-US" sz="1500" b="1" dirty="0">
                <a:solidFill>
                  <a:schemeClr val="tx2"/>
                </a:solidFill>
              </a:rPr>
              <a:t>Faible</a:t>
            </a:r>
            <a:endParaRPr lang="en-US" sz="1500" dirty="0"/>
          </a:p>
        </p:txBody>
      </p:sp>
      <p:sp>
        <p:nvSpPr>
          <p:cNvPr id="24" name="Text 21"/>
          <p:cNvSpPr txBox="1"/>
          <p:nvPr/>
        </p:nvSpPr>
        <p:spPr>
          <a:xfrm>
            <a:off x="9189720" y="5385816"/>
            <a:ext cx="2331720" cy="320040"/>
          </a:xfrm>
          <a:prstGeom prst="rect">
            <a:avLst/>
          </a:prstGeom>
          <a:noFill/>
          <a:ln/>
        </p:spPr>
        <p:txBody>
          <a:bodyPr wrap="square" lIns="0" tIns="0" rIns="0" bIns="0" rtlCol="0" anchor="t"/>
          <a:lstStyle/>
          <a:p>
            <a:pPr indent="0" marL="0">
              <a:buNone/>
            </a:pPr>
            <a:r>
              <a:rPr lang="en-US" sz="1200" dirty="0">
                <a:solidFill>
                  <a:schemeClr val="tx1"/>
                </a:solidFill>
              </a:rPr>
              <a:t>Conserver et surveiller</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000" b="1" dirty="0">
                <a:solidFill>
                  <a:schemeClr val="tx2"/>
                </a:solidFill>
              </a:rPr>
              <a:t>Exemple : une CVE critique récente atteint le maximum</a:t>
            </a:r>
            <a:endParaRPr lang="en-US" sz="3000" dirty="0"/>
          </a:p>
        </p:txBody>
      </p:sp>
      <p:graphicFrame>
        <p:nvGraphicFramePr>
          <p:cNvPr id="9" name="calc-table"/>
          <p:cNvGraphicFramePr>
            <a:graphicFrameLocks noGrp="1"/>
          </p:cNvGraphicFramePr>
          <p:nvPr>
            <p:extLst>
              <p:ext uri="{D42A27DB-BD31-4B8C-83A1-F6EECF244321}">
                <p14:modId xmlns:p14="http://schemas.microsoft.com/office/powerpoint/2010/main" val="1579011935"/>
              </p:ext>
            </p:extLst>
          </p:nvPr>
        </p:nvGraphicFramePr>
        <p:xfrm>
          <a:off x="548640" y="1371600"/>
          <a:ext cx="5852160" cy="914400"/>
        </p:xfrm>
        <a:graphic>
          <a:graphicData uri="http://schemas.openxmlformats.org/drawingml/2006/table">
            <a:tbl>
              <a:tblPr/>
              <a:tblGrid>
                <a:gridCol w="4572000"/>
                <a:gridCol w="1280160"/>
              </a:tblGrid>
              <a:tr h="457200">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Facteur</a:t>
                      </a:r>
                      <a:endParaRPr lang="en-US" sz="1400" dirty="0">
                        <a:latin typeface="Calibri" charset="0"/>
                        <a:ea typeface="Calibri" charset="0"/>
                        <a:cs typeface="Calibri" charset="0"/>
                      </a:endParaRPr>
                    </a:p>
                  </a:txBody>
                  <a:tcPr marL="91440" marR="91440" marT="0" marB="0" anchor="ctr">
                    <a:lnL w="9525" cap="flat" cmpd="sng" algn="ctr">
                      <a:solidFill>
                        <a:srgbClr val="C8D2E0"/>
                      </a:solidFill>
                      <a:prstDash val="solid"/>
                      <a:round/>
                      <a:headEnd type="none" w="med" len="med"/>
                      <a:tailEnd type="none" w="med" len="med"/>
                    </a:lnL>
                    <a:lnR w="9525" cap="flat" cmpd="sng" algn="ctr">
                      <a:solidFill>
                        <a:srgbClr val="C8D2E0"/>
                      </a:solidFill>
                      <a:prstDash val="solid"/>
                      <a:round/>
                      <a:headEnd type="none" w="med" len="med"/>
                      <a:tailEnd type="none" w="med" len="med"/>
                    </a:lnR>
                    <a:lnT w="9525" cap="flat" cmpd="sng" algn="ctr">
                      <a:solidFill>
                        <a:srgbClr val="C8D2E0"/>
                      </a:solidFill>
                      <a:prstDash val="solid"/>
                      <a:round/>
                      <a:headEnd type="none" w="med" len="med"/>
                      <a:tailEnd type="none" w="med" len="med"/>
                    </a:lnT>
                    <a:lnB w="9525" cap="flat" cmpd="sng" algn="ctr">
                      <a:solidFill>
                        <a:srgbClr val="C8D2E0"/>
                      </a:solidFill>
                      <a:prstDash val="solid"/>
                      <a:round/>
                      <a:headEnd type="none" w="med" len="med"/>
                      <a:tailEnd type="none" w="med" len="med"/>
                    </a:lnB>
                    <a:solidFill>
                      <a:schemeClr val="tx2"/>
                    </a:solidFill>
                  </a:tcPr>
                </a:tc>
                <a:tc>
                  <a:txBody>
                    <a:bodyPr/>
                    <a:lstStyle/>
                    <a:p>
                      <a:pPr algn="r" indent="0" marL="0">
                        <a:buNone/>
                      </a:pPr>
                      <a:r>
                        <a:rPr lang="en-US" sz="1400" b="1" dirty="0">
                          <a:solidFill>
                            <a:schemeClr val="bg1"/>
                          </a:solidFill>
                          <a:latin typeface="Calibri" pitchFamily="34" charset="0"/>
                          <a:ea typeface="Calibri" pitchFamily="34" charset="-122"/>
                          <a:cs typeface="Calibri" pitchFamily="34" charset="-120"/>
                        </a:rPr>
                        <a:t>Points</a:t>
                      </a:r>
                      <a:endParaRPr lang="en-US" sz="1400" dirty="0">
                        <a:latin typeface="Calibri" charset="0"/>
                        <a:ea typeface="Calibri" charset="0"/>
                        <a:cs typeface="Calibri" charset="0"/>
                      </a:endParaRPr>
                    </a:p>
                  </a:txBody>
                  <a:tcPr marL="109728" marR="109728" marT="0" marB="0" anchor="ctr">
                    <a:lnL w="9525" cap="flat" cmpd="sng" algn="ctr">
                      <a:solidFill>
                        <a:srgbClr val="C8D2E0"/>
                      </a:solidFill>
                      <a:prstDash val="solid"/>
                      <a:round/>
                      <a:headEnd type="none" w="med" len="med"/>
                      <a:tailEnd type="none" w="med" len="med"/>
                    </a:lnL>
                    <a:lnR w="9525" cap="flat" cmpd="sng" algn="ctr">
                      <a:solidFill>
                        <a:srgbClr val="C8D2E0"/>
                      </a:solidFill>
                      <a:prstDash val="solid"/>
                      <a:round/>
                      <a:headEnd type="none" w="med" len="med"/>
                      <a:tailEnd type="none" w="med" len="med"/>
                    </a:lnR>
                    <a:lnT w="9525" cap="flat" cmpd="sng" algn="ctr">
                      <a:solidFill>
                        <a:srgbClr val="C8D2E0"/>
                      </a:solidFill>
                      <a:prstDash val="solid"/>
                      <a:round/>
                      <a:headEnd type="none" w="med" len="med"/>
                      <a:tailEnd type="none" w="med" len="med"/>
                    </a:lnT>
                    <a:lnB w="9525" cap="flat" cmpd="sng" algn="ctr">
                      <a:solidFill>
                        <a:srgbClr val="C8D2E0"/>
                      </a:solidFill>
                      <a:prstDash val="solid"/>
                      <a:round/>
                      <a:headEnd type="none" w="med" len="med"/>
                      <a:tailEnd type="none" w="med" len="med"/>
                    </a:lnB>
                    <a:solidFill>
                      <a:schemeClr val="tx2"/>
                    </a:solidFill>
                  </a:tcPr>
                </a:tc>
              </a:tr>
              <a:tr h="457200">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Sévérité critique</a:t>
                      </a:r>
                      <a:endParaRPr lang="en-US" sz="1400" dirty="0">
                        <a:latin typeface="Calibri" charset="0"/>
                        <a:ea typeface="Calibri" charset="0"/>
                        <a:cs typeface="Calibri" charset="0"/>
                      </a:endParaRPr>
                    </a:p>
                  </a:txBody>
                  <a:tcPr marL="109728" marR="109728" marT="0" marB="0" anchor="ctr">
                    <a:lnL w="9525" cap="flat" cmpd="sng" algn="ctr">
                      <a:solidFill>
                        <a:srgbClr val="C8D2E0"/>
                      </a:solidFill>
                      <a:prstDash val="solid"/>
                      <a:round/>
                      <a:headEnd type="none" w="med" len="med"/>
                      <a:tailEnd type="none" w="med" len="med"/>
                    </a:lnL>
                    <a:lnR w="9525" cap="flat" cmpd="sng" algn="ctr">
                      <a:solidFill>
                        <a:srgbClr val="C8D2E0"/>
                      </a:solidFill>
                      <a:prstDash val="solid"/>
                      <a:round/>
                      <a:headEnd type="none" w="med" len="med"/>
                      <a:tailEnd type="none" w="med" len="med"/>
                    </a:lnR>
                    <a:lnT w="9525" cap="flat" cmpd="sng" algn="ctr">
                      <a:solidFill>
                        <a:srgbClr val="C8D2E0"/>
                      </a:solidFill>
                      <a:prstDash val="solid"/>
                      <a:round/>
                      <a:headEnd type="none" w="med" len="med"/>
                      <a:tailEnd type="none" w="med" len="med"/>
                    </a:lnT>
                    <a:lnB w="9525" cap="flat" cmpd="sng" algn="ctr">
                      <a:solidFill>
                        <a:srgbClr val="C8D2E0"/>
                      </a:solidFill>
                      <a:prstDash val="solid"/>
                      <a:round/>
                      <a:headEnd type="none" w="med" len="med"/>
                      <a:tailEnd type="none" w="med" len="med"/>
                    </a:lnB>
                  </a:tcPr>
                </a:tc>
                <a:tc>
                  <a:txBody>
                    <a:bodyPr/>
                    <a:lstStyle/>
                    <a:p>
                      <a:pPr algn="r" indent="0" marL="0">
                        <a:buNone/>
                      </a:pPr>
                      <a:r>
                        <a:rPr lang="en-US" sz="1400" b="1" dirty="0">
                          <a:solidFill>
                            <a:schemeClr val="accent1"/>
                          </a:solidFill>
                          <a:latin typeface="Calibri" pitchFamily="34" charset="0"/>
                          <a:ea typeface="Calibri" pitchFamily="34" charset="-122"/>
                          <a:cs typeface="Calibri" pitchFamily="34" charset="-120"/>
                        </a:rPr>
                        <a:t>+50</a:t>
                      </a:r>
                      <a:endParaRPr lang="en-US" sz="1400" dirty="0">
                        <a:latin typeface="Calibri" charset="0"/>
                        <a:ea typeface="Calibri" charset="0"/>
                        <a:cs typeface="Calibri" charset="0"/>
                      </a:endParaRPr>
                    </a:p>
                  </a:txBody>
                  <a:tcPr marL="109728" marR="109728" marT="0" marB="0" anchor="ctr">
                    <a:lnL w="9525" cap="flat" cmpd="sng" algn="ctr">
                      <a:solidFill>
                        <a:srgbClr val="C8D2E0"/>
                      </a:solidFill>
                      <a:prstDash val="solid"/>
                      <a:round/>
                      <a:headEnd type="none" w="med" len="med"/>
                      <a:tailEnd type="none" w="med" len="med"/>
                    </a:lnL>
                    <a:lnR w="9525" cap="flat" cmpd="sng" algn="ctr">
                      <a:solidFill>
                        <a:srgbClr val="C8D2E0"/>
                      </a:solidFill>
                      <a:prstDash val="solid"/>
                      <a:round/>
                      <a:headEnd type="none" w="med" len="med"/>
                      <a:tailEnd type="none" w="med" len="med"/>
                    </a:lnR>
                    <a:lnT w="9525" cap="flat" cmpd="sng" algn="ctr">
                      <a:solidFill>
                        <a:srgbClr val="C8D2E0"/>
                      </a:solidFill>
                      <a:prstDash val="solid"/>
                      <a:round/>
                      <a:headEnd type="none" w="med" len="med"/>
                      <a:tailEnd type="none" w="med" len="med"/>
                    </a:lnT>
                    <a:lnB w="9525" cap="flat" cmpd="sng" algn="ctr">
                      <a:solidFill>
                        <a:srgbClr val="C8D2E0"/>
                      </a:solidFill>
                      <a:prstDash val="solid"/>
                      <a:round/>
                      <a:headEnd type="none" w="med" len="med"/>
                      <a:tailEnd type="none" w="med" len="med"/>
                    </a:lnB>
                  </a:tcPr>
                </a:tc>
              </a:tr>
              <a:tr h="457200">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Type CVE</a:t>
                      </a:r>
                      <a:endParaRPr lang="en-US" sz="1400" dirty="0">
                        <a:latin typeface="Calibri" charset="0"/>
                        <a:ea typeface="Calibri" charset="0"/>
                        <a:cs typeface="Calibri" charset="0"/>
                      </a:endParaRPr>
                    </a:p>
                  </a:txBody>
                  <a:tcPr marL="109728" marR="109728" marT="0" marB="0" anchor="ctr">
                    <a:lnL w="9525" cap="flat" cmpd="sng" algn="ctr">
                      <a:solidFill>
                        <a:srgbClr val="C8D2E0"/>
                      </a:solidFill>
                      <a:prstDash val="solid"/>
                      <a:round/>
                      <a:headEnd type="none" w="med" len="med"/>
                      <a:tailEnd type="none" w="med" len="med"/>
                    </a:lnL>
                    <a:lnR w="9525" cap="flat" cmpd="sng" algn="ctr">
                      <a:solidFill>
                        <a:srgbClr val="C8D2E0"/>
                      </a:solidFill>
                      <a:prstDash val="solid"/>
                      <a:round/>
                      <a:headEnd type="none" w="med" len="med"/>
                      <a:tailEnd type="none" w="med" len="med"/>
                    </a:lnR>
                    <a:lnT w="9525" cap="flat" cmpd="sng" algn="ctr">
                      <a:solidFill>
                        <a:srgbClr val="C8D2E0"/>
                      </a:solidFill>
                      <a:prstDash val="solid"/>
                      <a:round/>
                      <a:headEnd type="none" w="med" len="med"/>
                      <a:tailEnd type="none" w="med" len="med"/>
                    </a:lnT>
                    <a:lnB w="9525" cap="flat" cmpd="sng" algn="ctr">
                      <a:solidFill>
                        <a:srgbClr val="C8D2E0"/>
                      </a:solidFill>
                      <a:prstDash val="solid"/>
                      <a:round/>
                      <a:headEnd type="none" w="med" len="med"/>
                      <a:tailEnd type="none" w="med" len="med"/>
                    </a:lnB>
                  </a:tcPr>
                </a:tc>
                <a:tc>
                  <a:txBody>
                    <a:bodyPr/>
                    <a:lstStyle/>
                    <a:p>
                      <a:pPr algn="r" indent="0" marL="0">
                        <a:buNone/>
                      </a:pPr>
                      <a:r>
                        <a:rPr lang="en-US" sz="1400" b="1" dirty="0">
                          <a:solidFill>
                            <a:schemeClr val="accent1"/>
                          </a:solidFill>
                          <a:latin typeface="Calibri" pitchFamily="34" charset="0"/>
                          <a:ea typeface="Calibri" pitchFamily="34" charset="-122"/>
                          <a:cs typeface="Calibri" pitchFamily="34" charset="-120"/>
                        </a:rPr>
                        <a:t>+12</a:t>
                      </a:r>
                      <a:endParaRPr lang="en-US" sz="1400" dirty="0">
                        <a:latin typeface="Calibri" charset="0"/>
                        <a:ea typeface="Calibri" charset="0"/>
                        <a:cs typeface="Calibri" charset="0"/>
                      </a:endParaRPr>
                    </a:p>
                  </a:txBody>
                  <a:tcPr marL="109728" marR="109728" marT="0" marB="0" anchor="ctr">
                    <a:lnL w="9525" cap="flat" cmpd="sng" algn="ctr">
                      <a:solidFill>
                        <a:srgbClr val="C8D2E0"/>
                      </a:solidFill>
                      <a:prstDash val="solid"/>
                      <a:round/>
                      <a:headEnd type="none" w="med" len="med"/>
                      <a:tailEnd type="none" w="med" len="med"/>
                    </a:lnL>
                    <a:lnR w="9525" cap="flat" cmpd="sng" algn="ctr">
                      <a:solidFill>
                        <a:srgbClr val="C8D2E0"/>
                      </a:solidFill>
                      <a:prstDash val="solid"/>
                      <a:round/>
                      <a:headEnd type="none" w="med" len="med"/>
                      <a:tailEnd type="none" w="med" len="med"/>
                    </a:lnR>
                    <a:lnT w="9525" cap="flat" cmpd="sng" algn="ctr">
                      <a:solidFill>
                        <a:srgbClr val="C8D2E0"/>
                      </a:solidFill>
                      <a:prstDash val="solid"/>
                      <a:round/>
                      <a:headEnd type="none" w="med" len="med"/>
                      <a:tailEnd type="none" w="med" len="med"/>
                    </a:lnT>
                    <a:lnB w="9525" cap="flat" cmpd="sng" algn="ctr">
                      <a:solidFill>
                        <a:srgbClr val="C8D2E0"/>
                      </a:solidFill>
                      <a:prstDash val="solid"/>
                      <a:round/>
                      <a:headEnd type="none" w="med" len="med"/>
                      <a:tailEnd type="none" w="med" len="med"/>
                    </a:lnB>
                  </a:tcPr>
                </a:tc>
              </a:tr>
              <a:tr h="457200">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Menace : vulnérabilité</a:t>
                      </a:r>
                      <a:endParaRPr lang="en-US" sz="1400" dirty="0">
                        <a:latin typeface="Calibri" charset="0"/>
                        <a:ea typeface="Calibri" charset="0"/>
                        <a:cs typeface="Calibri" charset="0"/>
                      </a:endParaRPr>
                    </a:p>
                  </a:txBody>
                  <a:tcPr marL="109728" marR="109728" marT="0" marB="0" anchor="ctr">
                    <a:lnL w="9525" cap="flat" cmpd="sng" algn="ctr">
                      <a:solidFill>
                        <a:srgbClr val="C8D2E0"/>
                      </a:solidFill>
                      <a:prstDash val="solid"/>
                      <a:round/>
                      <a:headEnd type="none" w="med" len="med"/>
                      <a:tailEnd type="none" w="med" len="med"/>
                    </a:lnL>
                    <a:lnR w="9525" cap="flat" cmpd="sng" algn="ctr">
                      <a:solidFill>
                        <a:srgbClr val="C8D2E0"/>
                      </a:solidFill>
                      <a:prstDash val="solid"/>
                      <a:round/>
                      <a:headEnd type="none" w="med" len="med"/>
                      <a:tailEnd type="none" w="med" len="med"/>
                    </a:lnR>
                    <a:lnT w="9525" cap="flat" cmpd="sng" algn="ctr">
                      <a:solidFill>
                        <a:srgbClr val="C8D2E0"/>
                      </a:solidFill>
                      <a:prstDash val="solid"/>
                      <a:round/>
                      <a:headEnd type="none" w="med" len="med"/>
                      <a:tailEnd type="none" w="med" len="med"/>
                    </a:lnT>
                    <a:lnB w="9525" cap="flat" cmpd="sng" algn="ctr">
                      <a:solidFill>
                        <a:srgbClr val="C8D2E0"/>
                      </a:solidFill>
                      <a:prstDash val="solid"/>
                      <a:round/>
                      <a:headEnd type="none" w="med" len="med"/>
                      <a:tailEnd type="none" w="med" len="med"/>
                    </a:lnB>
                  </a:tcPr>
                </a:tc>
                <a:tc>
                  <a:txBody>
                    <a:bodyPr/>
                    <a:lstStyle/>
                    <a:p>
                      <a:pPr algn="r" indent="0" marL="0">
                        <a:buNone/>
                      </a:pPr>
                      <a:r>
                        <a:rPr lang="en-US" sz="1400" b="1" dirty="0">
                          <a:solidFill>
                            <a:schemeClr val="accent1"/>
                          </a:solidFill>
                          <a:latin typeface="Calibri" pitchFamily="34" charset="0"/>
                          <a:ea typeface="Calibri" pitchFamily="34" charset="-122"/>
                          <a:cs typeface="Calibri" pitchFamily="34" charset="-120"/>
                        </a:rPr>
                        <a:t>+12</a:t>
                      </a:r>
                      <a:endParaRPr lang="en-US" sz="1400" dirty="0">
                        <a:latin typeface="Calibri" charset="0"/>
                        <a:ea typeface="Calibri" charset="0"/>
                        <a:cs typeface="Calibri" charset="0"/>
                      </a:endParaRPr>
                    </a:p>
                  </a:txBody>
                  <a:tcPr marL="109728" marR="109728" marT="0" marB="0" anchor="ctr">
                    <a:lnL w="9525" cap="flat" cmpd="sng" algn="ctr">
                      <a:solidFill>
                        <a:srgbClr val="C8D2E0"/>
                      </a:solidFill>
                      <a:prstDash val="solid"/>
                      <a:round/>
                      <a:headEnd type="none" w="med" len="med"/>
                      <a:tailEnd type="none" w="med" len="med"/>
                    </a:lnL>
                    <a:lnR w="9525" cap="flat" cmpd="sng" algn="ctr">
                      <a:solidFill>
                        <a:srgbClr val="C8D2E0"/>
                      </a:solidFill>
                      <a:prstDash val="solid"/>
                      <a:round/>
                      <a:headEnd type="none" w="med" len="med"/>
                      <a:tailEnd type="none" w="med" len="med"/>
                    </a:lnR>
                    <a:lnT w="9525" cap="flat" cmpd="sng" algn="ctr">
                      <a:solidFill>
                        <a:srgbClr val="C8D2E0"/>
                      </a:solidFill>
                      <a:prstDash val="solid"/>
                      <a:round/>
                      <a:headEnd type="none" w="med" len="med"/>
                      <a:tailEnd type="none" w="med" len="med"/>
                    </a:lnT>
                    <a:lnB w="9525" cap="flat" cmpd="sng" algn="ctr">
                      <a:solidFill>
                        <a:srgbClr val="C8D2E0"/>
                      </a:solidFill>
                      <a:prstDash val="solid"/>
                      <a:round/>
                      <a:headEnd type="none" w="med" len="med"/>
                      <a:tailEnd type="none" w="med" len="med"/>
                    </a:lnB>
                  </a:tcPr>
                </a:tc>
              </a:tr>
              <a:tr h="457200">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Source NVD</a:t>
                      </a:r>
                      <a:endParaRPr lang="en-US" sz="1400" dirty="0">
                        <a:latin typeface="Calibri" charset="0"/>
                        <a:ea typeface="Calibri" charset="0"/>
                        <a:cs typeface="Calibri" charset="0"/>
                      </a:endParaRPr>
                    </a:p>
                  </a:txBody>
                  <a:tcPr marL="109728" marR="109728" marT="0" marB="0" anchor="ctr">
                    <a:lnL w="9525" cap="flat" cmpd="sng" algn="ctr">
                      <a:solidFill>
                        <a:srgbClr val="C8D2E0"/>
                      </a:solidFill>
                      <a:prstDash val="solid"/>
                      <a:round/>
                      <a:headEnd type="none" w="med" len="med"/>
                      <a:tailEnd type="none" w="med" len="med"/>
                    </a:lnL>
                    <a:lnR w="9525" cap="flat" cmpd="sng" algn="ctr">
                      <a:solidFill>
                        <a:srgbClr val="C8D2E0"/>
                      </a:solidFill>
                      <a:prstDash val="solid"/>
                      <a:round/>
                      <a:headEnd type="none" w="med" len="med"/>
                      <a:tailEnd type="none" w="med" len="med"/>
                    </a:lnR>
                    <a:lnT w="9525" cap="flat" cmpd="sng" algn="ctr">
                      <a:solidFill>
                        <a:srgbClr val="C8D2E0"/>
                      </a:solidFill>
                      <a:prstDash val="solid"/>
                      <a:round/>
                      <a:headEnd type="none" w="med" len="med"/>
                      <a:tailEnd type="none" w="med" len="med"/>
                    </a:lnT>
                    <a:lnB w="9525" cap="flat" cmpd="sng" algn="ctr">
                      <a:solidFill>
                        <a:srgbClr val="C8D2E0"/>
                      </a:solidFill>
                      <a:prstDash val="solid"/>
                      <a:round/>
                      <a:headEnd type="none" w="med" len="med"/>
                      <a:tailEnd type="none" w="med" len="med"/>
                    </a:lnB>
                  </a:tcPr>
                </a:tc>
                <a:tc>
                  <a:txBody>
                    <a:bodyPr/>
                    <a:lstStyle/>
                    <a:p>
                      <a:pPr algn="r" indent="0" marL="0">
                        <a:buNone/>
                      </a:pPr>
                      <a:r>
                        <a:rPr lang="en-US" sz="1400" b="1" dirty="0">
                          <a:solidFill>
                            <a:schemeClr val="accent1"/>
                          </a:solidFill>
                          <a:latin typeface="Calibri" pitchFamily="34" charset="0"/>
                          <a:ea typeface="Calibri" pitchFamily="34" charset="-122"/>
                          <a:cs typeface="Calibri" pitchFamily="34" charset="-120"/>
                        </a:rPr>
                        <a:t>+12</a:t>
                      </a:r>
                      <a:endParaRPr lang="en-US" sz="1400" dirty="0">
                        <a:latin typeface="Calibri" charset="0"/>
                        <a:ea typeface="Calibri" charset="0"/>
                        <a:cs typeface="Calibri" charset="0"/>
                      </a:endParaRPr>
                    </a:p>
                  </a:txBody>
                  <a:tcPr marL="109728" marR="109728" marT="0" marB="0" anchor="ctr">
                    <a:lnL w="9525" cap="flat" cmpd="sng" algn="ctr">
                      <a:solidFill>
                        <a:srgbClr val="C8D2E0"/>
                      </a:solidFill>
                      <a:prstDash val="solid"/>
                      <a:round/>
                      <a:headEnd type="none" w="med" len="med"/>
                      <a:tailEnd type="none" w="med" len="med"/>
                    </a:lnL>
                    <a:lnR w="9525" cap="flat" cmpd="sng" algn="ctr">
                      <a:solidFill>
                        <a:srgbClr val="C8D2E0"/>
                      </a:solidFill>
                      <a:prstDash val="solid"/>
                      <a:round/>
                      <a:headEnd type="none" w="med" len="med"/>
                      <a:tailEnd type="none" w="med" len="med"/>
                    </a:lnR>
                    <a:lnT w="9525" cap="flat" cmpd="sng" algn="ctr">
                      <a:solidFill>
                        <a:srgbClr val="C8D2E0"/>
                      </a:solidFill>
                      <a:prstDash val="solid"/>
                      <a:round/>
                      <a:headEnd type="none" w="med" len="med"/>
                      <a:tailEnd type="none" w="med" len="med"/>
                    </a:lnT>
                    <a:lnB w="9525" cap="flat" cmpd="sng" algn="ctr">
                      <a:solidFill>
                        <a:srgbClr val="C8D2E0"/>
                      </a:solidFill>
                      <a:prstDash val="solid"/>
                      <a:round/>
                      <a:headEnd type="none" w="med" len="med"/>
                      <a:tailEnd type="none" w="med" len="med"/>
                    </a:lnB>
                  </a:tcPr>
                </a:tc>
              </a:tr>
              <a:tr h="457200">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Bonus CVE</a:t>
                      </a:r>
                      <a:endParaRPr lang="en-US" sz="1400" dirty="0">
                        <a:latin typeface="Calibri" charset="0"/>
                        <a:ea typeface="Calibri" charset="0"/>
                        <a:cs typeface="Calibri" charset="0"/>
                      </a:endParaRPr>
                    </a:p>
                  </a:txBody>
                  <a:tcPr marL="109728" marR="109728" marT="0" marB="0" anchor="ctr">
                    <a:lnL w="9525" cap="flat" cmpd="sng" algn="ctr">
                      <a:solidFill>
                        <a:srgbClr val="C8D2E0"/>
                      </a:solidFill>
                      <a:prstDash val="solid"/>
                      <a:round/>
                      <a:headEnd type="none" w="med" len="med"/>
                      <a:tailEnd type="none" w="med" len="med"/>
                    </a:lnL>
                    <a:lnR w="9525" cap="flat" cmpd="sng" algn="ctr">
                      <a:solidFill>
                        <a:srgbClr val="C8D2E0"/>
                      </a:solidFill>
                      <a:prstDash val="solid"/>
                      <a:round/>
                      <a:headEnd type="none" w="med" len="med"/>
                      <a:tailEnd type="none" w="med" len="med"/>
                    </a:lnR>
                    <a:lnT w="9525" cap="flat" cmpd="sng" algn="ctr">
                      <a:solidFill>
                        <a:srgbClr val="C8D2E0"/>
                      </a:solidFill>
                      <a:prstDash val="solid"/>
                      <a:round/>
                      <a:headEnd type="none" w="med" len="med"/>
                      <a:tailEnd type="none" w="med" len="med"/>
                    </a:lnT>
                    <a:lnB w="9525" cap="flat" cmpd="sng" algn="ctr">
                      <a:solidFill>
                        <a:srgbClr val="C8D2E0"/>
                      </a:solidFill>
                      <a:prstDash val="solid"/>
                      <a:round/>
                      <a:headEnd type="none" w="med" len="med"/>
                      <a:tailEnd type="none" w="med" len="med"/>
                    </a:lnB>
                  </a:tcPr>
                </a:tc>
                <a:tc>
                  <a:txBody>
                    <a:bodyPr/>
                    <a:lstStyle/>
                    <a:p>
                      <a:pPr algn="r" indent="0" marL="0">
                        <a:buNone/>
                      </a:pPr>
                      <a:r>
                        <a:rPr lang="en-US" sz="1400" b="1" dirty="0">
                          <a:solidFill>
                            <a:schemeClr val="accent1"/>
                          </a:solidFill>
                          <a:latin typeface="Calibri" pitchFamily="34" charset="0"/>
                          <a:ea typeface="Calibri" pitchFamily="34" charset="-122"/>
                          <a:cs typeface="Calibri" pitchFamily="34" charset="-120"/>
                        </a:rPr>
                        <a:t>+5</a:t>
                      </a:r>
                      <a:endParaRPr lang="en-US" sz="1400" dirty="0">
                        <a:latin typeface="Calibri" charset="0"/>
                        <a:ea typeface="Calibri" charset="0"/>
                        <a:cs typeface="Calibri" charset="0"/>
                      </a:endParaRPr>
                    </a:p>
                  </a:txBody>
                  <a:tcPr marL="109728" marR="109728" marT="0" marB="0" anchor="ctr">
                    <a:lnL w="9525" cap="flat" cmpd="sng" algn="ctr">
                      <a:solidFill>
                        <a:srgbClr val="C8D2E0"/>
                      </a:solidFill>
                      <a:prstDash val="solid"/>
                      <a:round/>
                      <a:headEnd type="none" w="med" len="med"/>
                      <a:tailEnd type="none" w="med" len="med"/>
                    </a:lnL>
                    <a:lnR w="9525" cap="flat" cmpd="sng" algn="ctr">
                      <a:solidFill>
                        <a:srgbClr val="C8D2E0"/>
                      </a:solidFill>
                      <a:prstDash val="solid"/>
                      <a:round/>
                      <a:headEnd type="none" w="med" len="med"/>
                      <a:tailEnd type="none" w="med" len="med"/>
                    </a:lnR>
                    <a:lnT w="9525" cap="flat" cmpd="sng" algn="ctr">
                      <a:solidFill>
                        <a:srgbClr val="C8D2E0"/>
                      </a:solidFill>
                      <a:prstDash val="solid"/>
                      <a:round/>
                      <a:headEnd type="none" w="med" len="med"/>
                      <a:tailEnd type="none" w="med" len="med"/>
                    </a:lnT>
                    <a:lnB w="9525" cap="flat" cmpd="sng" algn="ctr">
                      <a:solidFill>
                        <a:srgbClr val="C8D2E0"/>
                      </a:solidFill>
                      <a:prstDash val="solid"/>
                      <a:round/>
                      <a:headEnd type="none" w="med" len="med"/>
                      <a:tailEnd type="none" w="med" len="med"/>
                    </a:lnB>
                  </a:tcPr>
                </a:tc>
              </a:tr>
              <a:tr h="457200">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Exploitation connue</a:t>
                      </a:r>
                      <a:endParaRPr lang="en-US" sz="1400" dirty="0">
                        <a:latin typeface="Calibri" charset="0"/>
                        <a:ea typeface="Calibri" charset="0"/>
                        <a:cs typeface="Calibri" charset="0"/>
                      </a:endParaRPr>
                    </a:p>
                  </a:txBody>
                  <a:tcPr marL="109728" marR="109728" marT="0" marB="0" anchor="ctr">
                    <a:lnL w="9525" cap="flat" cmpd="sng" algn="ctr">
                      <a:solidFill>
                        <a:srgbClr val="C8D2E0"/>
                      </a:solidFill>
                      <a:prstDash val="solid"/>
                      <a:round/>
                      <a:headEnd type="none" w="med" len="med"/>
                      <a:tailEnd type="none" w="med" len="med"/>
                    </a:lnL>
                    <a:lnR w="9525" cap="flat" cmpd="sng" algn="ctr">
                      <a:solidFill>
                        <a:srgbClr val="C8D2E0"/>
                      </a:solidFill>
                      <a:prstDash val="solid"/>
                      <a:round/>
                      <a:headEnd type="none" w="med" len="med"/>
                      <a:tailEnd type="none" w="med" len="med"/>
                    </a:lnR>
                    <a:lnT w="9525" cap="flat" cmpd="sng" algn="ctr">
                      <a:solidFill>
                        <a:srgbClr val="C8D2E0"/>
                      </a:solidFill>
                      <a:prstDash val="solid"/>
                      <a:round/>
                      <a:headEnd type="none" w="med" len="med"/>
                      <a:tailEnd type="none" w="med" len="med"/>
                    </a:lnT>
                    <a:lnB w="9525" cap="flat" cmpd="sng" algn="ctr">
                      <a:solidFill>
                        <a:srgbClr val="C8D2E0"/>
                      </a:solidFill>
                      <a:prstDash val="solid"/>
                      <a:round/>
                      <a:headEnd type="none" w="med" len="med"/>
                      <a:tailEnd type="none" w="med" len="med"/>
                    </a:lnB>
                  </a:tcPr>
                </a:tc>
                <a:tc>
                  <a:txBody>
                    <a:bodyPr/>
                    <a:lstStyle/>
                    <a:p>
                      <a:pPr algn="r" indent="0" marL="0">
                        <a:buNone/>
                      </a:pPr>
                      <a:r>
                        <a:rPr lang="en-US" sz="1400" b="1" dirty="0">
                          <a:solidFill>
                            <a:schemeClr val="accent1"/>
                          </a:solidFill>
                          <a:latin typeface="Calibri" pitchFamily="34" charset="0"/>
                          <a:ea typeface="Calibri" pitchFamily="34" charset="-122"/>
                          <a:cs typeface="Calibri" pitchFamily="34" charset="-120"/>
                        </a:rPr>
                        <a:t>+15</a:t>
                      </a:r>
                      <a:endParaRPr lang="en-US" sz="1400" dirty="0">
                        <a:latin typeface="Calibri" charset="0"/>
                        <a:ea typeface="Calibri" charset="0"/>
                        <a:cs typeface="Calibri" charset="0"/>
                      </a:endParaRPr>
                    </a:p>
                  </a:txBody>
                  <a:tcPr marL="109728" marR="109728" marT="0" marB="0" anchor="ctr">
                    <a:lnL w="9525" cap="flat" cmpd="sng" algn="ctr">
                      <a:solidFill>
                        <a:srgbClr val="C8D2E0"/>
                      </a:solidFill>
                      <a:prstDash val="solid"/>
                      <a:round/>
                      <a:headEnd type="none" w="med" len="med"/>
                      <a:tailEnd type="none" w="med" len="med"/>
                    </a:lnL>
                    <a:lnR w="9525" cap="flat" cmpd="sng" algn="ctr">
                      <a:solidFill>
                        <a:srgbClr val="C8D2E0"/>
                      </a:solidFill>
                      <a:prstDash val="solid"/>
                      <a:round/>
                      <a:headEnd type="none" w="med" len="med"/>
                      <a:tailEnd type="none" w="med" len="med"/>
                    </a:lnR>
                    <a:lnT w="9525" cap="flat" cmpd="sng" algn="ctr">
                      <a:solidFill>
                        <a:srgbClr val="C8D2E0"/>
                      </a:solidFill>
                      <a:prstDash val="solid"/>
                      <a:round/>
                      <a:headEnd type="none" w="med" len="med"/>
                      <a:tailEnd type="none" w="med" len="med"/>
                    </a:lnT>
                    <a:lnB w="9525" cap="flat" cmpd="sng" algn="ctr">
                      <a:solidFill>
                        <a:srgbClr val="C8D2E0"/>
                      </a:solidFill>
                      <a:prstDash val="solid"/>
                      <a:round/>
                      <a:headEnd type="none" w="med" len="med"/>
                      <a:tailEnd type="none" w="med" len="med"/>
                    </a:lnB>
                  </a:tcPr>
                </a:tc>
              </a:tr>
              <a:tr h="457200">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Cible les PME</a:t>
                      </a:r>
                      <a:endParaRPr lang="en-US" sz="1400" dirty="0">
                        <a:latin typeface="Calibri" charset="0"/>
                        <a:ea typeface="Calibri" charset="0"/>
                        <a:cs typeface="Calibri" charset="0"/>
                      </a:endParaRPr>
                    </a:p>
                  </a:txBody>
                  <a:tcPr marL="109728" marR="109728" marT="0" marB="0" anchor="ctr">
                    <a:lnL w="9525" cap="flat" cmpd="sng" algn="ctr">
                      <a:solidFill>
                        <a:srgbClr val="C8D2E0"/>
                      </a:solidFill>
                      <a:prstDash val="solid"/>
                      <a:round/>
                      <a:headEnd type="none" w="med" len="med"/>
                      <a:tailEnd type="none" w="med" len="med"/>
                    </a:lnL>
                    <a:lnR w="9525" cap="flat" cmpd="sng" algn="ctr">
                      <a:solidFill>
                        <a:srgbClr val="C8D2E0"/>
                      </a:solidFill>
                      <a:prstDash val="solid"/>
                      <a:round/>
                      <a:headEnd type="none" w="med" len="med"/>
                      <a:tailEnd type="none" w="med" len="med"/>
                    </a:lnR>
                    <a:lnT w="9525" cap="flat" cmpd="sng" algn="ctr">
                      <a:solidFill>
                        <a:srgbClr val="C8D2E0"/>
                      </a:solidFill>
                      <a:prstDash val="solid"/>
                      <a:round/>
                      <a:headEnd type="none" w="med" len="med"/>
                      <a:tailEnd type="none" w="med" len="med"/>
                    </a:lnT>
                    <a:lnB w="9525" cap="flat" cmpd="sng" algn="ctr">
                      <a:solidFill>
                        <a:srgbClr val="C8D2E0"/>
                      </a:solidFill>
                      <a:prstDash val="solid"/>
                      <a:round/>
                      <a:headEnd type="none" w="med" len="med"/>
                      <a:tailEnd type="none" w="med" len="med"/>
                    </a:lnB>
                  </a:tcPr>
                </a:tc>
                <a:tc>
                  <a:txBody>
                    <a:bodyPr/>
                    <a:lstStyle/>
                    <a:p>
                      <a:pPr algn="r" indent="0" marL="0">
                        <a:buNone/>
                      </a:pPr>
                      <a:r>
                        <a:rPr lang="en-US" sz="1400" b="1" dirty="0">
                          <a:solidFill>
                            <a:schemeClr val="accent1"/>
                          </a:solidFill>
                          <a:latin typeface="Calibri" pitchFamily="34" charset="0"/>
                          <a:ea typeface="Calibri" pitchFamily="34" charset="-122"/>
                          <a:cs typeface="Calibri" pitchFamily="34" charset="-120"/>
                        </a:rPr>
                        <a:t>+10</a:t>
                      </a:r>
                      <a:endParaRPr lang="en-US" sz="1400" dirty="0">
                        <a:latin typeface="Calibri" charset="0"/>
                        <a:ea typeface="Calibri" charset="0"/>
                        <a:cs typeface="Calibri" charset="0"/>
                      </a:endParaRPr>
                    </a:p>
                  </a:txBody>
                  <a:tcPr marL="109728" marR="109728" marT="0" marB="0" anchor="ctr">
                    <a:lnL w="9525" cap="flat" cmpd="sng" algn="ctr">
                      <a:solidFill>
                        <a:srgbClr val="C8D2E0"/>
                      </a:solidFill>
                      <a:prstDash val="solid"/>
                      <a:round/>
                      <a:headEnd type="none" w="med" len="med"/>
                      <a:tailEnd type="none" w="med" len="med"/>
                    </a:lnL>
                    <a:lnR w="9525" cap="flat" cmpd="sng" algn="ctr">
                      <a:solidFill>
                        <a:srgbClr val="C8D2E0"/>
                      </a:solidFill>
                      <a:prstDash val="solid"/>
                      <a:round/>
                      <a:headEnd type="none" w="med" len="med"/>
                      <a:tailEnd type="none" w="med" len="med"/>
                    </a:lnR>
                    <a:lnT w="9525" cap="flat" cmpd="sng" algn="ctr">
                      <a:solidFill>
                        <a:srgbClr val="C8D2E0"/>
                      </a:solidFill>
                      <a:prstDash val="solid"/>
                      <a:round/>
                      <a:headEnd type="none" w="med" len="med"/>
                      <a:tailEnd type="none" w="med" len="med"/>
                    </a:lnT>
                    <a:lnB w="9525" cap="flat" cmpd="sng" algn="ctr">
                      <a:solidFill>
                        <a:srgbClr val="C8D2E0"/>
                      </a:solidFill>
                      <a:prstDash val="solid"/>
                      <a:round/>
                      <a:headEnd type="none" w="med" len="med"/>
                      <a:tailEnd type="none" w="med" len="med"/>
                    </a:lnB>
                  </a:tcPr>
                </a:tc>
              </a:tr>
              <a:tr h="457200">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Publiée il y a moins de 7 jours</a:t>
                      </a:r>
                      <a:endParaRPr lang="en-US" sz="1400" dirty="0">
                        <a:latin typeface="Calibri" charset="0"/>
                        <a:ea typeface="Calibri" charset="0"/>
                        <a:cs typeface="Calibri" charset="0"/>
                      </a:endParaRPr>
                    </a:p>
                  </a:txBody>
                  <a:tcPr marL="109728" marR="109728" marT="0" marB="0" anchor="ctr">
                    <a:lnL w="9525" cap="flat" cmpd="sng" algn="ctr">
                      <a:solidFill>
                        <a:srgbClr val="C8D2E0"/>
                      </a:solidFill>
                      <a:prstDash val="solid"/>
                      <a:round/>
                      <a:headEnd type="none" w="med" len="med"/>
                      <a:tailEnd type="none" w="med" len="med"/>
                    </a:lnL>
                    <a:lnR w="9525" cap="flat" cmpd="sng" algn="ctr">
                      <a:solidFill>
                        <a:srgbClr val="C8D2E0"/>
                      </a:solidFill>
                      <a:prstDash val="solid"/>
                      <a:round/>
                      <a:headEnd type="none" w="med" len="med"/>
                      <a:tailEnd type="none" w="med" len="med"/>
                    </a:lnR>
                    <a:lnT w="9525" cap="flat" cmpd="sng" algn="ctr">
                      <a:solidFill>
                        <a:srgbClr val="C8D2E0"/>
                      </a:solidFill>
                      <a:prstDash val="solid"/>
                      <a:round/>
                      <a:headEnd type="none" w="med" len="med"/>
                      <a:tailEnd type="none" w="med" len="med"/>
                    </a:lnT>
                    <a:lnB w="9525" cap="flat" cmpd="sng" algn="ctr">
                      <a:solidFill>
                        <a:srgbClr val="C8D2E0"/>
                      </a:solidFill>
                      <a:prstDash val="solid"/>
                      <a:round/>
                      <a:headEnd type="none" w="med" len="med"/>
                      <a:tailEnd type="none" w="med" len="med"/>
                    </a:lnB>
                  </a:tcPr>
                </a:tc>
                <a:tc>
                  <a:txBody>
                    <a:bodyPr/>
                    <a:lstStyle/>
                    <a:p>
                      <a:pPr algn="r" indent="0" marL="0">
                        <a:buNone/>
                      </a:pPr>
                      <a:r>
                        <a:rPr lang="en-US" sz="1400" b="1" dirty="0">
                          <a:solidFill>
                            <a:schemeClr val="accent1"/>
                          </a:solidFill>
                          <a:latin typeface="Calibri" pitchFamily="34" charset="0"/>
                          <a:ea typeface="Calibri" pitchFamily="34" charset="-122"/>
                          <a:cs typeface="Calibri" pitchFamily="34" charset="-120"/>
                        </a:rPr>
                        <a:t>+8</a:t>
                      </a:r>
                      <a:endParaRPr lang="en-US" sz="1400" dirty="0">
                        <a:latin typeface="Calibri" charset="0"/>
                        <a:ea typeface="Calibri" charset="0"/>
                        <a:cs typeface="Calibri" charset="0"/>
                      </a:endParaRPr>
                    </a:p>
                  </a:txBody>
                  <a:tcPr marL="109728" marR="109728" marT="0" marB="0" anchor="ctr">
                    <a:lnL w="9525" cap="flat" cmpd="sng" algn="ctr">
                      <a:solidFill>
                        <a:srgbClr val="C8D2E0"/>
                      </a:solidFill>
                      <a:prstDash val="solid"/>
                      <a:round/>
                      <a:headEnd type="none" w="med" len="med"/>
                      <a:tailEnd type="none" w="med" len="med"/>
                    </a:lnL>
                    <a:lnR w="9525" cap="flat" cmpd="sng" algn="ctr">
                      <a:solidFill>
                        <a:srgbClr val="C8D2E0"/>
                      </a:solidFill>
                      <a:prstDash val="solid"/>
                      <a:round/>
                      <a:headEnd type="none" w="med" len="med"/>
                      <a:tailEnd type="none" w="med" len="med"/>
                    </a:lnR>
                    <a:lnT w="9525" cap="flat" cmpd="sng" algn="ctr">
                      <a:solidFill>
                        <a:srgbClr val="C8D2E0"/>
                      </a:solidFill>
                      <a:prstDash val="solid"/>
                      <a:round/>
                      <a:headEnd type="none" w="med" len="med"/>
                      <a:tailEnd type="none" w="med" len="med"/>
                    </a:lnT>
                    <a:lnB w="9525" cap="flat" cmpd="sng" algn="ctr">
                      <a:solidFill>
                        <a:srgbClr val="C8D2E0"/>
                      </a:solidFill>
                      <a:prstDash val="solid"/>
                      <a:round/>
                      <a:headEnd type="none" w="med" len="med"/>
                      <a:tailEnd type="none" w="med" len="med"/>
                    </a:lnB>
                  </a:tcPr>
                </a:tc>
              </a:tr>
              <a:tr h="457200">
                <a:tc>
                  <a:txBody>
                    <a:bodyPr/>
                    <a:lstStyle/>
                    <a:p>
                      <a:pPr indent="0" marL="0">
                        <a:buNone/>
                      </a:pPr>
                      <a:r>
                        <a:rPr lang="en-US" sz="1400" b="1" dirty="0">
                          <a:solidFill>
                            <a:schemeClr val="tx1"/>
                          </a:solidFill>
                          <a:latin typeface="Calibri" pitchFamily="34" charset="0"/>
                          <a:ea typeface="Calibri" pitchFamily="34" charset="-122"/>
                          <a:cs typeface="Calibri" pitchFamily="34" charset="-120"/>
                        </a:rPr>
                        <a:t>Total brut</a:t>
                      </a:r>
                      <a:endParaRPr lang="en-US" sz="1400" dirty="0">
                        <a:latin typeface="Calibri" charset="0"/>
                        <a:ea typeface="Calibri" charset="0"/>
                        <a:cs typeface="Calibri" charset="0"/>
                      </a:endParaRPr>
                    </a:p>
                  </a:txBody>
                  <a:tcPr marL="109728" marR="109728" marT="0" marB="0" anchor="ctr">
                    <a:lnL w="9525" cap="flat" cmpd="sng" algn="ctr">
                      <a:solidFill>
                        <a:srgbClr val="C8D2E0"/>
                      </a:solidFill>
                      <a:prstDash val="solid"/>
                      <a:round/>
                      <a:headEnd type="none" w="med" len="med"/>
                      <a:tailEnd type="none" w="med" len="med"/>
                    </a:lnL>
                    <a:lnR w="9525" cap="flat" cmpd="sng" algn="ctr">
                      <a:solidFill>
                        <a:srgbClr val="C8D2E0"/>
                      </a:solidFill>
                      <a:prstDash val="solid"/>
                      <a:round/>
                      <a:headEnd type="none" w="med" len="med"/>
                      <a:tailEnd type="none" w="med" len="med"/>
                    </a:lnR>
                    <a:lnT w="9525" cap="flat" cmpd="sng" algn="ctr">
                      <a:solidFill>
                        <a:srgbClr val="C8D2E0"/>
                      </a:solidFill>
                      <a:prstDash val="solid"/>
                      <a:round/>
                      <a:headEnd type="none" w="med" len="med"/>
                      <a:tailEnd type="none" w="med" len="med"/>
                    </a:lnT>
                    <a:lnB w="9525" cap="flat" cmpd="sng" algn="ctr">
                      <a:solidFill>
                        <a:srgbClr val="C8D2E0"/>
                      </a:solidFill>
                      <a:prstDash val="solid"/>
                      <a:round/>
                      <a:headEnd type="none" w="med" len="med"/>
                      <a:tailEnd type="none" w="med" len="med"/>
                    </a:lnB>
                  </a:tcPr>
                </a:tc>
                <a:tc>
                  <a:txBody>
                    <a:bodyPr/>
                    <a:lstStyle/>
                    <a:p>
                      <a:pPr algn="r" indent="0" marL="0">
                        <a:buNone/>
                      </a:pPr>
                      <a:r>
                        <a:rPr lang="en-US" sz="1400" b="1" dirty="0">
                          <a:solidFill>
                            <a:schemeClr val="tx1"/>
                          </a:solidFill>
                          <a:latin typeface="Calibri" pitchFamily="34" charset="0"/>
                          <a:ea typeface="Calibri" pitchFamily="34" charset="-122"/>
                          <a:cs typeface="Calibri" pitchFamily="34" charset="-120"/>
                        </a:rPr>
                        <a:t>124</a:t>
                      </a:r>
                      <a:endParaRPr lang="en-US" sz="1400" dirty="0">
                        <a:latin typeface="Calibri" charset="0"/>
                        <a:ea typeface="Calibri" charset="0"/>
                        <a:cs typeface="Calibri" charset="0"/>
                      </a:endParaRPr>
                    </a:p>
                  </a:txBody>
                  <a:tcPr marL="109728" marR="109728" marT="0" marB="0" anchor="ctr">
                    <a:lnL w="9525" cap="flat" cmpd="sng" algn="ctr">
                      <a:solidFill>
                        <a:srgbClr val="C8D2E0"/>
                      </a:solidFill>
                      <a:prstDash val="solid"/>
                      <a:round/>
                      <a:headEnd type="none" w="med" len="med"/>
                      <a:tailEnd type="none" w="med" len="med"/>
                    </a:lnL>
                    <a:lnR w="9525" cap="flat" cmpd="sng" algn="ctr">
                      <a:solidFill>
                        <a:srgbClr val="C8D2E0"/>
                      </a:solidFill>
                      <a:prstDash val="solid"/>
                      <a:round/>
                      <a:headEnd type="none" w="med" len="med"/>
                      <a:tailEnd type="none" w="med" len="med"/>
                    </a:lnR>
                    <a:lnT w="9525" cap="flat" cmpd="sng" algn="ctr">
                      <a:solidFill>
                        <a:srgbClr val="C8D2E0"/>
                      </a:solidFill>
                      <a:prstDash val="solid"/>
                      <a:round/>
                      <a:headEnd type="none" w="med" len="med"/>
                      <a:tailEnd type="none" w="med" len="med"/>
                    </a:lnT>
                    <a:lnB w="9525" cap="flat" cmpd="sng" algn="ctr">
                      <a:solidFill>
                        <a:srgbClr val="C8D2E0"/>
                      </a:solidFill>
                      <a:prstDash val="solid"/>
                      <a:round/>
                      <a:headEnd type="none" w="med" len="med"/>
                      <a:tailEnd type="none" w="med" len="med"/>
                    </a:lnB>
                  </a:tcPr>
                </a:tc>
              </a:tr>
            </a:tbl>
          </a:graphicData>
        </a:graphic>
      </p:graphicFrame>
      <p:sp>
        <p:nvSpPr>
          <p:cNvPr id="4" name="calc-result"/>
          <p:cNvSpPr/>
          <p:nvPr/>
        </p:nvSpPr>
        <p:spPr>
          <a:xfrm>
            <a:off x="6858000" y="1371600"/>
            <a:ext cx="4754880" cy="4572000"/>
          </a:xfrm>
          <a:prstGeom prst="roundRect">
            <a:avLst>
              <a:gd name="adj" fmla="val 2400"/>
            </a:avLst>
          </a:prstGeom>
          <a:solidFill>
            <a:schemeClr val="tx2"/>
          </a:solidFill>
          <a:ln w="12700">
            <a:solidFill>
              <a:schemeClr val="tx2"/>
            </a:solidFill>
            <a:prstDash val="solid"/>
          </a:ln>
        </p:spPr>
      </p:sp>
      <p:sp>
        <p:nvSpPr>
          <p:cNvPr id="5" name="Text 2"/>
          <p:cNvSpPr txBox="1"/>
          <p:nvPr/>
        </p:nvSpPr>
        <p:spPr>
          <a:xfrm>
            <a:off x="7132320" y="1645920"/>
            <a:ext cx="4206240" cy="365760"/>
          </a:xfrm>
          <a:prstGeom prst="rect">
            <a:avLst/>
          </a:prstGeom>
          <a:noFill/>
          <a:ln/>
        </p:spPr>
        <p:txBody>
          <a:bodyPr wrap="square" lIns="0" tIns="0" rIns="0" bIns="0" rtlCol="0" anchor="t"/>
          <a:lstStyle/>
          <a:p>
            <a:pPr indent="0" marL="0">
              <a:buNone/>
            </a:pPr>
            <a:r>
              <a:rPr lang="en-US" sz="1800" dirty="0">
                <a:solidFill>
                  <a:schemeClr val="accent6"/>
                </a:solidFill>
              </a:rPr>
              <a:t>Score final</a:t>
            </a:r>
            <a:endParaRPr lang="en-US" sz="1800" dirty="0"/>
          </a:p>
        </p:txBody>
      </p:sp>
      <p:sp>
        <p:nvSpPr>
          <p:cNvPr id="6" name="Text 3"/>
          <p:cNvSpPr txBox="1"/>
          <p:nvPr/>
        </p:nvSpPr>
        <p:spPr>
          <a:xfrm>
            <a:off x="7132320" y="2103120"/>
            <a:ext cx="4206240" cy="1005840"/>
          </a:xfrm>
          <a:prstGeom prst="rect">
            <a:avLst/>
          </a:prstGeom>
          <a:noFill/>
          <a:ln/>
        </p:spPr>
        <p:txBody>
          <a:bodyPr wrap="square" lIns="0" tIns="0" rIns="0" bIns="0" rtlCol="0" anchor="t"/>
          <a:lstStyle/>
          <a:p>
            <a:pPr indent="0" marL="0">
              <a:buNone/>
            </a:pPr>
            <a:r>
              <a:rPr lang="en-US" sz="6000" b="1" dirty="0">
                <a:solidFill>
                  <a:schemeClr val="accent4"/>
                </a:solidFill>
                <a:latin typeface="Cambria" pitchFamily="34" charset="0"/>
                <a:ea typeface="Cambria" pitchFamily="34" charset="-122"/>
                <a:cs typeface="Cambria" pitchFamily="34" charset="-120"/>
              </a:rPr>
              <a:t>100 / 100</a:t>
            </a:r>
            <a:endParaRPr lang="en-US" sz="6000" dirty="0"/>
          </a:p>
        </p:txBody>
      </p:sp>
      <p:sp>
        <p:nvSpPr>
          <p:cNvPr id="7" name="Text 4"/>
          <p:cNvSpPr txBox="1"/>
          <p:nvPr/>
        </p:nvSpPr>
        <p:spPr>
          <a:xfrm>
            <a:off x="7132320" y="3200400"/>
            <a:ext cx="4206240" cy="411480"/>
          </a:xfrm>
          <a:prstGeom prst="rect">
            <a:avLst/>
          </a:prstGeom>
          <a:noFill/>
          <a:ln/>
        </p:spPr>
        <p:txBody>
          <a:bodyPr wrap="square" lIns="0" tIns="0" rIns="0" bIns="0" rtlCol="0" anchor="t"/>
          <a:lstStyle/>
          <a:p>
            <a:pPr indent="0" marL="0">
              <a:buNone/>
            </a:pPr>
            <a:r>
              <a:rPr lang="en-US" sz="2200" b="1" dirty="0">
                <a:solidFill>
                  <a:schemeClr val="bg1"/>
                </a:solidFill>
              </a:rPr>
              <a:t>Niveau critique</a:t>
            </a:r>
            <a:endParaRPr lang="en-US" sz="2200" dirty="0"/>
          </a:p>
        </p:txBody>
      </p:sp>
      <p:sp>
        <p:nvSpPr>
          <p:cNvPr id="8" name="Text 5"/>
          <p:cNvSpPr txBox="1"/>
          <p:nvPr/>
        </p:nvSpPr>
        <p:spPr>
          <a:xfrm>
            <a:off x="7132320" y="3794760"/>
            <a:ext cx="4206240" cy="1828800"/>
          </a:xfrm>
          <a:prstGeom prst="rect">
            <a:avLst/>
          </a:prstGeom>
          <a:noFill/>
          <a:ln/>
        </p:spPr>
        <p:txBody>
          <a:bodyPr wrap="square" lIns="0" tIns="0" rIns="0" bIns="0" rtlCol="0" anchor="t"/>
          <a:lstStyle/>
          <a:p>
            <a:pPr indent="0" marL="0">
              <a:buNone/>
            </a:pPr>
            <a:r>
              <a:rPr lang="en-US" sz="1500" dirty="0">
                <a:solidFill>
                  <a:schemeClr val="bg1"/>
                </a:solidFill>
              </a:rPr>
              <a:t>124 points bruts, plafonnés à 100. Une alerte critique est créée et la fiche réflexe « Traiter une vulnérabilité critique » est associée.</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000" b="1" dirty="0">
                <a:solidFill>
                  <a:schemeClr val="tx2"/>
                </a:solidFill>
              </a:rPr>
              <a:t>Chaque menace sérieuse débouche sur une action concrète</a:t>
            </a:r>
            <a:endParaRPr lang="en-US" sz="3000" dirty="0"/>
          </a:p>
        </p:txBody>
      </p:sp>
      <p:sp>
        <p:nvSpPr>
          <p:cNvPr id="3" name="alerts"/>
          <p:cNvSpPr/>
          <p:nvPr/>
        </p:nvSpPr>
        <p:spPr>
          <a:xfrm>
            <a:off x="548640" y="1371600"/>
            <a:ext cx="5120640" cy="4663440"/>
          </a:xfrm>
          <a:prstGeom prst="roundRect">
            <a:avLst>
              <a:gd name="adj" fmla="val 2353"/>
            </a:avLst>
          </a:prstGeom>
          <a:solidFill>
            <a:schemeClr val="bg2"/>
          </a:solidFill>
          <a:ln w="12700">
            <a:solidFill>
              <a:schemeClr val="bg2"/>
            </a:solidFill>
            <a:prstDash val="solid"/>
          </a:ln>
        </p:spPr>
      </p:sp>
      <p:sp>
        <p:nvSpPr>
          <p:cNvPr id="4" name="alerts-circle"/>
          <p:cNvSpPr/>
          <p:nvPr/>
        </p:nvSpPr>
        <p:spPr>
          <a:xfrm>
            <a:off x="822960" y="1645920"/>
            <a:ext cx="685800" cy="685800"/>
          </a:xfrm>
          <a:prstGeom prst="ellipse">
            <a:avLst/>
          </a:prstGeom>
          <a:solidFill>
            <a:schemeClr val="accent2"/>
          </a:solidFill>
          <a:ln w="12700">
            <a:solidFill>
              <a:schemeClr val="accent2"/>
            </a:solidFill>
            <a:prstDash val="solid"/>
          </a:ln>
        </p:spPr>
      </p:sp>
      <p:pic>
        <p:nvPicPr>
          <p:cNvPr id="5" name="alerts-icon" descr="preencoded.png">    </p:cNvPr>
          <p:cNvPicPr>
            <a:picLocks noChangeAspect="1"/>
          </p:cNvPicPr>
          <p:nvPr/>
        </p:nvPicPr>
        <p:blipFill>
          <a:blip r:embed="rId1"/>
          <a:stretch>
            <a:fillRect/>
          </a:stretch>
        </p:blipFill>
        <p:spPr>
          <a:xfrm>
            <a:off x="994410" y="1817370"/>
            <a:ext cx="342900" cy="342900"/>
          </a:xfrm>
          <a:prstGeom prst="rect">
            <a:avLst/>
          </a:prstGeom>
        </p:spPr>
      </p:pic>
      <p:sp>
        <p:nvSpPr>
          <p:cNvPr id="6" name="Text 3"/>
          <p:cNvSpPr txBox="1"/>
          <p:nvPr/>
        </p:nvSpPr>
        <p:spPr>
          <a:xfrm>
            <a:off x="1691640" y="1691640"/>
            <a:ext cx="3657600" cy="548640"/>
          </a:xfrm>
          <a:prstGeom prst="rect">
            <a:avLst/>
          </a:prstGeom>
          <a:noFill/>
          <a:ln/>
        </p:spPr>
        <p:txBody>
          <a:bodyPr wrap="square" lIns="0" tIns="0" rIns="0" bIns="0" rtlCol="0" anchor="ctr"/>
          <a:lstStyle/>
          <a:p>
            <a:pPr indent="0" marL="0">
              <a:buNone/>
            </a:pPr>
            <a:r>
              <a:rPr lang="en-US" sz="2200" b="1" dirty="0">
                <a:solidFill>
                  <a:schemeClr val="tx2"/>
                </a:solidFill>
              </a:rPr>
              <a:t>Alertes</a:t>
            </a:r>
            <a:endParaRPr lang="en-US" sz="2200" dirty="0"/>
          </a:p>
        </p:txBody>
      </p:sp>
      <p:sp>
        <p:nvSpPr>
          <p:cNvPr id="7" name="Text 4"/>
          <p:cNvSpPr txBox="1"/>
          <p:nvPr/>
        </p:nvSpPr>
        <p:spPr>
          <a:xfrm>
            <a:off x="822960" y="2560320"/>
            <a:ext cx="4572000" cy="329184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tx1"/>
                </a:solidFill>
              </a:rPr>
              <a:t>Score ≥ 70 : alerte « élevée » persistée en base</a:t>
            </a:r>
            <a:endParaRPr lang="en-US" sz="1500" dirty="0"/>
          </a:p>
          <a:p>
            <a:pPr marL="342900" indent="-342900">
              <a:spcAft>
                <a:spcPts val="1000"/>
              </a:spcAft>
              <a:buSzPct val="100000"/>
              <a:buChar char="•"/>
            </a:pPr>
            <a:r>
              <a:rPr lang="en-US" sz="1500" dirty="0">
                <a:solidFill>
                  <a:schemeClr val="tx1"/>
                </a:solidFill>
              </a:rPr>
              <a:t>Score ≥ 90 : alerte « critique »</a:t>
            </a:r>
            <a:endParaRPr lang="en-US" sz="1500" dirty="0"/>
          </a:p>
          <a:p>
            <a:pPr marL="342900" indent="-342900">
              <a:spcAft>
                <a:spcPts val="1000"/>
              </a:spcAft>
              <a:buSzPct val="100000"/>
              <a:buChar char="•"/>
            </a:pPr>
            <a:r>
              <a:rPr lang="en-US" sz="1500" dirty="0">
                <a:solidFill>
                  <a:schemeClr val="tx1"/>
                </a:solidFill>
              </a:rPr>
              <a:t>Une seule alerte par menace, même après plusieurs collectes</a:t>
            </a:r>
            <a:endParaRPr lang="en-US" sz="1500" dirty="0"/>
          </a:p>
          <a:p>
            <a:pPr marL="342900" indent="-342900">
              <a:spcAft>
                <a:spcPts val="1000"/>
              </a:spcAft>
              <a:buSzPct val="100000"/>
              <a:buChar char="•"/>
            </a:pPr>
            <a:r>
              <a:rPr lang="en-US" sz="1500" dirty="0">
                <a:solidFill>
                  <a:schemeClr val="tx1"/>
                </a:solidFill>
              </a:rPr>
              <a:t>Acquittement par un analyste ou un administrateur</a:t>
            </a:r>
            <a:endParaRPr lang="en-US" sz="1500" dirty="0"/>
          </a:p>
          <a:p>
            <a:pPr marL="342900" indent="-342900">
              <a:spcAft>
                <a:spcPts val="1000"/>
              </a:spcAft>
              <a:buSzPct val="100000"/>
              <a:buChar char="•"/>
            </a:pPr>
            <a:r>
              <a:rPr lang="en-US" sz="1500" dirty="0">
                <a:solidFill>
                  <a:schemeClr val="tx1"/>
                </a:solidFill>
              </a:rPr>
              <a:t>Centre d'alertes dans le dashboard, alerte de test pour la démonstration</a:t>
            </a:r>
            <a:endParaRPr lang="en-US" sz="1500" dirty="0"/>
          </a:p>
        </p:txBody>
      </p:sp>
      <p:sp>
        <p:nvSpPr>
          <p:cNvPr id="8" name="Text 5"/>
          <p:cNvSpPr txBox="1"/>
          <p:nvPr/>
        </p:nvSpPr>
        <p:spPr>
          <a:xfrm>
            <a:off x="6035040" y="1371600"/>
            <a:ext cx="5486400" cy="411480"/>
          </a:xfrm>
          <a:prstGeom prst="rect">
            <a:avLst/>
          </a:prstGeom>
          <a:noFill/>
          <a:ln/>
        </p:spPr>
        <p:txBody>
          <a:bodyPr wrap="square" lIns="0" tIns="0" rIns="0" bIns="0" rtlCol="0" anchor="t"/>
          <a:lstStyle/>
          <a:p>
            <a:pPr indent="0" marL="0">
              <a:buNone/>
            </a:pPr>
            <a:r>
              <a:rPr lang="en-US" sz="2000" b="1" dirty="0">
                <a:solidFill>
                  <a:schemeClr val="tx2"/>
                </a:solidFill>
              </a:rPr>
              <a:t>7 fiches réflexes</a:t>
            </a:r>
            <a:endParaRPr lang="en-US" sz="2000" dirty="0"/>
          </a:p>
        </p:txBody>
      </p:sp>
      <p:sp>
        <p:nvSpPr>
          <p:cNvPr id="9" name="sheet-0"/>
          <p:cNvSpPr/>
          <p:nvPr/>
        </p:nvSpPr>
        <p:spPr>
          <a:xfrm>
            <a:off x="6035040" y="1920240"/>
            <a:ext cx="2697480" cy="640080"/>
          </a:xfrm>
          <a:prstGeom prst="roundRect">
            <a:avLst>
              <a:gd name="adj" fmla="val 17143"/>
            </a:avLst>
          </a:prstGeom>
          <a:solidFill>
            <a:schemeClr val="tx2"/>
          </a:solidFill>
          <a:ln w="12700">
            <a:solidFill>
              <a:schemeClr val="tx2"/>
            </a:solidFill>
            <a:prstDash val="solid"/>
          </a:ln>
        </p:spPr>
      </p:sp>
      <p:sp>
        <p:nvSpPr>
          <p:cNvPr id="10" name="Text 7"/>
          <p:cNvSpPr txBox="1"/>
          <p:nvPr/>
        </p:nvSpPr>
        <p:spPr>
          <a:xfrm>
            <a:off x="6172200" y="1920240"/>
            <a:ext cx="2423160" cy="640080"/>
          </a:xfrm>
          <a:prstGeom prst="rect">
            <a:avLst/>
          </a:prstGeom>
          <a:noFill/>
          <a:ln/>
        </p:spPr>
        <p:txBody>
          <a:bodyPr wrap="square" lIns="0" tIns="0" rIns="0" bIns="0" rtlCol="0" anchor="ctr"/>
          <a:lstStyle/>
          <a:p>
            <a:pPr indent="0" marL="0">
              <a:buNone/>
            </a:pPr>
            <a:r>
              <a:rPr lang="en-US" sz="1400" b="1" dirty="0">
                <a:solidFill>
                  <a:schemeClr val="bg1"/>
                </a:solidFill>
              </a:rPr>
              <a:t>Campagne de phishing</a:t>
            </a:r>
            <a:endParaRPr lang="en-US" sz="1400" dirty="0"/>
          </a:p>
        </p:txBody>
      </p:sp>
      <p:sp>
        <p:nvSpPr>
          <p:cNvPr id="11" name="sheet-1"/>
          <p:cNvSpPr/>
          <p:nvPr/>
        </p:nvSpPr>
        <p:spPr>
          <a:xfrm>
            <a:off x="8869680" y="1920240"/>
            <a:ext cx="2697480" cy="640080"/>
          </a:xfrm>
          <a:prstGeom prst="roundRect">
            <a:avLst>
              <a:gd name="adj" fmla="val 17143"/>
            </a:avLst>
          </a:prstGeom>
          <a:solidFill>
            <a:schemeClr val="tx2"/>
          </a:solidFill>
          <a:ln w="12700">
            <a:solidFill>
              <a:schemeClr val="tx2"/>
            </a:solidFill>
            <a:prstDash val="solid"/>
          </a:ln>
        </p:spPr>
      </p:sp>
      <p:sp>
        <p:nvSpPr>
          <p:cNvPr id="12" name="Text 9"/>
          <p:cNvSpPr txBox="1"/>
          <p:nvPr/>
        </p:nvSpPr>
        <p:spPr>
          <a:xfrm>
            <a:off x="9006840" y="1920240"/>
            <a:ext cx="2423160" cy="640080"/>
          </a:xfrm>
          <a:prstGeom prst="rect">
            <a:avLst/>
          </a:prstGeom>
          <a:noFill/>
          <a:ln/>
        </p:spPr>
        <p:txBody>
          <a:bodyPr wrap="square" lIns="0" tIns="0" rIns="0" bIns="0" rtlCol="0" anchor="ctr"/>
          <a:lstStyle/>
          <a:p>
            <a:pPr indent="0" marL="0">
              <a:buNone/>
            </a:pPr>
            <a:r>
              <a:rPr lang="en-US" sz="1400" b="1" dirty="0">
                <a:solidFill>
                  <a:schemeClr val="bg1"/>
                </a:solidFill>
              </a:rPr>
              <a:t>Infection par malware</a:t>
            </a:r>
            <a:endParaRPr lang="en-US" sz="1400" dirty="0"/>
          </a:p>
        </p:txBody>
      </p:sp>
      <p:sp>
        <p:nvSpPr>
          <p:cNvPr id="13" name="sheet-2"/>
          <p:cNvSpPr/>
          <p:nvPr/>
        </p:nvSpPr>
        <p:spPr>
          <a:xfrm>
            <a:off x="6035040" y="2697480"/>
            <a:ext cx="2697480" cy="640080"/>
          </a:xfrm>
          <a:prstGeom prst="roundRect">
            <a:avLst>
              <a:gd name="adj" fmla="val 17143"/>
            </a:avLst>
          </a:prstGeom>
          <a:solidFill>
            <a:schemeClr val="accent4"/>
          </a:solidFill>
          <a:ln w="12700">
            <a:solidFill>
              <a:schemeClr val="accent4"/>
            </a:solidFill>
            <a:prstDash val="solid"/>
          </a:ln>
        </p:spPr>
      </p:sp>
      <p:sp>
        <p:nvSpPr>
          <p:cNvPr id="14" name="Text 11"/>
          <p:cNvSpPr txBox="1"/>
          <p:nvPr/>
        </p:nvSpPr>
        <p:spPr>
          <a:xfrm>
            <a:off x="6172200" y="2697480"/>
            <a:ext cx="2423160" cy="640080"/>
          </a:xfrm>
          <a:prstGeom prst="rect">
            <a:avLst/>
          </a:prstGeom>
          <a:noFill/>
          <a:ln/>
        </p:spPr>
        <p:txBody>
          <a:bodyPr wrap="square" lIns="0" tIns="0" rIns="0" bIns="0" rtlCol="0" anchor="ctr"/>
          <a:lstStyle/>
          <a:p>
            <a:pPr indent="0" marL="0">
              <a:buNone/>
            </a:pPr>
            <a:r>
              <a:rPr lang="en-US" sz="1400" b="1" dirty="0">
                <a:solidFill>
                  <a:schemeClr val="bg1"/>
                </a:solidFill>
              </a:rPr>
              <a:t>Ransomware</a:t>
            </a:r>
            <a:endParaRPr lang="en-US" sz="1400" dirty="0"/>
          </a:p>
        </p:txBody>
      </p:sp>
      <p:sp>
        <p:nvSpPr>
          <p:cNvPr id="15" name="sheet-3"/>
          <p:cNvSpPr/>
          <p:nvPr/>
        </p:nvSpPr>
        <p:spPr>
          <a:xfrm>
            <a:off x="8869680" y="2697480"/>
            <a:ext cx="2697480" cy="640080"/>
          </a:xfrm>
          <a:prstGeom prst="roundRect">
            <a:avLst>
              <a:gd name="adj" fmla="val 17143"/>
            </a:avLst>
          </a:prstGeom>
          <a:solidFill>
            <a:schemeClr val="tx2"/>
          </a:solidFill>
          <a:ln w="12700">
            <a:solidFill>
              <a:schemeClr val="tx2"/>
            </a:solidFill>
            <a:prstDash val="solid"/>
          </a:ln>
        </p:spPr>
      </p:sp>
      <p:sp>
        <p:nvSpPr>
          <p:cNvPr id="16" name="Text 13"/>
          <p:cNvSpPr txBox="1"/>
          <p:nvPr/>
        </p:nvSpPr>
        <p:spPr>
          <a:xfrm>
            <a:off x="9006840" y="2697480"/>
            <a:ext cx="2423160" cy="640080"/>
          </a:xfrm>
          <a:prstGeom prst="rect">
            <a:avLst/>
          </a:prstGeom>
          <a:noFill/>
          <a:ln/>
        </p:spPr>
        <p:txBody>
          <a:bodyPr wrap="square" lIns="0" tIns="0" rIns="0" bIns="0" rtlCol="0" anchor="ctr"/>
          <a:lstStyle/>
          <a:p>
            <a:pPr indent="0" marL="0">
              <a:buNone/>
            </a:pPr>
            <a:r>
              <a:rPr lang="en-US" sz="1400" b="1" dirty="0">
                <a:solidFill>
                  <a:schemeClr val="bg1"/>
                </a:solidFill>
              </a:rPr>
              <a:t>Attaque par force brute</a:t>
            </a:r>
            <a:endParaRPr lang="en-US" sz="1400" dirty="0"/>
          </a:p>
        </p:txBody>
      </p:sp>
      <p:sp>
        <p:nvSpPr>
          <p:cNvPr id="17" name="sheet-4"/>
          <p:cNvSpPr/>
          <p:nvPr/>
        </p:nvSpPr>
        <p:spPr>
          <a:xfrm>
            <a:off x="6035040" y="3474720"/>
            <a:ext cx="2697480" cy="640080"/>
          </a:xfrm>
          <a:prstGeom prst="roundRect">
            <a:avLst>
              <a:gd name="adj" fmla="val 17143"/>
            </a:avLst>
          </a:prstGeom>
          <a:solidFill>
            <a:schemeClr val="tx2"/>
          </a:solidFill>
          <a:ln w="12700">
            <a:solidFill>
              <a:schemeClr val="tx2"/>
            </a:solidFill>
            <a:prstDash val="solid"/>
          </a:ln>
        </p:spPr>
      </p:sp>
      <p:sp>
        <p:nvSpPr>
          <p:cNvPr id="18" name="Text 15"/>
          <p:cNvSpPr txBox="1"/>
          <p:nvPr/>
        </p:nvSpPr>
        <p:spPr>
          <a:xfrm>
            <a:off x="6172200" y="3474720"/>
            <a:ext cx="2423160" cy="640080"/>
          </a:xfrm>
          <a:prstGeom prst="rect">
            <a:avLst/>
          </a:prstGeom>
          <a:noFill/>
          <a:ln/>
        </p:spPr>
        <p:txBody>
          <a:bodyPr wrap="square" lIns="0" tIns="0" rIns="0" bIns="0" rtlCol="0" anchor="ctr"/>
          <a:lstStyle/>
          <a:p>
            <a:pPr indent="0" marL="0">
              <a:buNone/>
            </a:pPr>
            <a:r>
              <a:rPr lang="en-US" sz="1400" b="1" dirty="0">
                <a:solidFill>
                  <a:schemeClr val="bg1"/>
                </a:solidFill>
              </a:rPr>
              <a:t>Vulnérabilité critique</a:t>
            </a:r>
            <a:endParaRPr lang="en-US" sz="1400" dirty="0"/>
          </a:p>
        </p:txBody>
      </p:sp>
      <p:sp>
        <p:nvSpPr>
          <p:cNvPr id="19" name="sheet-5"/>
          <p:cNvSpPr/>
          <p:nvPr/>
        </p:nvSpPr>
        <p:spPr>
          <a:xfrm>
            <a:off x="8869680" y="3474720"/>
            <a:ext cx="2697480" cy="640080"/>
          </a:xfrm>
          <a:prstGeom prst="roundRect">
            <a:avLst>
              <a:gd name="adj" fmla="val 17143"/>
            </a:avLst>
          </a:prstGeom>
          <a:solidFill>
            <a:schemeClr val="tx2"/>
          </a:solidFill>
          <a:ln w="12700">
            <a:solidFill>
              <a:schemeClr val="tx2"/>
            </a:solidFill>
            <a:prstDash val="solid"/>
          </a:ln>
        </p:spPr>
      </p:sp>
      <p:sp>
        <p:nvSpPr>
          <p:cNvPr id="20" name="Text 17"/>
          <p:cNvSpPr txBox="1"/>
          <p:nvPr/>
        </p:nvSpPr>
        <p:spPr>
          <a:xfrm>
            <a:off x="9006840" y="3474720"/>
            <a:ext cx="2423160" cy="640080"/>
          </a:xfrm>
          <a:prstGeom prst="rect">
            <a:avLst/>
          </a:prstGeom>
          <a:noFill/>
          <a:ln/>
        </p:spPr>
        <p:txBody>
          <a:bodyPr wrap="square" lIns="0" tIns="0" rIns="0" bIns="0" rtlCol="0" anchor="ctr"/>
          <a:lstStyle/>
          <a:p>
            <a:pPr indent="0" marL="0">
              <a:buNone/>
            </a:pPr>
            <a:r>
              <a:rPr lang="en-US" sz="1400" b="1" dirty="0">
                <a:solidFill>
                  <a:schemeClr val="bg1"/>
                </a:solidFill>
              </a:rPr>
              <a:t>Adresse IP suspecte</a:t>
            </a:r>
            <a:endParaRPr lang="en-US" sz="1400" dirty="0"/>
          </a:p>
        </p:txBody>
      </p:sp>
      <p:sp>
        <p:nvSpPr>
          <p:cNvPr id="21" name="sheet-6"/>
          <p:cNvSpPr/>
          <p:nvPr/>
        </p:nvSpPr>
        <p:spPr>
          <a:xfrm>
            <a:off x="6035040" y="4251960"/>
            <a:ext cx="2697480" cy="640080"/>
          </a:xfrm>
          <a:prstGeom prst="roundRect">
            <a:avLst>
              <a:gd name="adj" fmla="val 17143"/>
            </a:avLst>
          </a:prstGeom>
          <a:solidFill>
            <a:schemeClr val="tx2"/>
          </a:solidFill>
          <a:ln w="12700">
            <a:solidFill>
              <a:schemeClr val="tx2"/>
            </a:solidFill>
            <a:prstDash val="solid"/>
          </a:ln>
        </p:spPr>
      </p:sp>
      <p:sp>
        <p:nvSpPr>
          <p:cNvPr id="22" name="Text 19"/>
          <p:cNvSpPr txBox="1"/>
          <p:nvPr/>
        </p:nvSpPr>
        <p:spPr>
          <a:xfrm>
            <a:off x="6172200" y="4251960"/>
            <a:ext cx="2423160" cy="640080"/>
          </a:xfrm>
          <a:prstGeom prst="rect">
            <a:avLst/>
          </a:prstGeom>
          <a:noFill/>
          <a:ln/>
        </p:spPr>
        <p:txBody>
          <a:bodyPr wrap="square" lIns="0" tIns="0" rIns="0" bIns="0" rtlCol="0" anchor="ctr"/>
          <a:lstStyle/>
          <a:p>
            <a:pPr indent="0" marL="0">
              <a:buNone/>
            </a:pPr>
            <a:r>
              <a:rPr lang="en-US" sz="1400" b="1" dirty="0">
                <a:solidFill>
                  <a:schemeClr val="bg1"/>
                </a:solidFill>
              </a:rPr>
              <a:t>Menace non classifiée</a:t>
            </a:r>
            <a:endParaRPr lang="en-US" sz="1400" dirty="0"/>
          </a:p>
        </p:txBody>
      </p:sp>
      <p:sp>
        <p:nvSpPr>
          <p:cNvPr id="23" name="Text 20"/>
          <p:cNvSpPr txBox="1"/>
          <p:nvPr/>
        </p:nvSpPr>
        <p:spPr>
          <a:xfrm>
            <a:off x="6035040" y="5120640"/>
            <a:ext cx="5577840" cy="868680"/>
          </a:xfrm>
          <a:prstGeom prst="rect">
            <a:avLst/>
          </a:prstGeom>
          <a:noFill/>
          <a:ln/>
        </p:spPr>
        <p:txBody>
          <a:bodyPr wrap="square" lIns="0" tIns="0" rIns="0" bIns="0" rtlCol="0" anchor="t"/>
          <a:lstStyle/>
          <a:p>
            <a:pPr indent="0" marL="0">
              <a:buNone/>
            </a:pPr>
            <a:r>
              <a:rPr lang="en-US" sz="1300" b="1" dirty="0">
                <a:solidFill>
                  <a:schemeClr val="tx2"/>
                </a:solidFill>
              </a:rPr>
              <a:t>Exemple (phishing) : </a:t>
            </a:r>
            <a:pPr indent="0" marL="0">
              <a:buNone/>
            </a:pPr>
            <a:r>
              <a:rPr lang="en-US" sz="1300" dirty="0">
                <a:solidFill>
                  <a:schemeClr val="tx1"/>
                </a:solidFill>
              </a:rPr>
              <a:t>bloquer le domaine, alerter les collaborateurs, vérifier les journaux mail, réinitialiser les identifiants, activer la MFA.</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000" b="1" dirty="0">
                <a:solidFill>
                  <a:schemeClr val="tx2"/>
                </a:solidFill>
              </a:rPr>
              <a:t>Une plateforme de sécurité doit être sécurisée elle-même</a:t>
            </a:r>
            <a:endParaRPr lang="en-US" sz="3000" dirty="0"/>
          </a:p>
        </p:txBody>
      </p:sp>
      <p:sp>
        <p:nvSpPr>
          <p:cNvPr id="3" name="sec-0"/>
          <p:cNvSpPr/>
          <p:nvPr/>
        </p:nvSpPr>
        <p:spPr>
          <a:xfrm>
            <a:off x="548640" y="1371600"/>
            <a:ext cx="3520440" cy="2194560"/>
          </a:xfrm>
          <a:prstGeom prst="roundRect">
            <a:avLst>
              <a:gd name="adj" fmla="val 5000"/>
            </a:avLst>
          </a:prstGeom>
          <a:solidFill>
            <a:schemeClr val="bg2"/>
          </a:solidFill>
          <a:ln w="12700">
            <a:solidFill>
              <a:schemeClr val="bg2"/>
            </a:solidFill>
            <a:prstDash val="solid"/>
          </a:ln>
        </p:spPr>
      </p:sp>
      <p:sp>
        <p:nvSpPr>
          <p:cNvPr id="4" name="sec-0-circle"/>
          <p:cNvSpPr/>
          <p:nvPr/>
        </p:nvSpPr>
        <p:spPr>
          <a:xfrm>
            <a:off x="777240" y="1600200"/>
            <a:ext cx="594360" cy="594360"/>
          </a:xfrm>
          <a:prstGeom prst="ellipse">
            <a:avLst/>
          </a:prstGeom>
          <a:solidFill>
            <a:schemeClr val="accent1"/>
          </a:solidFill>
          <a:ln w="12700">
            <a:solidFill>
              <a:schemeClr val="accent1"/>
            </a:solidFill>
            <a:prstDash val="solid"/>
          </a:ln>
        </p:spPr>
      </p:sp>
      <p:pic>
        <p:nvPicPr>
          <p:cNvPr id="5" name="sec-0-icon" descr="preencoded.png">    </p:cNvPr>
          <p:cNvPicPr>
            <a:picLocks noChangeAspect="1"/>
          </p:cNvPicPr>
          <p:nvPr/>
        </p:nvPicPr>
        <p:blipFill>
          <a:blip r:embed="rId1"/>
          <a:stretch>
            <a:fillRect/>
          </a:stretch>
        </p:blipFill>
        <p:spPr>
          <a:xfrm>
            <a:off x="925830" y="1748790"/>
            <a:ext cx="297180" cy="297180"/>
          </a:xfrm>
          <a:prstGeom prst="rect">
            <a:avLst/>
          </a:prstGeom>
        </p:spPr>
      </p:pic>
      <p:sp>
        <p:nvSpPr>
          <p:cNvPr id="6" name="Text 3"/>
          <p:cNvSpPr txBox="1"/>
          <p:nvPr/>
        </p:nvSpPr>
        <p:spPr>
          <a:xfrm>
            <a:off x="1508760" y="1600200"/>
            <a:ext cx="2423160" cy="594360"/>
          </a:xfrm>
          <a:prstGeom prst="rect">
            <a:avLst/>
          </a:prstGeom>
          <a:noFill/>
          <a:ln/>
        </p:spPr>
        <p:txBody>
          <a:bodyPr wrap="square" lIns="0" tIns="0" rIns="0" bIns="0" rtlCol="0" anchor="ctr"/>
          <a:lstStyle/>
          <a:p>
            <a:pPr indent="0" marL="0">
              <a:buNone/>
            </a:pPr>
            <a:r>
              <a:rPr lang="en-US" sz="1700" b="1" dirty="0">
                <a:solidFill>
                  <a:schemeClr val="tx2"/>
                </a:solidFill>
              </a:rPr>
              <a:t>Authentification</a:t>
            </a:r>
            <a:endParaRPr lang="en-US" sz="1700" dirty="0"/>
          </a:p>
        </p:txBody>
      </p:sp>
      <p:sp>
        <p:nvSpPr>
          <p:cNvPr id="7" name="Text 4"/>
          <p:cNvSpPr txBox="1"/>
          <p:nvPr/>
        </p:nvSpPr>
        <p:spPr>
          <a:xfrm>
            <a:off x="777240" y="2377440"/>
            <a:ext cx="3108960" cy="1097280"/>
          </a:xfrm>
          <a:prstGeom prst="rect">
            <a:avLst/>
          </a:prstGeom>
          <a:noFill/>
          <a:ln/>
        </p:spPr>
        <p:txBody>
          <a:bodyPr wrap="square" lIns="0" tIns="0" rIns="0" bIns="0" rtlCol="0" anchor="t"/>
          <a:lstStyle/>
          <a:p>
            <a:pPr indent="0" marL="0">
              <a:buNone/>
            </a:pPr>
            <a:r>
              <a:rPr lang="en-US" sz="1400" dirty="0">
                <a:solidFill>
                  <a:schemeClr val="tx1"/>
                </a:solidFill>
              </a:rPr>
              <a:t>JWT signé, mots de passe hachés avec bcrypt, comptes désactivables.</a:t>
            </a:r>
            <a:endParaRPr lang="en-US" sz="1400" dirty="0"/>
          </a:p>
        </p:txBody>
      </p:sp>
      <p:sp>
        <p:nvSpPr>
          <p:cNvPr id="8" name="sec-1"/>
          <p:cNvSpPr/>
          <p:nvPr/>
        </p:nvSpPr>
        <p:spPr>
          <a:xfrm>
            <a:off x="4297680" y="1371600"/>
            <a:ext cx="3520440" cy="2194560"/>
          </a:xfrm>
          <a:prstGeom prst="roundRect">
            <a:avLst>
              <a:gd name="adj" fmla="val 5000"/>
            </a:avLst>
          </a:prstGeom>
          <a:solidFill>
            <a:schemeClr val="bg2"/>
          </a:solidFill>
          <a:ln w="12700">
            <a:solidFill>
              <a:schemeClr val="bg2"/>
            </a:solidFill>
            <a:prstDash val="solid"/>
          </a:ln>
        </p:spPr>
      </p:sp>
      <p:sp>
        <p:nvSpPr>
          <p:cNvPr id="9" name="sec-1-circle"/>
          <p:cNvSpPr/>
          <p:nvPr/>
        </p:nvSpPr>
        <p:spPr>
          <a:xfrm>
            <a:off x="4526280" y="1600200"/>
            <a:ext cx="594360" cy="594360"/>
          </a:xfrm>
          <a:prstGeom prst="ellipse">
            <a:avLst/>
          </a:prstGeom>
          <a:solidFill>
            <a:schemeClr val="accent1"/>
          </a:solidFill>
          <a:ln w="12700">
            <a:solidFill>
              <a:schemeClr val="accent1"/>
            </a:solidFill>
            <a:prstDash val="solid"/>
          </a:ln>
        </p:spPr>
      </p:sp>
      <p:pic>
        <p:nvPicPr>
          <p:cNvPr id="10" name="sec-1-icon" descr="preencoded.png">    </p:cNvPr>
          <p:cNvPicPr>
            <a:picLocks noChangeAspect="1"/>
          </p:cNvPicPr>
          <p:nvPr/>
        </p:nvPicPr>
        <p:blipFill>
          <a:blip r:embed="rId2"/>
          <a:stretch>
            <a:fillRect/>
          </a:stretch>
        </p:blipFill>
        <p:spPr>
          <a:xfrm>
            <a:off x="4674870" y="1748790"/>
            <a:ext cx="297180" cy="297180"/>
          </a:xfrm>
          <a:prstGeom prst="rect">
            <a:avLst/>
          </a:prstGeom>
        </p:spPr>
      </p:pic>
      <p:sp>
        <p:nvSpPr>
          <p:cNvPr id="11" name="Text 7"/>
          <p:cNvSpPr txBox="1"/>
          <p:nvPr/>
        </p:nvSpPr>
        <p:spPr>
          <a:xfrm>
            <a:off x="5257800" y="1600200"/>
            <a:ext cx="2423160" cy="594360"/>
          </a:xfrm>
          <a:prstGeom prst="rect">
            <a:avLst/>
          </a:prstGeom>
          <a:noFill/>
          <a:ln/>
        </p:spPr>
        <p:txBody>
          <a:bodyPr wrap="square" lIns="0" tIns="0" rIns="0" bIns="0" rtlCol="0" anchor="ctr"/>
          <a:lstStyle/>
          <a:p>
            <a:pPr indent="0" marL="0">
              <a:buNone/>
            </a:pPr>
            <a:r>
              <a:rPr lang="en-US" sz="1700" b="1" dirty="0">
                <a:solidFill>
                  <a:schemeClr val="tx2"/>
                </a:solidFill>
              </a:rPr>
              <a:t>3 rôles</a:t>
            </a:r>
            <a:endParaRPr lang="en-US" sz="1700" dirty="0"/>
          </a:p>
        </p:txBody>
      </p:sp>
      <p:sp>
        <p:nvSpPr>
          <p:cNvPr id="12" name="Text 8"/>
          <p:cNvSpPr txBox="1"/>
          <p:nvPr/>
        </p:nvSpPr>
        <p:spPr>
          <a:xfrm>
            <a:off x="4526280" y="2377440"/>
            <a:ext cx="3108960" cy="1097280"/>
          </a:xfrm>
          <a:prstGeom prst="rect">
            <a:avLst/>
          </a:prstGeom>
          <a:noFill/>
          <a:ln/>
        </p:spPr>
        <p:txBody>
          <a:bodyPr wrap="square" lIns="0" tIns="0" rIns="0" bIns="0" rtlCol="0" anchor="t"/>
          <a:lstStyle/>
          <a:p>
            <a:pPr indent="0" marL="0">
              <a:buNone/>
            </a:pPr>
            <a:r>
              <a:rPr lang="en-US" sz="1400" dirty="0">
                <a:solidFill>
                  <a:schemeClr val="tx1"/>
                </a:solidFill>
              </a:rPr>
              <a:t>Administrateur, Analyste, Responsable PME (lecture seule) ; contrôle sur chaque endpoint sensible.</a:t>
            </a:r>
            <a:endParaRPr lang="en-US" sz="1400" dirty="0"/>
          </a:p>
        </p:txBody>
      </p:sp>
      <p:sp>
        <p:nvSpPr>
          <p:cNvPr id="13" name="sec-2"/>
          <p:cNvSpPr/>
          <p:nvPr/>
        </p:nvSpPr>
        <p:spPr>
          <a:xfrm>
            <a:off x="8046720" y="1371600"/>
            <a:ext cx="3520440" cy="2194560"/>
          </a:xfrm>
          <a:prstGeom prst="roundRect">
            <a:avLst>
              <a:gd name="adj" fmla="val 5000"/>
            </a:avLst>
          </a:prstGeom>
          <a:solidFill>
            <a:schemeClr val="bg2"/>
          </a:solidFill>
          <a:ln w="12700">
            <a:solidFill>
              <a:schemeClr val="bg2"/>
            </a:solidFill>
            <a:prstDash val="solid"/>
          </a:ln>
        </p:spPr>
      </p:sp>
      <p:sp>
        <p:nvSpPr>
          <p:cNvPr id="14" name="sec-2-circle"/>
          <p:cNvSpPr/>
          <p:nvPr/>
        </p:nvSpPr>
        <p:spPr>
          <a:xfrm>
            <a:off x="8275320" y="1600200"/>
            <a:ext cx="594360" cy="594360"/>
          </a:xfrm>
          <a:prstGeom prst="ellipse">
            <a:avLst/>
          </a:prstGeom>
          <a:solidFill>
            <a:schemeClr val="accent1"/>
          </a:solidFill>
          <a:ln w="12700">
            <a:solidFill>
              <a:schemeClr val="accent1"/>
            </a:solidFill>
            <a:prstDash val="solid"/>
          </a:ln>
        </p:spPr>
      </p:sp>
      <p:pic>
        <p:nvPicPr>
          <p:cNvPr id="15" name="sec-2-icon" descr="preencoded.png">    </p:cNvPr>
          <p:cNvPicPr>
            <a:picLocks noChangeAspect="1"/>
          </p:cNvPicPr>
          <p:nvPr/>
        </p:nvPicPr>
        <p:blipFill>
          <a:blip r:embed="rId3"/>
          <a:stretch>
            <a:fillRect/>
          </a:stretch>
        </p:blipFill>
        <p:spPr>
          <a:xfrm>
            <a:off x="8423910" y="1748790"/>
            <a:ext cx="297180" cy="297180"/>
          </a:xfrm>
          <a:prstGeom prst="rect">
            <a:avLst/>
          </a:prstGeom>
        </p:spPr>
      </p:pic>
      <p:sp>
        <p:nvSpPr>
          <p:cNvPr id="16" name="Text 11"/>
          <p:cNvSpPr txBox="1"/>
          <p:nvPr/>
        </p:nvSpPr>
        <p:spPr>
          <a:xfrm>
            <a:off x="9006840" y="1600200"/>
            <a:ext cx="2423160" cy="594360"/>
          </a:xfrm>
          <a:prstGeom prst="rect">
            <a:avLst/>
          </a:prstGeom>
          <a:noFill/>
          <a:ln/>
        </p:spPr>
        <p:txBody>
          <a:bodyPr wrap="square" lIns="0" tIns="0" rIns="0" bIns="0" rtlCol="0" anchor="ctr"/>
          <a:lstStyle/>
          <a:p>
            <a:pPr indent="0" marL="0">
              <a:buNone/>
            </a:pPr>
            <a:r>
              <a:rPr lang="en-US" sz="1700" b="1" dirty="0">
                <a:solidFill>
                  <a:schemeClr val="tx2"/>
                </a:solidFill>
              </a:rPr>
              <a:t>Limitation de débit</a:t>
            </a:r>
            <a:endParaRPr lang="en-US" sz="1700" dirty="0"/>
          </a:p>
        </p:txBody>
      </p:sp>
      <p:sp>
        <p:nvSpPr>
          <p:cNvPr id="17" name="Text 12"/>
          <p:cNvSpPr txBox="1"/>
          <p:nvPr/>
        </p:nvSpPr>
        <p:spPr>
          <a:xfrm>
            <a:off x="8275320" y="2377440"/>
            <a:ext cx="3108960" cy="1097280"/>
          </a:xfrm>
          <a:prstGeom prst="rect">
            <a:avLst/>
          </a:prstGeom>
          <a:noFill/>
          <a:ln/>
        </p:spPr>
        <p:txBody>
          <a:bodyPr wrap="square" lIns="0" tIns="0" rIns="0" bIns="0" rtlCol="0" anchor="t"/>
          <a:lstStyle/>
          <a:p>
            <a:pPr indent="0" marL="0">
              <a:buNone/>
            </a:pPr>
            <a:r>
              <a:rPr lang="en-US" sz="1400" dirty="0">
                <a:solidFill>
                  <a:schemeClr val="tx1"/>
                </a:solidFill>
              </a:rPr>
              <a:t>slowapi : 30/min pour l'analyse, 10/min pour les alertes de test, 6/min pour les collectes.</a:t>
            </a:r>
            <a:endParaRPr lang="en-US" sz="1400" dirty="0"/>
          </a:p>
        </p:txBody>
      </p:sp>
      <p:sp>
        <p:nvSpPr>
          <p:cNvPr id="18" name="sec-3"/>
          <p:cNvSpPr/>
          <p:nvPr/>
        </p:nvSpPr>
        <p:spPr>
          <a:xfrm>
            <a:off x="548640" y="3749040"/>
            <a:ext cx="3520440" cy="2194560"/>
          </a:xfrm>
          <a:prstGeom prst="roundRect">
            <a:avLst>
              <a:gd name="adj" fmla="val 5000"/>
            </a:avLst>
          </a:prstGeom>
          <a:solidFill>
            <a:schemeClr val="bg2"/>
          </a:solidFill>
          <a:ln w="12700">
            <a:solidFill>
              <a:schemeClr val="bg2"/>
            </a:solidFill>
            <a:prstDash val="solid"/>
          </a:ln>
        </p:spPr>
      </p:sp>
      <p:sp>
        <p:nvSpPr>
          <p:cNvPr id="19" name="sec-3-circle"/>
          <p:cNvSpPr/>
          <p:nvPr/>
        </p:nvSpPr>
        <p:spPr>
          <a:xfrm>
            <a:off x="777240" y="3977640"/>
            <a:ext cx="594360" cy="594360"/>
          </a:xfrm>
          <a:prstGeom prst="ellipse">
            <a:avLst/>
          </a:prstGeom>
          <a:solidFill>
            <a:schemeClr val="accent1"/>
          </a:solidFill>
          <a:ln w="12700">
            <a:solidFill>
              <a:schemeClr val="accent1"/>
            </a:solidFill>
            <a:prstDash val="solid"/>
          </a:ln>
        </p:spPr>
      </p:sp>
      <p:pic>
        <p:nvPicPr>
          <p:cNvPr id="20" name="sec-3-icon" descr="preencoded.png">    </p:cNvPr>
          <p:cNvPicPr>
            <a:picLocks noChangeAspect="1"/>
          </p:cNvPicPr>
          <p:nvPr/>
        </p:nvPicPr>
        <p:blipFill>
          <a:blip r:embed="rId4"/>
          <a:stretch>
            <a:fillRect/>
          </a:stretch>
        </p:blipFill>
        <p:spPr>
          <a:xfrm>
            <a:off x="925830" y="4126230"/>
            <a:ext cx="297180" cy="297180"/>
          </a:xfrm>
          <a:prstGeom prst="rect">
            <a:avLst/>
          </a:prstGeom>
        </p:spPr>
      </p:pic>
      <p:sp>
        <p:nvSpPr>
          <p:cNvPr id="21" name="Text 15"/>
          <p:cNvSpPr txBox="1"/>
          <p:nvPr/>
        </p:nvSpPr>
        <p:spPr>
          <a:xfrm>
            <a:off x="1508760" y="3977640"/>
            <a:ext cx="2423160" cy="594360"/>
          </a:xfrm>
          <a:prstGeom prst="rect">
            <a:avLst/>
          </a:prstGeom>
          <a:noFill/>
          <a:ln/>
        </p:spPr>
        <p:txBody>
          <a:bodyPr wrap="square" lIns="0" tIns="0" rIns="0" bIns="0" rtlCol="0" anchor="ctr"/>
          <a:lstStyle/>
          <a:p>
            <a:pPr indent="0" marL="0">
              <a:buNone/>
            </a:pPr>
            <a:r>
              <a:rPr lang="en-US" sz="1700" b="1" dirty="0">
                <a:solidFill>
                  <a:schemeClr val="tx2"/>
                </a:solidFill>
              </a:rPr>
              <a:t>En-têtes de sécurité</a:t>
            </a:r>
            <a:endParaRPr lang="en-US" sz="1700" dirty="0"/>
          </a:p>
        </p:txBody>
      </p:sp>
      <p:sp>
        <p:nvSpPr>
          <p:cNvPr id="22" name="Text 16"/>
          <p:cNvSpPr txBox="1"/>
          <p:nvPr/>
        </p:nvSpPr>
        <p:spPr>
          <a:xfrm>
            <a:off x="777240" y="4754880"/>
            <a:ext cx="3108960" cy="1097280"/>
          </a:xfrm>
          <a:prstGeom prst="rect">
            <a:avLst/>
          </a:prstGeom>
          <a:noFill/>
          <a:ln/>
        </p:spPr>
        <p:txBody>
          <a:bodyPr wrap="square" lIns="0" tIns="0" rIns="0" bIns="0" rtlCol="0" anchor="t"/>
          <a:lstStyle/>
          <a:p>
            <a:pPr indent="0" marL="0">
              <a:buNone/>
            </a:pPr>
            <a:r>
              <a:rPr lang="en-US" sz="1400" dirty="0">
                <a:solidFill>
                  <a:schemeClr val="tx1"/>
                </a:solidFill>
              </a:rPr>
              <a:t>CSP stricte, X-Frame-Options, nosniff, Referrer-Policy, HSTS en production.</a:t>
            </a:r>
            <a:endParaRPr lang="en-US" sz="1400" dirty="0"/>
          </a:p>
        </p:txBody>
      </p:sp>
      <p:sp>
        <p:nvSpPr>
          <p:cNvPr id="23" name="sec-4"/>
          <p:cNvSpPr/>
          <p:nvPr/>
        </p:nvSpPr>
        <p:spPr>
          <a:xfrm>
            <a:off x="4297680" y="3749040"/>
            <a:ext cx="3520440" cy="2194560"/>
          </a:xfrm>
          <a:prstGeom prst="roundRect">
            <a:avLst>
              <a:gd name="adj" fmla="val 5000"/>
            </a:avLst>
          </a:prstGeom>
          <a:solidFill>
            <a:schemeClr val="bg2"/>
          </a:solidFill>
          <a:ln w="12700">
            <a:solidFill>
              <a:schemeClr val="bg2"/>
            </a:solidFill>
            <a:prstDash val="solid"/>
          </a:ln>
        </p:spPr>
      </p:sp>
      <p:sp>
        <p:nvSpPr>
          <p:cNvPr id="24" name="sec-4-circle"/>
          <p:cNvSpPr/>
          <p:nvPr/>
        </p:nvSpPr>
        <p:spPr>
          <a:xfrm>
            <a:off x="4526280" y="3977640"/>
            <a:ext cx="594360" cy="594360"/>
          </a:xfrm>
          <a:prstGeom prst="ellipse">
            <a:avLst/>
          </a:prstGeom>
          <a:solidFill>
            <a:schemeClr val="accent1"/>
          </a:solidFill>
          <a:ln w="12700">
            <a:solidFill>
              <a:schemeClr val="accent1"/>
            </a:solidFill>
            <a:prstDash val="solid"/>
          </a:ln>
        </p:spPr>
      </p:sp>
      <p:pic>
        <p:nvPicPr>
          <p:cNvPr id="25" name="sec-4-icon" descr="preencoded.png">    </p:cNvPr>
          <p:cNvPicPr>
            <a:picLocks noChangeAspect="1"/>
          </p:cNvPicPr>
          <p:nvPr/>
        </p:nvPicPr>
        <p:blipFill>
          <a:blip r:embed="rId5"/>
          <a:stretch>
            <a:fillRect/>
          </a:stretch>
        </p:blipFill>
        <p:spPr>
          <a:xfrm>
            <a:off x="4674870" y="4126230"/>
            <a:ext cx="297180" cy="297180"/>
          </a:xfrm>
          <a:prstGeom prst="rect">
            <a:avLst/>
          </a:prstGeom>
        </p:spPr>
      </p:pic>
      <p:sp>
        <p:nvSpPr>
          <p:cNvPr id="26" name="Text 19"/>
          <p:cNvSpPr txBox="1"/>
          <p:nvPr/>
        </p:nvSpPr>
        <p:spPr>
          <a:xfrm>
            <a:off x="5257800" y="3977640"/>
            <a:ext cx="2423160" cy="594360"/>
          </a:xfrm>
          <a:prstGeom prst="rect">
            <a:avLst/>
          </a:prstGeom>
          <a:noFill/>
          <a:ln/>
        </p:spPr>
        <p:txBody>
          <a:bodyPr wrap="square" lIns="0" tIns="0" rIns="0" bIns="0" rtlCol="0" anchor="ctr"/>
          <a:lstStyle/>
          <a:p>
            <a:pPr indent="0" marL="0">
              <a:buNone/>
            </a:pPr>
            <a:r>
              <a:rPr lang="en-US" sz="1700" b="1" dirty="0">
                <a:solidFill>
                  <a:schemeClr val="tx2"/>
                </a:solidFill>
              </a:rPr>
              <a:t>Entrées et CORS</a:t>
            </a:r>
            <a:endParaRPr lang="en-US" sz="1700" dirty="0"/>
          </a:p>
        </p:txBody>
      </p:sp>
      <p:sp>
        <p:nvSpPr>
          <p:cNvPr id="27" name="Text 20"/>
          <p:cNvSpPr txBox="1"/>
          <p:nvPr/>
        </p:nvSpPr>
        <p:spPr>
          <a:xfrm>
            <a:off x="4526280" y="4754880"/>
            <a:ext cx="3108960" cy="1097280"/>
          </a:xfrm>
          <a:prstGeom prst="rect">
            <a:avLst/>
          </a:prstGeom>
          <a:noFill/>
          <a:ln/>
        </p:spPr>
        <p:txBody>
          <a:bodyPr wrap="square" lIns="0" tIns="0" rIns="0" bIns="0" rtlCol="0" anchor="t"/>
          <a:lstStyle/>
          <a:p>
            <a:pPr indent="0" marL="0">
              <a:buNone/>
            </a:pPr>
            <a:r>
              <a:rPr lang="en-US" sz="1400" dirty="0">
                <a:solidFill>
                  <a:schemeClr val="tx1"/>
                </a:solidFill>
              </a:rPr>
              <a:t>Validation Pydantic de chaque entrée ; CORS limité aux origines configurées.</a:t>
            </a:r>
            <a:endParaRPr lang="en-US" sz="1400" dirty="0"/>
          </a:p>
        </p:txBody>
      </p:sp>
      <p:sp>
        <p:nvSpPr>
          <p:cNvPr id="28" name="sec-5"/>
          <p:cNvSpPr/>
          <p:nvPr/>
        </p:nvSpPr>
        <p:spPr>
          <a:xfrm>
            <a:off x="8046720" y="3749040"/>
            <a:ext cx="3520440" cy="2194560"/>
          </a:xfrm>
          <a:prstGeom prst="roundRect">
            <a:avLst>
              <a:gd name="adj" fmla="val 5000"/>
            </a:avLst>
          </a:prstGeom>
          <a:solidFill>
            <a:schemeClr val="bg2"/>
          </a:solidFill>
          <a:ln w="12700">
            <a:solidFill>
              <a:schemeClr val="bg2"/>
            </a:solidFill>
            <a:prstDash val="solid"/>
          </a:ln>
        </p:spPr>
      </p:sp>
      <p:sp>
        <p:nvSpPr>
          <p:cNvPr id="29" name="sec-5-circle"/>
          <p:cNvSpPr/>
          <p:nvPr/>
        </p:nvSpPr>
        <p:spPr>
          <a:xfrm>
            <a:off x="8275320" y="3977640"/>
            <a:ext cx="594360" cy="594360"/>
          </a:xfrm>
          <a:prstGeom prst="ellipse">
            <a:avLst/>
          </a:prstGeom>
          <a:solidFill>
            <a:schemeClr val="accent1"/>
          </a:solidFill>
          <a:ln w="12700">
            <a:solidFill>
              <a:schemeClr val="accent1"/>
            </a:solidFill>
            <a:prstDash val="solid"/>
          </a:ln>
        </p:spPr>
      </p:sp>
      <p:pic>
        <p:nvPicPr>
          <p:cNvPr id="30" name="sec-5-icon" descr="preencoded.png">    </p:cNvPr>
          <p:cNvPicPr>
            <a:picLocks noChangeAspect="1"/>
          </p:cNvPicPr>
          <p:nvPr/>
        </p:nvPicPr>
        <p:blipFill>
          <a:blip r:embed="rId6"/>
          <a:stretch>
            <a:fillRect/>
          </a:stretch>
        </p:blipFill>
        <p:spPr>
          <a:xfrm>
            <a:off x="8423910" y="4126230"/>
            <a:ext cx="297180" cy="297180"/>
          </a:xfrm>
          <a:prstGeom prst="rect">
            <a:avLst/>
          </a:prstGeom>
        </p:spPr>
      </p:pic>
      <p:sp>
        <p:nvSpPr>
          <p:cNvPr id="31" name="Text 23"/>
          <p:cNvSpPr txBox="1"/>
          <p:nvPr/>
        </p:nvSpPr>
        <p:spPr>
          <a:xfrm>
            <a:off x="9006840" y="3977640"/>
            <a:ext cx="2423160" cy="594360"/>
          </a:xfrm>
          <a:prstGeom prst="rect">
            <a:avLst/>
          </a:prstGeom>
          <a:noFill/>
          <a:ln/>
        </p:spPr>
        <p:txBody>
          <a:bodyPr wrap="square" lIns="0" tIns="0" rIns="0" bIns="0" rtlCol="0" anchor="ctr"/>
          <a:lstStyle/>
          <a:p>
            <a:pPr indent="0" marL="0">
              <a:buNone/>
            </a:pPr>
            <a:r>
              <a:rPr lang="en-US" sz="1700" b="1" dirty="0">
                <a:solidFill>
                  <a:schemeClr val="tx2"/>
                </a:solidFill>
              </a:rPr>
              <a:t>Déploiement</a:t>
            </a:r>
            <a:endParaRPr lang="en-US" sz="1700" dirty="0"/>
          </a:p>
        </p:txBody>
      </p:sp>
      <p:sp>
        <p:nvSpPr>
          <p:cNvPr id="32" name="Text 24"/>
          <p:cNvSpPr txBox="1"/>
          <p:nvPr/>
        </p:nvSpPr>
        <p:spPr>
          <a:xfrm>
            <a:off x="8275320" y="4754880"/>
            <a:ext cx="3108960" cy="1097280"/>
          </a:xfrm>
          <a:prstGeom prst="rect">
            <a:avLst/>
          </a:prstGeom>
          <a:noFill/>
          <a:ln/>
        </p:spPr>
        <p:txBody>
          <a:bodyPr wrap="square" lIns="0" tIns="0" rIns="0" bIns="0" rtlCol="0" anchor="t"/>
          <a:lstStyle/>
          <a:p>
            <a:pPr indent="0" marL="0">
              <a:buNone/>
            </a:pPr>
            <a:r>
              <a:rPr lang="en-US" sz="1400" dirty="0">
                <a:solidFill>
                  <a:schemeClr val="tx1"/>
                </a:solidFill>
              </a:rPr>
              <a:t>Image Docker non-root ; le backend refuse de démarrer en production avec le secret JWT par défaut.</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000" b="1" dirty="0">
                <a:solidFill>
                  <a:schemeClr val="tx2"/>
                </a:solidFill>
              </a:rPr>
              <a:t>Tests et CI : chaque push est vérifié</a:t>
            </a:r>
            <a:endParaRPr lang="en-US" sz="3000" dirty="0"/>
          </a:p>
        </p:txBody>
      </p:sp>
      <p:sp>
        <p:nvSpPr>
          <p:cNvPr id="3" name="q-0"/>
          <p:cNvSpPr/>
          <p:nvPr/>
        </p:nvSpPr>
        <p:spPr>
          <a:xfrm>
            <a:off x="548640" y="1371600"/>
            <a:ext cx="3657600" cy="1417320"/>
          </a:xfrm>
          <a:prstGeom prst="roundRect">
            <a:avLst>
              <a:gd name="adj" fmla="val 7742"/>
            </a:avLst>
          </a:prstGeom>
          <a:solidFill>
            <a:schemeClr val="tx2"/>
          </a:solidFill>
          <a:ln w="12700">
            <a:solidFill>
              <a:schemeClr val="tx2"/>
            </a:solidFill>
            <a:prstDash val="solid"/>
          </a:ln>
        </p:spPr>
      </p:sp>
      <p:sp>
        <p:nvSpPr>
          <p:cNvPr id="4" name="Text 2"/>
          <p:cNvSpPr txBox="1"/>
          <p:nvPr/>
        </p:nvSpPr>
        <p:spPr>
          <a:xfrm>
            <a:off x="822960" y="1508760"/>
            <a:ext cx="1097280" cy="1143000"/>
          </a:xfrm>
          <a:prstGeom prst="rect">
            <a:avLst/>
          </a:prstGeom>
          <a:noFill/>
          <a:ln/>
        </p:spPr>
        <p:txBody>
          <a:bodyPr wrap="square" lIns="0" tIns="0" rIns="0" bIns="0" rtlCol="0" anchor="ctr"/>
          <a:lstStyle/>
          <a:p>
            <a:pPr indent="0" marL="0">
              <a:buNone/>
            </a:pPr>
            <a:r>
              <a:rPr lang="en-US" sz="4800" b="1" dirty="0">
                <a:solidFill>
                  <a:schemeClr val="accent2"/>
                </a:solidFill>
                <a:latin typeface="Cambria" pitchFamily="34" charset="0"/>
                <a:ea typeface="Cambria" pitchFamily="34" charset="-122"/>
                <a:cs typeface="Cambria" pitchFamily="34" charset="-120"/>
              </a:rPr>
              <a:t>14</a:t>
            </a:r>
            <a:endParaRPr lang="en-US" sz="4800" dirty="0"/>
          </a:p>
        </p:txBody>
      </p:sp>
      <p:sp>
        <p:nvSpPr>
          <p:cNvPr id="5" name="Text 3"/>
          <p:cNvSpPr txBox="1"/>
          <p:nvPr/>
        </p:nvSpPr>
        <p:spPr>
          <a:xfrm>
            <a:off x="1965960" y="1508760"/>
            <a:ext cx="2103120" cy="1143000"/>
          </a:xfrm>
          <a:prstGeom prst="rect">
            <a:avLst/>
          </a:prstGeom>
          <a:noFill/>
          <a:ln/>
        </p:spPr>
        <p:txBody>
          <a:bodyPr wrap="square" lIns="0" tIns="0" rIns="0" bIns="0" rtlCol="0" anchor="ctr"/>
          <a:lstStyle/>
          <a:p>
            <a:pPr indent="0" marL="0">
              <a:buNone/>
            </a:pPr>
            <a:r>
              <a:rPr lang="en-US" sz="1400" dirty="0">
                <a:solidFill>
                  <a:schemeClr val="bg1"/>
                </a:solidFill>
              </a:rPr>
              <a:t>tests pytest backend (API, rôles, scoring, alertes)</a:t>
            </a:r>
            <a:endParaRPr lang="en-US" sz="1400" dirty="0"/>
          </a:p>
        </p:txBody>
      </p:sp>
      <p:sp>
        <p:nvSpPr>
          <p:cNvPr id="6" name="q-1"/>
          <p:cNvSpPr/>
          <p:nvPr/>
        </p:nvSpPr>
        <p:spPr>
          <a:xfrm>
            <a:off x="548640" y="2971800"/>
            <a:ext cx="3657600" cy="1417320"/>
          </a:xfrm>
          <a:prstGeom prst="roundRect">
            <a:avLst>
              <a:gd name="adj" fmla="val 7742"/>
            </a:avLst>
          </a:prstGeom>
          <a:solidFill>
            <a:schemeClr val="bg2"/>
          </a:solidFill>
          <a:ln w="12700">
            <a:solidFill>
              <a:schemeClr val="bg2"/>
            </a:solidFill>
            <a:prstDash val="solid"/>
          </a:ln>
        </p:spPr>
      </p:sp>
      <p:sp>
        <p:nvSpPr>
          <p:cNvPr id="7" name="Text 5"/>
          <p:cNvSpPr txBox="1"/>
          <p:nvPr/>
        </p:nvSpPr>
        <p:spPr>
          <a:xfrm>
            <a:off x="822960" y="3108960"/>
            <a:ext cx="1097280" cy="1143000"/>
          </a:xfrm>
          <a:prstGeom prst="rect">
            <a:avLst/>
          </a:prstGeom>
          <a:noFill/>
          <a:ln/>
        </p:spPr>
        <p:txBody>
          <a:bodyPr wrap="square" lIns="0" tIns="0" rIns="0" bIns="0" rtlCol="0" anchor="ctr"/>
          <a:lstStyle/>
          <a:p>
            <a:pPr indent="0" marL="0">
              <a:buNone/>
            </a:pPr>
            <a:r>
              <a:rPr lang="en-US" sz="4800" b="1" dirty="0">
                <a:solidFill>
                  <a:schemeClr val="accent1"/>
                </a:solidFill>
                <a:latin typeface="Cambria" pitchFamily="34" charset="0"/>
                <a:ea typeface="Cambria" pitchFamily="34" charset="-122"/>
                <a:cs typeface="Cambria" pitchFamily="34" charset="-120"/>
              </a:rPr>
              <a:t>4</a:t>
            </a:r>
            <a:endParaRPr lang="en-US" sz="4800" dirty="0"/>
          </a:p>
        </p:txBody>
      </p:sp>
      <p:sp>
        <p:nvSpPr>
          <p:cNvPr id="8" name="Text 6"/>
          <p:cNvSpPr txBox="1"/>
          <p:nvPr/>
        </p:nvSpPr>
        <p:spPr>
          <a:xfrm>
            <a:off x="1965960" y="3108960"/>
            <a:ext cx="2103120" cy="1143000"/>
          </a:xfrm>
          <a:prstGeom prst="rect">
            <a:avLst/>
          </a:prstGeom>
          <a:noFill/>
          <a:ln/>
        </p:spPr>
        <p:txBody>
          <a:bodyPr wrap="square" lIns="0" tIns="0" rIns="0" bIns="0" rtlCol="0" anchor="ctr"/>
          <a:lstStyle/>
          <a:p>
            <a:pPr indent="0" marL="0">
              <a:buNone/>
            </a:pPr>
            <a:r>
              <a:rPr lang="en-US" sz="1400" dirty="0">
                <a:solidFill>
                  <a:schemeClr val="tx1"/>
                </a:solidFill>
              </a:rPr>
              <a:t>fichiers de tests frontend (Vitest + Testing Library)</a:t>
            </a:r>
            <a:endParaRPr lang="en-US" sz="1400" dirty="0"/>
          </a:p>
        </p:txBody>
      </p:sp>
      <p:sp>
        <p:nvSpPr>
          <p:cNvPr id="9" name="q-2"/>
          <p:cNvSpPr/>
          <p:nvPr/>
        </p:nvSpPr>
        <p:spPr>
          <a:xfrm>
            <a:off x="548640" y="4572000"/>
            <a:ext cx="3657600" cy="1417320"/>
          </a:xfrm>
          <a:prstGeom prst="roundRect">
            <a:avLst>
              <a:gd name="adj" fmla="val 7742"/>
            </a:avLst>
          </a:prstGeom>
          <a:solidFill>
            <a:schemeClr val="bg2"/>
          </a:solidFill>
          <a:ln w="12700">
            <a:solidFill>
              <a:schemeClr val="bg2"/>
            </a:solidFill>
            <a:prstDash val="solid"/>
          </a:ln>
        </p:spPr>
      </p:sp>
      <p:sp>
        <p:nvSpPr>
          <p:cNvPr id="10" name="Text 8"/>
          <p:cNvSpPr txBox="1"/>
          <p:nvPr/>
        </p:nvSpPr>
        <p:spPr>
          <a:xfrm>
            <a:off x="822960" y="4709160"/>
            <a:ext cx="1097280" cy="1143000"/>
          </a:xfrm>
          <a:prstGeom prst="rect">
            <a:avLst/>
          </a:prstGeom>
          <a:noFill/>
          <a:ln/>
        </p:spPr>
        <p:txBody>
          <a:bodyPr wrap="square" lIns="0" tIns="0" rIns="0" bIns="0" rtlCol="0" anchor="ctr"/>
          <a:lstStyle/>
          <a:p>
            <a:pPr indent="0" marL="0">
              <a:buNone/>
            </a:pPr>
            <a:r>
              <a:rPr lang="en-US" sz="4800" b="1" dirty="0">
                <a:solidFill>
                  <a:schemeClr val="accent1"/>
                </a:solidFill>
                <a:latin typeface="Cambria" pitchFamily="34" charset="0"/>
                <a:ea typeface="Cambria" pitchFamily="34" charset="-122"/>
                <a:cs typeface="Cambria" pitchFamily="34" charset="-120"/>
              </a:rPr>
              <a:t>5</a:t>
            </a:r>
            <a:endParaRPr lang="en-US" sz="4800" dirty="0"/>
          </a:p>
        </p:txBody>
      </p:sp>
      <p:sp>
        <p:nvSpPr>
          <p:cNvPr id="11" name="Text 9"/>
          <p:cNvSpPr txBox="1"/>
          <p:nvPr/>
        </p:nvSpPr>
        <p:spPr>
          <a:xfrm>
            <a:off x="1965960" y="4709160"/>
            <a:ext cx="2103120" cy="1143000"/>
          </a:xfrm>
          <a:prstGeom prst="rect">
            <a:avLst/>
          </a:prstGeom>
          <a:noFill/>
          <a:ln/>
        </p:spPr>
        <p:txBody>
          <a:bodyPr wrap="square" lIns="0" tIns="0" rIns="0" bIns="0" rtlCol="0" anchor="ctr"/>
          <a:lstStyle/>
          <a:p>
            <a:pPr indent="0" marL="0">
              <a:buNone/>
            </a:pPr>
            <a:r>
              <a:rPr lang="en-US" sz="1400" dirty="0">
                <a:solidFill>
                  <a:schemeClr val="tx1"/>
                </a:solidFill>
              </a:rPr>
              <a:t>jobs GitHub Actions</a:t>
            </a:r>
            <a:endParaRPr lang="en-US" sz="1400" dirty="0"/>
          </a:p>
        </p:txBody>
      </p:sp>
      <p:sp>
        <p:nvSpPr>
          <p:cNvPr id="12" name="job-0"/>
          <p:cNvSpPr/>
          <p:nvPr/>
        </p:nvSpPr>
        <p:spPr>
          <a:xfrm>
            <a:off x="4572000" y="1371600"/>
            <a:ext cx="7040880" cy="804672"/>
          </a:xfrm>
          <a:prstGeom prst="roundRect">
            <a:avLst>
              <a:gd name="adj" fmla="val 13636"/>
            </a:avLst>
          </a:prstGeom>
          <a:solidFill>
            <a:schemeClr val="bg2"/>
          </a:solidFill>
          <a:ln w="12700">
            <a:solidFill>
              <a:schemeClr val="bg2"/>
            </a:solidFill>
            <a:prstDash val="solid"/>
          </a:ln>
        </p:spPr>
      </p:sp>
      <p:sp>
        <p:nvSpPr>
          <p:cNvPr id="13" name="Text 11"/>
          <p:cNvSpPr txBox="1"/>
          <p:nvPr/>
        </p:nvSpPr>
        <p:spPr>
          <a:xfrm>
            <a:off x="4754880" y="1371600"/>
            <a:ext cx="2103120" cy="804672"/>
          </a:xfrm>
          <a:prstGeom prst="rect">
            <a:avLst/>
          </a:prstGeom>
          <a:noFill/>
          <a:ln/>
        </p:spPr>
        <p:txBody>
          <a:bodyPr wrap="square" lIns="0" tIns="0" rIns="0" bIns="0" rtlCol="0" anchor="ctr"/>
          <a:lstStyle/>
          <a:p>
            <a:pPr indent="0" marL="0">
              <a:buNone/>
            </a:pPr>
            <a:r>
              <a:rPr lang="en-US" sz="1400" b="1" dirty="0">
                <a:solidFill>
                  <a:schemeClr val="accent1"/>
                </a:solidFill>
                <a:latin typeface="Courier New" pitchFamily="34" charset="0"/>
                <a:ea typeface="Courier New" pitchFamily="34" charset="-122"/>
                <a:cs typeface="Courier New" pitchFamily="34" charset="-120"/>
              </a:rPr>
              <a:t>backend</a:t>
            </a:r>
            <a:endParaRPr lang="en-US" sz="1400" dirty="0"/>
          </a:p>
        </p:txBody>
      </p:sp>
      <p:sp>
        <p:nvSpPr>
          <p:cNvPr id="14" name="Text 12"/>
          <p:cNvSpPr txBox="1"/>
          <p:nvPr/>
        </p:nvSpPr>
        <p:spPr>
          <a:xfrm>
            <a:off x="6949440" y="1371600"/>
            <a:ext cx="4526280" cy="804672"/>
          </a:xfrm>
          <a:prstGeom prst="rect">
            <a:avLst/>
          </a:prstGeom>
          <a:noFill/>
          <a:ln/>
        </p:spPr>
        <p:txBody>
          <a:bodyPr wrap="square" lIns="0" tIns="0" rIns="0" bIns="0" rtlCol="0" anchor="ctr"/>
          <a:lstStyle/>
          <a:p>
            <a:pPr indent="0" marL="0">
              <a:buNone/>
            </a:pPr>
            <a:r>
              <a:rPr lang="en-US" sz="1400" dirty="0">
                <a:solidFill>
                  <a:schemeClr val="tx1"/>
                </a:solidFill>
              </a:rPr>
              <a:t>Tests pytest sur une base SQLite dédiée, sans réseau</a:t>
            </a:r>
            <a:endParaRPr lang="en-US" sz="1400" dirty="0"/>
          </a:p>
        </p:txBody>
      </p:sp>
      <p:sp>
        <p:nvSpPr>
          <p:cNvPr id="15" name="job-1"/>
          <p:cNvSpPr/>
          <p:nvPr/>
        </p:nvSpPr>
        <p:spPr>
          <a:xfrm>
            <a:off x="4572000" y="2313432"/>
            <a:ext cx="7040880" cy="804672"/>
          </a:xfrm>
          <a:prstGeom prst="roundRect">
            <a:avLst>
              <a:gd name="adj" fmla="val 13636"/>
            </a:avLst>
          </a:prstGeom>
          <a:solidFill>
            <a:schemeClr val="bg2"/>
          </a:solidFill>
          <a:ln w="12700">
            <a:solidFill>
              <a:schemeClr val="bg2"/>
            </a:solidFill>
            <a:prstDash val="solid"/>
          </a:ln>
        </p:spPr>
      </p:sp>
      <p:sp>
        <p:nvSpPr>
          <p:cNvPr id="16" name="Text 14"/>
          <p:cNvSpPr txBox="1"/>
          <p:nvPr/>
        </p:nvSpPr>
        <p:spPr>
          <a:xfrm>
            <a:off x="4754880" y="2313432"/>
            <a:ext cx="2103120" cy="804672"/>
          </a:xfrm>
          <a:prstGeom prst="rect">
            <a:avLst/>
          </a:prstGeom>
          <a:noFill/>
          <a:ln/>
        </p:spPr>
        <p:txBody>
          <a:bodyPr wrap="square" lIns="0" tIns="0" rIns="0" bIns="0" rtlCol="0" anchor="ctr"/>
          <a:lstStyle/>
          <a:p>
            <a:pPr indent="0" marL="0">
              <a:buNone/>
            </a:pPr>
            <a:r>
              <a:rPr lang="en-US" sz="1400" b="1" dirty="0">
                <a:solidFill>
                  <a:schemeClr val="accent1"/>
                </a:solidFill>
                <a:latin typeface="Courier New" pitchFamily="34" charset="0"/>
                <a:ea typeface="Courier New" pitchFamily="34" charset="-122"/>
                <a:cs typeface="Courier New" pitchFamily="34" charset="-120"/>
              </a:rPr>
              <a:t>backend-security</a:t>
            </a:r>
            <a:endParaRPr lang="en-US" sz="1400" dirty="0"/>
          </a:p>
        </p:txBody>
      </p:sp>
      <p:sp>
        <p:nvSpPr>
          <p:cNvPr id="17" name="Text 15"/>
          <p:cNvSpPr txBox="1"/>
          <p:nvPr/>
        </p:nvSpPr>
        <p:spPr>
          <a:xfrm>
            <a:off x="6949440" y="2313432"/>
            <a:ext cx="4526280" cy="804672"/>
          </a:xfrm>
          <a:prstGeom prst="rect">
            <a:avLst/>
          </a:prstGeom>
          <a:noFill/>
          <a:ln/>
        </p:spPr>
        <p:txBody>
          <a:bodyPr wrap="square" lIns="0" tIns="0" rIns="0" bIns="0" rtlCol="0" anchor="ctr"/>
          <a:lstStyle/>
          <a:p>
            <a:pPr indent="0" marL="0">
              <a:buNone/>
            </a:pPr>
            <a:r>
              <a:rPr lang="en-US" sz="1400" dirty="0">
                <a:solidFill>
                  <a:schemeClr val="tx1"/>
                </a:solidFill>
              </a:rPr>
              <a:t>pip-audit (dépendances) et Bandit (analyse statique)</a:t>
            </a:r>
            <a:endParaRPr lang="en-US" sz="1400" dirty="0"/>
          </a:p>
        </p:txBody>
      </p:sp>
      <p:sp>
        <p:nvSpPr>
          <p:cNvPr id="18" name="job-2"/>
          <p:cNvSpPr/>
          <p:nvPr/>
        </p:nvSpPr>
        <p:spPr>
          <a:xfrm>
            <a:off x="4572000" y="3255264"/>
            <a:ext cx="7040880" cy="804672"/>
          </a:xfrm>
          <a:prstGeom prst="roundRect">
            <a:avLst>
              <a:gd name="adj" fmla="val 13636"/>
            </a:avLst>
          </a:prstGeom>
          <a:solidFill>
            <a:schemeClr val="bg2"/>
          </a:solidFill>
          <a:ln w="12700">
            <a:solidFill>
              <a:schemeClr val="bg2"/>
            </a:solidFill>
            <a:prstDash val="solid"/>
          </a:ln>
        </p:spPr>
      </p:sp>
      <p:sp>
        <p:nvSpPr>
          <p:cNvPr id="19" name="Text 17"/>
          <p:cNvSpPr txBox="1"/>
          <p:nvPr/>
        </p:nvSpPr>
        <p:spPr>
          <a:xfrm>
            <a:off x="4754880" y="3255264"/>
            <a:ext cx="2103120" cy="804672"/>
          </a:xfrm>
          <a:prstGeom prst="rect">
            <a:avLst/>
          </a:prstGeom>
          <a:noFill/>
          <a:ln/>
        </p:spPr>
        <p:txBody>
          <a:bodyPr wrap="square" lIns="0" tIns="0" rIns="0" bIns="0" rtlCol="0" anchor="ctr"/>
          <a:lstStyle/>
          <a:p>
            <a:pPr indent="0" marL="0">
              <a:buNone/>
            </a:pPr>
            <a:r>
              <a:rPr lang="en-US" sz="1400" b="1" dirty="0">
                <a:solidFill>
                  <a:schemeClr val="accent1"/>
                </a:solidFill>
                <a:latin typeface="Courier New" pitchFamily="34" charset="0"/>
                <a:ea typeface="Courier New" pitchFamily="34" charset="-122"/>
                <a:cs typeface="Courier New" pitchFamily="34" charset="-120"/>
              </a:rPr>
              <a:t>frontend</a:t>
            </a:r>
            <a:endParaRPr lang="en-US" sz="1400" dirty="0"/>
          </a:p>
        </p:txBody>
      </p:sp>
      <p:sp>
        <p:nvSpPr>
          <p:cNvPr id="20" name="Text 18"/>
          <p:cNvSpPr txBox="1"/>
          <p:nvPr/>
        </p:nvSpPr>
        <p:spPr>
          <a:xfrm>
            <a:off x="6949440" y="3255264"/>
            <a:ext cx="4526280" cy="804672"/>
          </a:xfrm>
          <a:prstGeom prst="rect">
            <a:avLst/>
          </a:prstGeom>
          <a:noFill/>
          <a:ln/>
        </p:spPr>
        <p:txBody>
          <a:bodyPr wrap="square" lIns="0" tIns="0" rIns="0" bIns="0" rtlCol="0" anchor="ctr"/>
          <a:lstStyle/>
          <a:p>
            <a:pPr indent="0" marL="0">
              <a:buNone/>
            </a:pPr>
            <a:r>
              <a:rPr lang="en-US" sz="1400" dirty="0">
                <a:solidFill>
                  <a:schemeClr val="tx1"/>
                </a:solidFill>
              </a:rPr>
              <a:t>Lint, tests Vitest, build TypeScript</a:t>
            </a:r>
            <a:endParaRPr lang="en-US" sz="1400" dirty="0"/>
          </a:p>
        </p:txBody>
      </p:sp>
      <p:sp>
        <p:nvSpPr>
          <p:cNvPr id="21" name="job-3"/>
          <p:cNvSpPr/>
          <p:nvPr/>
        </p:nvSpPr>
        <p:spPr>
          <a:xfrm>
            <a:off x="4572000" y="4197096"/>
            <a:ext cx="7040880" cy="804672"/>
          </a:xfrm>
          <a:prstGeom prst="roundRect">
            <a:avLst>
              <a:gd name="adj" fmla="val 13636"/>
            </a:avLst>
          </a:prstGeom>
          <a:solidFill>
            <a:schemeClr val="bg2"/>
          </a:solidFill>
          <a:ln w="12700">
            <a:solidFill>
              <a:schemeClr val="bg2"/>
            </a:solidFill>
            <a:prstDash val="solid"/>
          </a:ln>
        </p:spPr>
      </p:sp>
      <p:sp>
        <p:nvSpPr>
          <p:cNvPr id="22" name="Text 20"/>
          <p:cNvSpPr txBox="1"/>
          <p:nvPr/>
        </p:nvSpPr>
        <p:spPr>
          <a:xfrm>
            <a:off x="4754880" y="4197096"/>
            <a:ext cx="2103120" cy="804672"/>
          </a:xfrm>
          <a:prstGeom prst="rect">
            <a:avLst/>
          </a:prstGeom>
          <a:noFill/>
          <a:ln/>
        </p:spPr>
        <p:txBody>
          <a:bodyPr wrap="square" lIns="0" tIns="0" rIns="0" bIns="0" rtlCol="0" anchor="ctr"/>
          <a:lstStyle/>
          <a:p>
            <a:pPr indent="0" marL="0">
              <a:buNone/>
            </a:pPr>
            <a:r>
              <a:rPr lang="en-US" sz="1400" b="1" dirty="0">
                <a:solidFill>
                  <a:schemeClr val="accent1"/>
                </a:solidFill>
                <a:latin typeface="Courier New" pitchFamily="34" charset="0"/>
                <a:ea typeface="Courier New" pitchFamily="34" charset="-122"/>
                <a:cs typeface="Courier New" pitchFamily="34" charset="-120"/>
              </a:rPr>
              <a:t>frontend-security</a:t>
            </a:r>
            <a:endParaRPr lang="en-US" sz="1400" dirty="0"/>
          </a:p>
        </p:txBody>
      </p:sp>
      <p:sp>
        <p:nvSpPr>
          <p:cNvPr id="23" name="Text 21"/>
          <p:cNvSpPr txBox="1"/>
          <p:nvPr/>
        </p:nvSpPr>
        <p:spPr>
          <a:xfrm>
            <a:off x="6949440" y="4197096"/>
            <a:ext cx="4526280" cy="804672"/>
          </a:xfrm>
          <a:prstGeom prst="rect">
            <a:avLst/>
          </a:prstGeom>
          <a:noFill/>
          <a:ln/>
        </p:spPr>
        <p:txBody>
          <a:bodyPr wrap="square" lIns="0" tIns="0" rIns="0" bIns="0" rtlCol="0" anchor="ctr"/>
          <a:lstStyle/>
          <a:p>
            <a:pPr indent="0" marL="0">
              <a:buNone/>
            </a:pPr>
            <a:r>
              <a:rPr lang="en-US" sz="1400" dirty="0">
                <a:solidFill>
                  <a:schemeClr val="tx1"/>
                </a:solidFill>
              </a:rPr>
              <a:t>npm audit, échec sur vulnérabilité haute</a:t>
            </a:r>
            <a:endParaRPr lang="en-US" sz="1400" dirty="0"/>
          </a:p>
        </p:txBody>
      </p:sp>
      <p:sp>
        <p:nvSpPr>
          <p:cNvPr id="24" name="job-4"/>
          <p:cNvSpPr/>
          <p:nvPr/>
        </p:nvSpPr>
        <p:spPr>
          <a:xfrm>
            <a:off x="4572000" y="5138928"/>
            <a:ext cx="7040880" cy="804672"/>
          </a:xfrm>
          <a:prstGeom prst="roundRect">
            <a:avLst>
              <a:gd name="adj" fmla="val 13636"/>
            </a:avLst>
          </a:prstGeom>
          <a:solidFill>
            <a:schemeClr val="bg2"/>
          </a:solidFill>
          <a:ln w="12700">
            <a:solidFill>
              <a:schemeClr val="bg2"/>
            </a:solidFill>
            <a:prstDash val="solid"/>
          </a:ln>
        </p:spPr>
      </p:sp>
      <p:sp>
        <p:nvSpPr>
          <p:cNvPr id="25" name="Text 23"/>
          <p:cNvSpPr txBox="1"/>
          <p:nvPr/>
        </p:nvSpPr>
        <p:spPr>
          <a:xfrm>
            <a:off x="4754880" y="5138928"/>
            <a:ext cx="2103120" cy="804672"/>
          </a:xfrm>
          <a:prstGeom prst="rect">
            <a:avLst/>
          </a:prstGeom>
          <a:noFill/>
          <a:ln/>
        </p:spPr>
        <p:txBody>
          <a:bodyPr wrap="square" lIns="0" tIns="0" rIns="0" bIns="0" rtlCol="0" anchor="ctr"/>
          <a:lstStyle/>
          <a:p>
            <a:pPr indent="0" marL="0">
              <a:buNone/>
            </a:pPr>
            <a:r>
              <a:rPr lang="en-US" sz="1400" b="1" dirty="0">
                <a:solidFill>
                  <a:schemeClr val="accent1"/>
                </a:solidFill>
                <a:latin typeface="Courier New" pitchFamily="34" charset="0"/>
                <a:ea typeface="Courier New" pitchFamily="34" charset="-122"/>
                <a:cs typeface="Courier New" pitchFamily="34" charset="-120"/>
              </a:rPr>
              <a:t>secrets-scan</a:t>
            </a:r>
            <a:endParaRPr lang="en-US" sz="1400" dirty="0"/>
          </a:p>
        </p:txBody>
      </p:sp>
      <p:sp>
        <p:nvSpPr>
          <p:cNvPr id="26" name="Text 24"/>
          <p:cNvSpPr txBox="1"/>
          <p:nvPr/>
        </p:nvSpPr>
        <p:spPr>
          <a:xfrm>
            <a:off x="6949440" y="5138928"/>
            <a:ext cx="4526280" cy="804672"/>
          </a:xfrm>
          <a:prstGeom prst="rect">
            <a:avLst/>
          </a:prstGeom>
          <a:noFill/>
          <a:ln/>
        </p:spPr>
        <p:txBody>
          <a:bodyPr wrap="square" lIns="0" tIns="0" rIns="0" bIns="0" rtlCol="0" anchor="ctr"/>
          <a:lstStyle/>
          <a:p>
            <a:pPr indent="0" marL="0">
              <a:buNone/>
            </a:pPr>
            <a:r>
              <a:rPr lang="en-US" sz="1400" dirty="0">
                <a:solidFill>
                  <a:schemeClr val="tx1"/>
                </a:solidFill>
              </a:rPr>
              <a:t>Gitleaks sur tout l'historique Git</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000" b="1" dirty="0">
                <a:solidFill>
                  <a:schemeClr val="tx2"/>
                </a:solidFill>
              </a:rPr>
              <a:t>Un dashboard pensé pour une PME, pas pour un SOC</a:t>
            </a:r>
            <a:endParaRPr lang="en-US" sz="3000" dirty="0"/>
          </a:p>
        </p:txBody>
      </p:sp>
      <p:sp>
        <p:nvSpPr>
          <p:cNvPr id="3" name="page-0"/>
          <p:cNvSpPr/>
          <p:nvPr/>
        </p:nvSpPr>
        <p:spPr>
          <a:xfrm>
            <a:off x="548640" y="1371600"/>
            <a:ext cx="3520440" cy="2057400"/>
          </a:xfrm>
          <a:prstGeom prst="roundRect">
            <a:avLst>
              <a:gd name="adj" fmla="val 5333"/>
            </a:avLst>
          </a:prstGeom>
          <a:solidFill>
            <a:schemeClr val="tx2"/>
          </a:solidFill>
          <a:ln w="12700">
            <a:solidFill>
              <a:schemeClr val="tx2"/>
            </a:solidFill>
            <a:prstDash val="solid"/>
          </a:ln>
        </p:spPr>
      </p:sp>
      <p:sp>
        <p:nvSpPr>
          <p:cNvPr id="4" name="page-0-circle"/>
          <p:cNvSpPr/>
          <p:nvPr/>
        </p:nvSpPr>
        <p:spPr>
          <a:xfrm>
            <a:off x="777240" y="1600200"/>
            <a:ext cx="594360" cy="594360"/>
          </a:xfrm>
          <a:prstGeom prst="ellipse">
            <a:avLst/>
          </a:prstGeom>
          <a:solidFill>
            <a:schemeClr val="accent2"/>
          </a:solidFill>
          <a:ln w="12700">
            <a:solidFill>
              <a:schemeClr val="accent2"/>
            </a:solidFill>
            <a:prstDash val="solid"/>
          </a:ln>
        </p:spPr>
      </p:sp>
      <p:pic>
        <p:nvPicPr>
          <p:cNvPr id="5" name="page-0-icon" descr="preencoded.png">    </p:cNvPr>
          <p:cNvPicPr>
            <a:picLocks noChangeAspect="1"/>
          </p:cNvPicPr>
          <p:nvPr/>
        </p:nvPicPr>
        <p:blipFill>
          <a:blip r:embed="rId1"/>
          <a:stretch>
            <a:fillRect/>
          </a:stretch>
        </p:blipFill>
        <p:spPr>
          <a:xfrm>
            <a:off x="925830" y="1748790"/>
            <a:ext cx="297180" cy="297180"/>
          </a:xfrm>
          <a:prstGeom prst="rect">
            <a:avLst/>
          </a:prstGeom>
        </p:spPr>
      </p:pic>
      <p:sp>
        <p:nvSpPr>
          <p:cNvPr id="6" name="Text 3"/>
          <p:cNvSpPr txBox="1"/>
          <p:nvPr/>
        </p:nvSpPr>
        <p:spPr>
          <a:xfrm>
            <a:off x="777240" y="2331720"/>
            <a:ext cx="3108960" cy="365760"/>
          </a:xfrm>
          <a:prstGeom prst="rect">
            <a:avLst/>
          </a:prstGeom>
          <a:noFill/>
          <a:ln/>
        </p:spPr>
        <p:txBody>
          <a:bodyPr wrap="square" lIns="0" tIns="0" rIns="0" bIns="0" rtlCol="0" anchor="t"/>
          <a:lstStyle/>
          <a:p>
            <a:pPr indent="0" marL="0">
              <a:buNone/>
            </a:pPr>
            <a:r>
              <a:rPr lang="en-US" sz="1700" b="1" dirty="0">
                <a:solidFill>
                  <a:schemeClr val="bg1"/>
                </a:solidFill>
              </a:rPr>
              <a:t>Vue d'ensemble</a:t>
            </a:r>
            <a:endParaRPr lang="en-US" sz="1700" dirty="0"/>
          </a:p>
        </p:txBody>
      </p:sp>
      <p:sp>
        <p:nvSpPr>
          <p:cNvPr id="7" name="Text 4"/>
          <p:cNvSpPr txBox="1"/>
          <p:nvPr/>
        </p:nvSpPr>
        <p:spPr>
          <a:xfrm>
            <a:off x="777240" y="2743200"/>
            <a:ext cx="3108960" cy="594360"/>
          </a:xfrm>
          <a:prstGeom prst="rect">
            <a:avLst/>
          </a:prstGeom>
          <a:noFill/>
          <a:ln/>
        </p:spPr>
        <p:txBody>
          <a:bodyPr wrap="square" lIns="0" tIns="0" rIns="0" bIns="0" rtlCol="0" anchor="t"/>
          <a:lstStyle/>
          <a:p>
            <a:pPr indent="0" marL="0">
              <a:buNone/>
            </a:pPr>
            <a:r>
              <a:rPr lang="en-US" sz="1400" dirty="0">
                <a:solidFill>
                  <a:schemeClr val="accent6"/>
                </a:solidFill>
              </a:rPr>
              <a:t>Cartes de statistiques par niveau de risque</a:t>
            </a:r>
            <a:endParaRPr lang="en-US" sz="1400" dirty="0"/>
          </a:p>
        </p:txBody>
      </p:sp>
      <p:sp>
        <p:nvSpPr>
          <p:cNvPr id="8" name="page-1"/>
          <p:cNvSpPr/>
          <p:nvPr/>
        </p:nvSpPr>
        <p:spPr>
          <a:xfrm>
            <a:off x="4297680" y="1371600"/>
            <a:ext cx="3520440" cy="2057400"/>
          </a:xfrm>
          <a:prstGeom prst="roundRect">
            <a:avLst>
              <a:gd name="adj" fmla="val 5333"/>
            </a:avLst>
          </a:prstGeom>
          <a:solidFill>
            <a:schemeClr val="bg2"/>
          </a:solidFill>
          <a:ln w="12700">
            <a:solidFill>
              <a:schemeClr val="bg2"/>
            </a:solidFill>
            <a:prstDash val="solid"/>
          </a:ln>
        </p:spPr>
      </p:sp>
      <p:sp>
        <p:nvSpPr>
          <p:cNvPr id="9" name="page-1-circle"/>
          <p:cNvSpPr/>
          <p:nvPr/>
        </p:nvSpPr>
        <p:spPr>
          <a:xfrm>
            <a:off x="4526280" y="1600200"/>
            <a:ext cx="594360" cy="594360"/>
          </a:xfrm>
          <a:prstGeom prst="ellipse">
            <a:avLst/>
          </a:prstGeom>
          <a:solidFill>
            <a:schemeClr val="accent1"/>
          </a:solidFill>
          <a:ln w="12700">
            <a:solidFill>
              <a:schemeClr val="accent1"/>
            </a:solidFill>
            <a:prstDash val="solid"/>
          </a:ln>
        </p:spPr>
      </p:sp>
      <p:pic>
        <p:nvPicPr>
          <p:cNvPr id="10" name="page-1-icon" descr="preencoded.png">    </p:cNvPr>
          <p:cNvPicPr>
            <a:picLocks noChangeAspect="1"/>
          </p:cNvPicPr>
          <p:nvPr/>
        </p:nvPicPr>
        <p:blipFill>
          <a:blip r:embed="rId2"/>
          <a:stretch>
            <a:fillRect/>
          </a:stretch>
        </p:blipFill>
        <p:spPr>
          <a:xfrm>
            <a:off x="4674870" y="1748790"/>
            <a:ext cx="297180" cy="297180"/>
          </a:xfrm>
          <a:prstGeom prst="rect">
            <a:avLst/>
          </a:prstGeom>
        </p:spPr>
      </p:pic>
      <p:sp>
        <p:nvSpPr>
          <p:cNvPr id="11" name="Text 7"/>
          <p:cNvSpPr txBox="1"/>
          <p:nvPr/>
        </p:nvSpPr>
        <p:spPr>
          <a:xfrm>
            <a:off x="4526280" y="2331720"/>
            <a:ext cx="3108960" cy="365760"/>
          </a:xfrm>
          <a:prstGeom prst="rect">
            <a:avLst/>
          </a:prstGeom>
          <a:noFill/>
          <a:ln/>
        </p:spPr>
        <p:txBody>
          <a:bodyPr wrap="square" lIns="0" tIns="0" rIns="0" bIns="0" rtlCol="0" anchor="t"/>
          <a:lstStyle/>
          <a:p>
            <a:pPr indent="0" marL="0">
              <a:buNone/>
            </a:pPr>
            <a:r>
              <a:rPr lang="en-US" sz="1700" b="1" dirty="0">
                <a:solidFill>
                  <a:schemeClr val="tx2"/>
                </a:solidFill>
              </a:rPr>
              <a:t>Registre des menaces</a:t>
            </a:r>
            <a:endParaRPr lang="en-US" sz="1700" dirty="0"/>
          </a:p>
        </p:txBody>
      </p:sp>
      <p:sp>
        <p:nvSpPr>
          <p:cNvPr id="12" name="Text 8"/>
          <p:cNvSpPr txBox="1"/>
          <p:nvPr/>
        </p:nvSpPr>
        <p:spPr>
          <a:xfrm>
            <a:off x="4526280" y="2743200"/>
            <a:ext cx="3108960" cy="594360"/>
          </a:xfrm>
          <a:prstGeom prst="rect">
            <a:avLst/>
          </a:prstGeom>
          <a:noFill/>
          <a:ln/>
        </p:spPr>
        <p:txBody>
          <a:bodyPr wrap="square" lIns="0" tIns="0" rIns="0" bIns="0" rtlCol="0" anchor="t"/>
          <a:lstStyle/>
          <a:p>
            <a:pPr indent="0" marL="0">
              <a:buNone/>
            </a:pPr>
            <a:r>
              <a:rPr lang="en-US" sz="1400" dirty="0">
                <a:solidFill>
                  <a:schemeClr val="tx1"/>
                </a:solidFill>
              </a:rPr>
              <a:t>Filtres par niveau, type, source ; pagination</a:t>
            </a:r>
            <a:endParaRPr lang="en-US" sz="1400" dirty="0"/>
          </a:p>
        </p:txBody>
      </p:sp>
      <p:sp>
        <p:nvSpPr>
          <p:cNvPr id="13" name="page-2"/>
          <p:cNvSpPr/>
          <p:nvPr/>
        </p:nvSpPr>
        <p:spPr>
          <a:xfrm>
            <a:off x="8046720" y="1371600"/>
            <a:ext cx="3520440" cy="2057400"/>
          </a:xfrm>
          <a:prstGeom prst="roundRect">
            <a:avLst>
              <a:gd name="adj" fmla="val 5333"/>
            </a:avLst>
          </a:prstGeom>
          <a:solidFill>
            <a:schemeClr val="bg2"/>
          </a:solidFill>
          <a:ln w="12700">
            <a:solidFill>
              <a:schemeClr val="bg2"/>
            </a:solidFill>
            <a:prstDash val="solid"/>
          </a:ln>
        </p:spPr>
      </p:sp>
      <p:sp>
        <p:nvSpPr>
          <p:cNvPr id="14" name="page-2-circle"/>
          <p:cNvSpPr/>
          <p:nvPr/>
        </p:nvSpPr>
        <p:spPr>
          <a:xfrm>
            <a:off x="8275320" y="1600200"/>
            <a:ext cx="594360" cy="594360"/>
          </a:xfrm>
          <a:prstGeom prst="ellipse">
            <a:avLst/>
          </a:prstGeom>
          <a:solidFill>
            <a:schemeClr val="accent1"/>
          </a:solidFill>
          <a:ln w="12700">
            <a:solidFill>
              <a:schemeClr val="accent1"/>
            </a:solidFill>
            <a:prstDash val="solid"/>
          </a:ln>
        </p:spPr>
      </p:sp>
      <p:pic>
        <p:nvPicPr>
          <p:cNvPr id="15" name="page-2-icon" descr="preencoded.png">    </p:cNvPr>
          <p:cNvPicPr>
            <a:picLocks noChangeAspect="1"/>
          </p:cNvPicPr>
          <p:nvPr/>
        </p:nvPicPr>
        <p:blipFill>
          <a:blip r:embed="rId3"/>
          <a:stretch>
            <a:fillRect/>
          </a:stretch>
        </p:blipFill>
        <p:spPr>
          <a:xfrm>
            <a:off x="8423910" y="1748790"/>
            <a:ext cx="297180" cy="297180"/>
          </a:xfrm>
          <a:prstGeom prst="rect">
            <a:avLst/>
          </a:prstGeom>
        </p:spPr>
      </p:pic>
      <p:sp>
        <p:nvSpPr>
          <p:cNvPr id="16" name="Text 11"/>
          <p:cNvSpPr txBox="1"/>
          <p:nvPr/>
        </p:nvSpPr>
        <p:spPr>
          <a:xfrm>
            <a:off x="8275320" y="2331720"/>
            <a:ext cx="3108960" cy="365760"/>
          </a:xfrm>
          <a:prstGeom prst="rect">
            <a:avLst/>
          </a:prstGeom>
          <a:noFill/>
          <a:ln/>
        </p:spPr>
        <p:txBody>
          <a:bodyPr wrap="square" lIns="0" tIns="0" rIns="0" bIns="0" rtlCol="0" anchor="t"/>
          <a:lstStyle/>
          <a:p>
            <a:pPr indent="0" marL="0">
              <a:buNone/>
            </a:pPr>
            <a:r>
              <a:rPr lang="en-US" sz="1700" b="1" dirty="0">
                <a:solidFill>
                  <a:schemeClr val="tx2"/>
                </a:solidFill>
              </a:rPr>
              <a:t>Détail d'une menace</a:t>
            </a:r>
            <a:endParaRPr lang="en-US" sz="1700" dirty="0"/>
          </a:p>
        </p:txBody>
      </p:sp>
      <p:sp>
        <p:nvSpPr>
          <p:cNvPr id="17" name="Text 12"/>
          <p:cNvSpPr txBox="1"/>
          <p:nvPr/>
        </p:nvSpPr>
        <p:spPr>
          <a:xfrm>
            <a:off x="8275320" y="2743200"/>
            <a:ext cx="3108960" cy="594360"/>
          </a:xfrm>
          <a:prstGeom prst="rect">
            <a:avLst/>
          </a:prstGeom>
          <a:noFill/>
          <a:ln/>
        </p:spPr>
        <p:txBody>
          <a:bodyPr wrap="square" lIns="0" tIns="0" rIns="0" bIns="0" rtlCol="0" anchor="t"/>
          <a:lstStyle/>
          <a:p>
            <a:pPr indent="0" marL="0">
              <a:buNone/>
            </a:pPr>
            <a:r>
              <a:rPr lang="en-US" sz="1400" dirty="0">
                <a:solidFill>
                  <a:schemeClr val="tx1"/>
                </a:solidFill>
              </a:rPr>
              <a:t>Score, facteurs et action recommandée</a:t>
            </a:r>
            <a:endParaRPr lang="en-US" sz="1400" dirty="0"/>
          </a:p>
        </p:txBody>
      </p:sp>
      <p:sp>
        <p:nvSpPr>
          <p:cNvPr id="18" name="page-3"/>
          <p:cNvSpPr/>
          <p:nvPr/>
        </p:nvSpPr>
        <p:spPr>
          <a:xfrm>
            <a:off x="548640" y="3611880"/>
            <a:ext cx="3520440" cy="2057400"/>
          </a:xfrm>
          <a:prstGeom prst="roundRect">
            <a:avLst>
              <a:gd name="adj" fmla="val 5333"/>
            </a:avLst>
          </a:prstGeom>
          <a:solidFill>
            <a:schemeClr val="bg2"/>
          </a:solidFill>
          <a:ln w="12700">
            <a:solidFill>
              <a:schemeClr val="bg2"/>
            </a:solidFill>
            <a:prstDash val="solid"/>
          </a:ln>
        </p:spPr>
      </p:sp>
      <p:sp>
        <p:nvSpPr>
          <p:cNvPr id="19" name="page-3-circle"/>
          <p:cNvSpPr/>
          <p:nvPr/>
        </p:nvSpPr>
        <p:spPr>
          <a:xfrm>
            <a:off x="777240" y="3840480"/>
            <a:ext cx="594360" cy="594360"/>
          </a:xfrm>
          <a:prstGeom prst="ellipse">
            <a:avLst/>
          </a:prstGeom>
          <a:solidFill>
            <a:schemeClr val="accent1"/>
          </a:solidFill>
          <a:ln w="12700">
            <a:solidFill>
              <a:schemeClr val="accent1"/>
            </a:solidFill>
            <a:prstDash val="solid"/>
          </a:ln>
        </p:spPr>
      </p:sp>
      <p:pic>
        <p:nvPicPr>
          <p:cNvPr id="20" name="page-3-icon" descr="preencoded.png">    </p:cNvPr>
          <p:cNvPicPr>
            <a:picLocks noChangeAspect="1"/>
          </p:cNvPicPr>
          <p:nvPr/>
        </p:nvPicPr>
        <p:blipFill>
          <a:blip r:embed="rId4"/>
          <a:stretch>
            <a:fillRect/>
          </a:stretch>
        </p:blipFill>
        <p:spPr>
          <a:xfrm>
            <a:off x="925830" y="3989070"/>
            <a:ext cx="297180" cy="297180"/>
          </a:xfrm>
          <a:prstGeom prst="rect">
            <a:avLst/>
          </a:prstGeom>
        </p:spPr>
      </p:pic>
      <p:sp>
        <p:nvSpPr>
          <p:cNvPr id="21" name="Text 15"/>
          <p:cNvSpPr txBox="1"/>
          <p:nvPr/>
        </p:nvSpPr>
        <p:spPr>
          <a:xfrm>
            <a:off x="777240" y="4572000"/>
            <a:ext cx="3108960" cy="365760"/>
          </a:xfrm>
          <a:prstGeom prst="rect">
            <a:avLst/>
          </a:prstGeom>
          <a:noFill/>
          <a:ln/>
        </p:spPr>
        <p:txBody>
          <a:bodyPr wrap="square" lIns="0" tIns="0" rIns="0" bIns="0" rtlCol="0" anchor="t"/>
          <a:lstStyle/>
          <a:p>
            <a:pPr indent="0" marL="0">
              <a:buNone/>
            </a:pPr>
            <a:r>
              <a:rPr lang="en-US" sz="1700" b="1" dirty="0">
                <a:solidFill>
                  <a:schemeClr val="tx2"/>
                </a:solidFill>
              </a:rPr>
              <a:t>Centre d'alertes</a:t>
            </a:r>
            <a:endParaRPr lang="en-US" sz="1700" dirty="0"/>
          </a:p>
        </p:txBody>
      </p:sp>
      <p:sp>
        <p:nvSpPr>
          <p:cNvPr id="22" name="Text 16"/>
          <p:cNvSpPr txBox="1"/>
          <p:nvPr/>
        </p:nvSpPr>
        <p:spPr>
          <a:xfrm>
            <a:off x="777240" y="4983480"/>
            <a:ext cx="3108960" cy="594360"/>
          </a:xfrm>
          <a:prstGeom prst="rect">
            <a:avLst/>
          </a:prstGeom>
          <a:noFill/>
          <a:ln/>
        </p:spPr>
        <p:txBody>
          <a:bodyPr wrap="square" lIns="0" tIns="0" rIns="0" bIns="0" rtlCol="0" anchor="t"/>
          <a:lstStyle/>
          <a:p>
            <a:pPr indent="0" marL="0">
              <a:buNone/>
            </a:pPr>
            <a:r>
              <a:rPr lang="en-US" sz="1400" dirty="0">
                <a:solidFill>
                  <a:schemeClr val="tx1"/>
                </a:solidFill>
              </a:rPr>
              <a:t>Alertes élevées et critiques, acquittement</a:t>
            </a:r>
            <a:endParaRPr lang="en-US" sz="1400" dirty="0"/>
          </a:p>
        </p:txBody>
      </p:sp>
      <p:sp>
        <p:nvSpPr>
          <p:cNvPr id="23" name="page-4"/>
          <p:cNvSpPr/>
          <p:nvPr/>
        </p:nvSpPr>
        <p:spPr>
          <a:xfrm>
            <a:off x="4297680" y="3611880"/>
            <a:ext cx="3520440" cy="2057400"/>
          </a:xfrm>
          <a:prstGeom prst="roundRect">
            <a:avLst>
              <a:gd name="adj" fmla="val 5333"/>
            </a:avLst>
          </a:prstGeom>
          <a:solidFill>
            <a:schemeClr val="bg2"/>
          </a:solidFill>
          <a:ln w="12700">
            <a:solidFill>
              <a:schemeClr val="bg2"/>
            </a:solidFill>
            <a:prstDash val="solid"/>
          </a:ln>
        </p:spPr>
      </p:sp>
      <p:sp>
        <p:nvSpPr>
          <p:cNvPr id="24" name="page-4-circle"/>
          <p:cNvSpPr/>
          <p:nvPr/>
        </p:nvSpPr>
        <p:spPr>
          <a:xfrm>
            <a:off x="4526280" y="3840480"/>
            <a:ext cx="594360" cy="594360"/>
          </a:xfrm>
          <a:prstGeom prst="ellipse">
            <a:avLst/>
          </a:prstGeom>
          <a:solidFill>
            <a:schemeClr val="accent1"/>
          </a:solidFill>
          <a:ln w="12700">
            <a:solidFill>
              <a:schemeClr val="accent1"/>
            </a:solidFill>
            <a:prstDash val="solid"/>
          </a:ln>
        </p:spPr>
      </p:sp>
      <p:pic>
        <p:nvPicPr>
          <p:cNvPr id="25" name="page-4-icon" descr="preencoded.png">    </p:cNvPr>
          <p:cNvPicPr>
            <a:picLocks noChangeAspect="1"/>
          </p:cNvPicPr>
          <p:nvPr/>
        </p:nvPicPr>
        <p:blipFill>
          <a:blip r:embed="rId5"/>
          <a:stretch>
            <a:fillRect/>
          </a:stretch>
        </p:blipFill>
        <p:spPr>
          <a:xfrm>
            <a:off x="4674870" y="3989070"/>
            <a:ext cx="297180" cy="297180"/>
          </a:xfrm>
          <a:prstGeom prst="rect">
            <a:avLst/>
          </a:prstGeom>
        </p:spPr>
      </p:pic>
      <p:sp>
        <p:nvSpPr>
          <p:cNvPr id="26" name="Text 19"/>
          <p:cNvSpPr txBox="1"/>
          <p:nvPr/>
        </p:nvSpPr>
        <p:spPr>
          <a:xfrm>
            <a:off x="4526280" y="4572000"/>
            <a:ext cx="3108960" cy="365760"/>
          </a:xfrm>
          <a:prstGeom prst="rect">
            <a:avLst/>
          </a:prstGeom>
          <a:noFill/>
          <a:ln/>
        </p:spPr>
        <p:txBody>
          <a:bodyPr wrap="square" lIns="0" tIns="0" rIns="0" bIns="0" rtlCol="0" anchor="t"/>
          <a:lstStyle/>
          <a:p>
            <a:pPr indent="0" marL="0">
              <a:buNone/>
            </a:pPr>
            <a:r>
              <a:rPr lang="en-US" sz="1700" b="1" dirty="0">
                <a:solidFill>
                  <a:schemeClr val="tx2"/>
                </a:solidFill>
              </a:rPr>
              <a:t>Sources de veille</a:t>
            </a:r>
            <a:endParaRPr lang="en-US" sz="1700" dirty="0"/>
          </a:p>
        </p:txBody>
      </p:sp>
      <p:sp>
        <p:nvSpPr>
          <p:cNvPr id="27" name="Text 20"/>
          <p:cNvSpPr txBox="1"/>
          <p:nvPr/>
        </p:nvSpPr>
        <p:spPr>
          <a:xfrm>
            <a:off x="4526280" y="4983480"/>
            <a:ext cx="3108960" cy="594360"/>
          </a:xfrm>
          <a:prstGeom prst="rect">
            <a:avLst/>
          </a:prstGeom>
          <a:noFill/>
          <a:ln/>
        </p:spPr>
        <p:txBody>
          <a:bodyPr wrap="square" lIns="0" tIns="0" rIns="0" bIns="0" rtlCol="0" anchor="t"/>
          <a:lstStyle/>
          <a:p>
            <a:pPr indent="0" marL="0">
              <a:buNone/>
            </a:pPr>
            <a:r>
              <a:rPr lang="en-US" sz="1400" dirty="0">
                <a:solidFill>
                  <a:schemeClr val="tx1"/>
                </a:solidFill>
              </a:rPr>
              <a:t>État des collecteurs, collecte à la demande</a:t>
            </a:r>
            <a:endParaRPr lang="en-US" sz="1400" dirty="0"/>
          </a:p>
        </p:txBody>
      </p:sp>
      <p:sp>
        <p:nvSpPr>
          <p:cNvPr id="28" name="page-5"/>
          <p:cNvSpPr/>
          <p:nvPr/>
        </p:nvSpPr>
        <p:spPr>
          <a:xfrm>
            <a:off x="8046720" y="3611880"/>
            <a:ext cx="3520440" cy="2057400"/>
          </a:xfrm>
          <a:prstGeom prst="roundRect">
            <a:avLst>
              <a:gd name="adj" fmla="val 5333"/>
            </a:avLst>
          </a:prstGeom>
          <a:solidFill>
            <a:schemeClr val="bg2"/>
          </a:solidFill>
          <a:ln w="12700">
            <a:solidFill>
              <a:schemeClr val="bg2"/>
            </a:solidFill>
            <a:prstDash val="solid"/>
          </a:ln>
        </p:spPr>
      </p:sp>
      <p:sp>
        <p:nvSpPr>
          <p:cNvPr id="29" name="page-5-circle"/>
          <p:cNvSpPr/>
          <p:nvPr/>
        </p:nvSpPr>
        <p:spPr>
          <a:xfrm>
            <a:off x="8275320" y="3840480"/>
            <a:ext cx="594360" cy="594360"/>
          </a:xfrm>
          <a:prstGeom prst="ellipse">
            <a:avLst/>
          </a:prstGeom>
          <a:solidFill>
            <a:schemeClr val="accent1"/>
          </a:solidFill>
          <a:ln w="12700">
            <a:solidFill>
              <a:schemeClr val="accent1"/>
            </a:solidFill>
            <a:prstDash val="solid"/>
          </a:ln>
        </p:spPr>
      </p:sp>
      <p:pic>
        <p:nvPicPr>
          <p:cNvPr id="30" name="page-5-icon" descr="preencoded.png">    </p:cNvPr>
          <p:cNvPicPr>
            <a:picLocks noChangeAspect="1"/>
          </p:cNvPicPr>
          <p:nvPr/>
        </p:nvPicPr>
        <p:blipFill>
          <a:blip r:embed="rId6"/>
          <a:stretch>
            <a:fillRect/>
          </a:stretch>
        </p:blipFill>
        <p:spPr>
          <a:xfrm>
            <a:off x="8423910" y="3989070"/>
            <a:ext cx="297180" cy="297180"/>
          </a:xfrm>
          <a:prstGeom prst="rect">
            <a:avLst/>
          </a:prstGeom>
        </p:spPr>
      </p:pic>
      <p:sp>
        <p:nvSpPr>
          <p:cNvPr id="31" name="Text 23"/>
          <p:cNvSpPr txBox="1"/>
          <p:nvPr/>
        </p:nvSpPr>
        <p:spPr>
          <a:xfrm>
            <a:off x="8275320" y="4572000"/>
            <a:ext cx="3108960" cy="365760"/>
          </a:xfrm>
          <a:prstGeom prst="rect">
            <a:avLst/>
          </a:prstGeom>
          <a:noFill/>
          <a:ln/>
        </p:spPr>
        <p:txBody>
          <a:bodyPr wrap="square" lIns="0" tIns="0" rIns="0" bIns="0" rtlCol="0" anchor="t"/>
          <a:lstStyle/>
          <a:p>
            <a:pPr indent="0" marL="0">
              <a:buNone/>
            </a:pPr>
            <a:r>
              <a:rPr lang="en-US" sz="1700" b="1" dirty="0">
                <a:solidFill>
                  <a:schemeClr val="tx2"/>
                </a:solidFill>
              </a:rPr>
              <a:t>Fiches réflexes</a:t>
            </a:r>
            <a:endParaRPr lang="en-US" sz="1700" dirty="0"/>
          </a:p>
        </p:txBody>
      </p:sp>
      <p:sp>
        <p:nvSpPr>
          <p:cNvPr id="32" name="Text 24"/>
          <p:cNvSpPr txBox="1"/>
          <p:nvPr/>
        </p:nvSpPr>
        <p:spPr>
          <a:xfrm>
            <a:off x="8275320" y="4983480"/>
            <a:ext cx="3108960" cy="594360"/>
          </a:xfrm>
          <a:prstGeom prst="rect">
            <a:avLst/>
          </a:prstGeom>
          <a:noFill/>
          <a:ln/>
        </p:spPr>
        <p:txBody>
          <a:bodyPr wrap="square" lIns="0" tIns="0" rIns="0" bIns="0" rtlCol="0" anchor="t"/>
          <a:lstStyle/>
          <a:p>
            <a:pPr indent="0" marL="0">
              <a:buNone/>
            </a:pPr>
            <a:r>
              <a:rPr lang="en-US" sz="1400" dirty="0">
                <a:solidFill>
                  <a:schemeClr val="tx1"/>
                </a:solidFill>
              </a:rPr>
              <a:t>Conduite à tenir par type de menace</a:t>
            </a:r>
            <a:endParaRPr lang="en-US" sz="1400" dirty="0"/>
          </a:p>
        </p:txBody>
      </p:sp>
      <p:sp>
        <p:nvSpPr>
          <p:cNvPr id="33" name="Text 25"/>
          <p:cNvSpPr txBox="1"/>
          <p:nvPr/>
        </p:nvSpPr>
        <p:spPr>
          <a:xfrm>
            <a:off x="548640" y="5897880"/>
            <a:ext cx="11064240" cy="320040"/>
          </a:xfrm>
          <a:prstGeom prst="rect">
            <a:avLst/>
          </a:prstGeom>
          <a:noFill/>
          <a:ln/>
        </p:spPr>
        <p:txBody>
          <a:bodyPr wrap="square" lIns="0" tIns="0" rIns="0" bIns="0" rtlCol="0" anchor="t"/>
          <a:lstStyle/>
          <a:p>
            <a:pPr indent="0" marL="0">
              <a:buNone/>
            </a:pPr>
            <a:r>
              <a:rPr lang="en-US" sz="1300" i="1" dirty="0">
                <a:solidFill>
                  <a:schemeClr val="accent5"/>
                </a:solidFill>
              </a:rPr>
              <a:t>React 19, TypeScript, Vite, Tailwind CSS, Axios ; le risque est calculé côté serveur, jamais dans le navigateur.</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000" b="1" dirty="0">
                <a:solidFill>
                  <a:schemeClr val="tx2"/>
                </a:solidFill>
              </a:rPr>
              <a:t>Volet ML : détecter les URLs de phishing</a:t>
            </a:r>
            <a:endParaRPr lang="en-US" sz="3000" dirty="0"/>
          </a:p>
        </p:txBody>
      </p:sp>
      <p:graphicFrame>
        <p:nvGraphicFramePr>
          <p:cNvPr id="3" name="ml-chart" descr=""/>
          <p:cNvGraphicFramePr/>
          <p:nvPr/>
        </p:nvGraphicFramePr>
        <p:xfrm>
          <a:off x="548640" y="1325880"/>
          <a:ext cx="6766560" cy="4754880"/>
        </p:xfrm>
        <a:graphic xmlns:a="http://schemas.openxmlformats.org/drawingml/2006/main">
          <a:graphicData uri="http://schemas.openxmlformats.org/drawingml/2006/chart">
            <c:chart xmlns:c="http://schemas.openxmlformats.org/drawingml/2006/chart" r:id="rId1"/>
          </a:graphicData>
        </a:graphic>
      </p:graphicFrame>
      <p:sp>
        <p:nvSpPr>
          <p:cNvPr id="4" name="ml-facts"/>
          <p:cNvSpPr/>
          <p:nvPr/>
        </p:nvSpPr>
        <p:spPr>
          <a:xfrm>
            <a:off x="7680960" y="1371600"/>
            <a:ext cx="3931920" cy="4663440"/>
          </a:xfrm>
          <a:prstGeom prst="roundRect">
            <a:avLst>
              <a:gd name="adj" fmla="val 2791"/>
            </a:avLst>
          </a:prstGeom>
          <a:solidFill>
            <a:schemeClr val="bg2"/>
          </a:solidFill>
          <a:ln w="12700">
            <a:solidFill>
              <a:schemeClr val="bg2"/>
            </a:solidFill>
            <a:prstDash val="solid"/>
          </a:ln>
        </p:spPr>
      </p:sp>
      <p:sp>
        <p:nvSpPr>
          <p:cNvPr id="5" name="Text 2"/>
          <p:cNvSpPr txBox="1"/>
          <p:nvPr/>
        </p:nvSpPr>
        <p:spPr>
          <a:xfrm>
            <a:off x="7955280" y="1554480"/>
            <a:ext cx="3474720" cy="365760"/>
          </a:xfrm>
          <a:prstGeom prst="rect">
            <a:avLst/>
          </a:prstGeom>
          <a:noFill/>
          <a:ln/>
        </p:spPr>
        <p:txBody>
          <a:bodyPr wrap="square" lIns="0" tIns="0" rIns="0" bIns="0" rtlCol="0" anchor="t"/>
          <a:lstStyle/>
          <a:p>
            <a:pPr indent="0" marL="0">
              <a:buNone/>
            </a:pPr>
            <a:r>
              <a:rPr lang="en-US" sz="1800" b="1" dirty="0">
                <a:solidFill>
                  <a:schemeClr val="tx2"/>
                </a:solidFill>
              </a:rPr>
              <a:t>La démarche</a:t>
            </a:r>
            <a:endParaRPr lang="en-US" sz="1800" dirty="0"/>
          </a:p>
        </p:txBody>
      </p:sp>
      <p:sp>
        <p:nvSpPr>
          <p:cNvPr id="6" name="Text 3"/>
          <p:cNvSpPr txBox="1"/>
          <p:nvPr/>
        </p:nvSpPr>
        <p:spPr>
          <a:xfrm>
            <a:off x="7955280" y="2057400"/>
            <a:ext cx="3474720" cy="3840480"/>
          </a:xfrm>
          <a:prstGeom prst="rect">
            <a:avLst/>
          </a:prstGeom>
          <a:noFill/>
          <a:ln/>
        </p:spPr>
        <p:txBody>
          <a:bodyPr wrap="square" lIns="0" tIns="0" rIns="0" bIns="0" rtlCol="0" anchor="t"/>
          <a:lstStyle/>
          <a:p>
            <a:pPr marL="342900" indent="-342900">
              <a:spcAft>
                <a:spcPts val="800"/>
              </a:spcAft>
              <a:buSzPct val="100000"/>
              <a:buChar char="•"/>
            </a:pPr>
            <a:r>
              <a:rPr lang="en-US" sz="1350" dirty="0">
                <a:solidFill>
                  <a:schemeClr val="tx1"/>
                </a:solidFill>
              </a:rPr>
              <a:t>507 196 URLs étiquetées (77 % légitimes, 23 % phishing), 80/20 stratifié</a:t>
            </a:r>
            <a:endParaRPr lang="en-US" sz="1350" dirty="0"/>
          </a:p>
          <a:p>
            <a:pPr marL="342900" indent="-342900">
              <a:spcAft>
                <a:spcPts val="800"/>
              </a:spcAft>
              <a:buSzPct val="100000"/>
              <a:buChar char="•"/>
            </a:pPr>
            <a:r>
              <a:rPr lang="en-US" sz="1350" dirty="0">
                <a:solidFill>
                  <a:schemeClr val="tx1"/>
                </a:solidFill>
              </a:rPr>
              <a:t>13 caractéristiques structurelles par URL</a:t>
            </a:r>
            <a:endParaRPr lang="en-US" sz="1350" dirty="0"/>
          </a:p>
          <a:p>
            <a:pPr marL="342900" indent="-342900">
              <a:spcAft>
                <a:spcPts val="800"/>
              </a:spcAft>
              <a:buSzPct val="100000"/>
              <a:buChar char="•"/>
            </a:pPr>
            <a:r>
              <a:rPr lang="en-US" sz="1350" dirty="0">
                <a:solidFill>
                  <a:schemeClr val="tx1"/>
                </a:solidFill>
              </a:rPr>
              <a:t>Seuil abaissé à 0,30 : moins de menaces manquées, plus de fausses alertes</a:t>
            </a:r>
            <a:endParaRPr lang="en-US" sz="1350" dirty="0"/>
          </a:p>
          <a:p>
            <a:pPr marL="342900" indent="-342900">
              <a:spcAft>
                <a:spcPts val="800"/>
              </a:spcAft>
              <a:buSzPct val="100000"/>
              <a:buChar char="•"/>
            </a:pPr>
            <a:r>
              <a:rPr lang="en-US" sz="1350" dirty="0">
                <a:solidFill>
                  <a:schemeClr val="tx1"/>
                </a:solidFill>
              </a:rPr>
              <a:t>Modèle, caractéristiques et seuil sauvegardés ensemble</a:t>
            </a:r>
            <a:endParaRPr lang="en-US" sz="1350" dirty="0"/>
          </a:p>
          <a:p>
            <a:pPr marL="342900" indent="-342900">
              <a:spcAft>
                <a:spcPts val="800"/>
              </a:spcAft>
              <a:buSzPct val="100000"/>
              <a:buChar char="•"/>
            </a:pPr>
            <a:r>
              <a:rPr lang="en-US" sz="1350" dirty="0">
                <a:solidFill>
                  <a:schemeClr val="tx1"/>
                </a:solidFill>
              </a:rPr>
              <a:t>Dashboard Streamlit, alerte e-mail, 26 tests sur 26</a:t>
            </a:r>
            <a:endParaRPr lang="en-US" sz="135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000" b="1" dirty="0">
                <a:solidFill>
                  <a:schemeClr val="tx2"/>
                </a:solidFill>
              </a:rPr>
              <a:t>Analyse critique : ce qu'il faut renforcer</a:t>
            </a:r>
            <a:endParaRPr lang="en-US" sz="3000" dirty="0"/>
          </a:p>
        </p:txBody>
      </p:sp>
      <p:graphicFrame>
        <p:nvGraphicFramePr>
          <p:cNvPr id="15" name="lim-table"/>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1463040"/>
                <a:gridCol w="5029200"/>
                <a:gridCol w="4572000"/>
              </a:tblGrid>
              <a:tr h="594360">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Priorité</a:t>
                      </a:r>
                      <a:endParaRPr lang="en-US" sz="1400" dirty="0">
                        <a:latin typeface="Calibri" charset="0"/>
                        <a:ea typeface="Calibri" charset="0"/>
                        <a:cs typeface="Calibri" charset="0"/>
                      </a:endParaRPr>
                    </a:p>
                  </a:txBody>
                  <a:tcPr marL="91440" marR="91440" marT="0" marB="0" anchor="ctr">
                    <a:lnL w="9525" cap="flat" cmpd="sng" algn="ctr">
                      <a:solidFill>
                        <a:srgbClr val="C8D2E0"/>
                      </a:solidFill>
                      <a:prstDash val="solid"/>
                      <a:round/>
                      <a:headEnd type="none" w="med" len="med"/>
                      <a:tailEnd type="none" w="med" len="med"/>
                    </a:lnL>
                    <a:lnR w="9525" cap="flat" cmpd="sng" algn="ctr">
                      <a:solidFill>
                        <a:srgbClr val="C8D2E0"/>
                      </a:solidFill>
                      <a:prstDash val="solid"/>
                      <a:round/>
                      <a:headEnd type="none" w="med" len="med"/>
                      <a:tailEnd type="none" w="med" len="med"/>
                    </a:lnR>
                    <a:lnT w="9525" cap="flat" cmpd="sng" algn="ctr">
                      <a:solidFill>
                        <a:srgbClr val="C8D2E0"/>
                      </a:solidFill>
                      <a:prstDash val="solid"/>
                      <a:round/>
                      <a:headEnd type="none" w="med" len="med"/>
                      <a:tailEnd type="none" w="med" len="med"/>
                    </a:lnT>
                    <a:lnB w="9525" cap="flat" cmpd="sng" algn="ctr">
                      <a:solidFill>
                        <a:srgbClr val="C8D2E0"/>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Constat dans le code</a:t>
                      </a:r>
                      <a:endParaRPr lang="en-US" sz="1400" dirty="0">
                        <a:latin typeface="Calibri" charset="0"/>
                        <a:ea typeface="Calibri" charset="0"/>
                        <a:cs typeface="Calibri" charset="0"/>
                      </a:endParaRPr>
                    </a:p>
                  </a:txBody>
                  <a:tcPr marL="91440" marR="91440" marT="0" marB="0" anchor="ctr">
                    <a:lnL w="9525" cap="flat" cmpd="sng" algn="ctr">
                      <a:solidFill>
                        <a:srgbClr val="C8D2E0"/>
                      </a:solidFill>
                      <a:prstDash val="solid"/>
                      <a:round/>
                      <a:headEnd type="none" w="med" len="med"/>
                      <a:tailEnd type="none" w="med" len="med"/>
                    </a:lnL>
                    <a:lnR w="9525" cap="flat" cmpd="sng" algn="ctr">
                      <a:solidFill>
                        <a:srgbClr val="C8D2E0"/>
                      </a:solidFill>
                      <a:prstDash val="solid"/>
                      <a:round/>
                      <a:headEnd type="none" w="med" len="med"/>
                      <a:tailEnd type="none" w="med" len="med"/>
                    </a:lnR>
                    <a:lnT w="9525" cap="flat" cmpd="sng" algn="ctr">
                      <a:solidFill>
                        <a:srgbClr val="C8D2E0"/>
                      </a:solidFill>
                      <a:prstDash val="solid"/>
                      <a:round/>
                      <a:headEnd type="none" w="med" len="med"/>
                      <a:tailEnd type="none" w="med" len="med"/>
                    </a:lnT>
                    <a:lnB w="9525" cap="flat" cmpd="sng" algn="ctr">
                      <a:solidFill>
                        <a:srgbClr val="C8D2E0"/>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Amélioration proposée</a:t>
                      </a:r>
                      <a:endParaRPr lang="en-US" sz="1400" dirty="0">
                        <a:latin typeface="Calibri" charset="0"/>
                        <a:ea typeface="Calibri" charset="0"/>
                        <a:cs typeface="Calibri" charset="0"/>
                      </a:endParaRPr>
                    </a:p>
                  </a:txBody>
                  <a:tcPr marL="91440" marR="91440" marT="0" marB="0" anchor="ctr">
                    <a:lnL w="9525" cap="flat" cmpd="sng" algn="ctr">
                      <a:solidFill>
                        <a:srgbClr val="C8D2E0"/>
                      </a:solidFill>
                      <a:prstDash val="solid"/>
                      <a:round/>
                      <a:headEnd type="none" w="med" len="med"/>
                      <a:tailEnd type="none" w="med" len="med"/>
                    </a:lnL>
                    <a:lnR w="9525" cap="flat" cmpd="sng" algn="ctr">
                      <a:solidFill>
                        <a:srgbClr val="C8D2E0"/>
                      </a:solidFill>
                      <a:prstDash val="solid"/>
                      <a:round/>
                      <a:headEnd type="none" w="med" len="med"/>
                      <a:tailEnd type="none" w="med" len="med"/>
                    </a:lnR>
                    <a:lnT w="9525" cap="flat" cmpd="sng" algn="ctr">
                      <a:solidFill>
                        <a:srgbClr val="C8D2E0"/>
                      </a:solidFill>
                      <a:prstDash val="solid"/>
                      <a:round/>
                      <a:headEnd type="none" w="med" len="med"/>
                      <a:tailEnd type="none" w="med" len="med"/>
                    </a:lnT>
                    <a:lnB w="9525" cap="flat" cmpd="sng" algn="ctr">
                      <a:solidFill>
                        <a:srgbClr val="C8D2E0"/>
                      </a:solidFill>
                      <a:prstDash val="solid"/>
                      <a:round/>
                      <a:headEnd type="none" w="med" len="med"/>
                      <a:tailEnd type="none" w="med" len="med"/>
                    </a:lnB>
                    <a:solidFill>
                      <a:schemeClr val="tx2"/>
                    </a:solidFill>
                  </a:tcPr>
                </a:tc>
              </a:tr>
              <a:tr h="594360">
                <a:tc>
                  <a:txBody>
                    <a:bodyPr/>
                    <a:lstStyle/>
                    <a:p>
                      <a:pPr indent="0" marL="0">
                        <a:buNone/>
                      </a:pPr>
                      <a:r>
                        <a:rPr lang="en-US" sz="1400" b="1" dirty="0">
                          <a:solidFill>
                            <a:schemeClr val="accent4"/>
                          </a:solidFill>
                          <a:latin typeface="Calibri" pitchFamily="34" charset="0"/>
                          <a:ea typeface="Calibri" pitchFamily="34" charset="-122"/>
                          <a:cs typeface="Calibri" pitchFamily="34" charset="-120"/>
                        </a:rPr>
                        <a:t>Élevée</a:t>
                      </a:r>
                      <a:endParaRPr lang="en-US" sz="1400" dirty="0">
                        <a:latin typeface="Calibri" charset="0"/>
                        <a:ea typeface="Calibri" charset="0"/>
                        <a:cs typeface="Calibri" charset="0"/>
                      </a:endParaRPr>
                    </a:p>
                  </a:txBody>
                  <a:tcPr marL="109728" marR="109728" marT="0" marB="0" anchor="ctr">
                    <a:lnL w="9525" cap="flat" cmpd="sng" algn="ctr">
                      <a:solidFill>
                        <a:srgbClr val="C8D2E0"/>
                      </a:solidFill>
                      <a:prstDash val="solid"/>
                      <a:round/>
                      <a:headEnd type="none" w="med" len="med"/>
                      <a:tailEnd type="none" w="med" len="med"/>
                    </a:lnL>
                    <a:lnR w="9525" cap="flat" cmpd="sng" algn="ctr">
                      <a:solidFill>
                        <a:srgbClr val="C8D2E0"/>
                      </a:solidFill>
                      <a:prstDash val="solid"/>
                      <a:round/>
                      <a:headEnd type="none" w="med" len="med"/>
                      <a:tailEnd type="none" w="med" len="med"/>
                    </a:lnR>
                    <a:lnT w="9525" cap="flat" cmpd="sng" algn="ctr">
                      <a:solidFill>
                        <a:srgbClr val="C8D2E0"/>
                      </a:solidFill>
                      <a:prstDash val="solid"/>
                      <a:round/>
                      <a:headEnd type="none" w="med" len="med"/>
                      <a:tailEnd type="none" w="med" len="med"/>
                    </a:lnT>
                    <a:lnB w="9525" cap="flat" cmpd="sng" algn="ctr">
                      <a:solidFill>
                        <a:srgbClr val="C8D2E0"/>
                      </a:solidFill>
                      <a:prstDash val="solid"/>
                      <a:round/>
                      <a:headEnd type="none" w="med" len="med"/>
                      <a:tailEnd type="none" w="med" len="med"/>
                    </a:lnB>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Le JWT est stocké dans le localStorage du navigateur</a:t>
                      </a:r>
                      <a:endParaRPr lang="en-US" sz="1400" dirty="0">
                        <a:latin typeface="Calibri" charset="0"/>
                        <a:ea typeface="Calibri" charset="0"/>
                        <a:cs typeface="Calibri" charset="0"/>
                      </a:endParaRPr>
                    </a:p>
                  </a:txBody>
                  <a:tcPr marL="109728" marR="109728" marT="0" marB="0" anchor="ctr">
                    <a:lnL w="9525" cap="flat" cmpd="sng" algn="ctr">
                      <a:solidFill>
                        <a:srgbClr val="C8D2E0"/>
                      </a:solidFill>
                      <a:prstDash val="solid"/>
                      <a:round/>
                      <a:headEnd type="none" w="med" len="med"/>
                      <a:tailEnd type="none" w="med" len="med"/>
                    </a:lnL>
                    <a:lnR w="9525" cap="flat" cmpd="sng" algn="ctr">
                      <a:solidFill>
                        <a:srgbClr val="C8D2E0"/>
                      </a:solidFill>
                      <a:prstDash val="solid"/>
                      <a:round/>
                      <a:headEnd type="none" w="med" len="med"/>
                      <a:tailEnd type="none" w="med" len="med"/>
                    </a:lnR>
                    <a:lnT w="9525" cap="flat" cmpd="sng" algn="ctr">
                      <a:solidFill>
                        <a:srgbClr val="C8D2E0"/>
                      </a:solidFill>
                      <a:prstDash val="solid"/>
                      <a:round/>
                      <a:headEnd type="none" w="med" len="med"/>
                      <a:tailEnd type="none" w="med" len="med"/>
                    </a:lnT>
                    <a:lnB w="9525" cap="flat" cmpd="sng" algn="ctr">
                      <a:solidFill>
                        <a:srgbClr val="C8D2E0"/>
                      </a:solidFill>
                      <a:prstDash val="solid"/>
                      <a:round/>
                      <a:headEnd type="none" w="med" len="med"/>
                      <a:tailEnd type="none" w="med" len="med"/>
                    </a:lnB>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Cookie httpOnly, Secure, SameSite</a:t>
                      </a:r>
                      <a:endParaRPr lang="en-US" sz="1400" dirty="0">
                        <a:latin typeface="Calibri" charset="0"/>
                        <a:ea typeface="Calibri" charset="0"/>
                        <a:cs typeface="Calibri" charset="0"/>
                      </a:endParaRPr>
                    </a:p>
                  </a:txBody>
                  <a:tcPr marL="109728" marR="109728" marT="0" marB="0" anchor="ctr">
                    <a:lnL w="9525" cap="flat" cmpd="sng" algn="ctr">
                      <a:solidFill>
                        <a:srgbClr val="C8D2E0"/>
                      </a:solidFill>
                      <a:prstDash val="solid"/>
                      <a:round/>
                      <a:headEnd type="none" w="med" len="med"/>
                      <a:tailEnd type="none" w="med" len="med"/>
                    </a:lnL>
                    <a:lnR w="9525" cap="flat" cmpd="sng" algn="ctr">
                      <a:solidFill>
                        <a:srgbClr val="C8D2E0"/>
                      </a:solidFill>
                      <a:prstDash val="solid"/>
                      <a:round/>
                      <a:headEnd type="none" w="med" len="med"/>
                      <a:tailEnd type="none" w="med" len="med"/>
                    </a:lnR>
                    <a:lnT w="9525" cap="flat" cmpd="sng" algn="ctr">
                      <a:solidFill>
                        <a:srgbClr val="C8D2E0"/>
                      </a:solidFill>
                      <a:prstDash val="solid"/>
                      <a:round/>
                      <a:headEnd type="none" w="med" len="med"/>
                      <a:tailEnd type="none" w="med" len="med"/>
                    </a:lnT>
                    <a:lnB w="9525" cap="flat" cmpd="sng" algn="ctr">
                      <a:solidFill>
                        <a:srgbClr val="C8D2E0"/>
                      </a:solidFill>
                      <a:prstDash val="solid"/>
                      <a:round/>
                      <a:headEnd type="none" w="med" len="med"/>
                      <a:tailEnd type="none" w="med" len="med"/>
                    </a:lnB>
                  </a:tcPr>
                </a:tc>
              </a:tr>
              <a:tr h="594360">
                <a:tc>
                  <a:txBody>
                    <a:bodyPr/>
                    <a:lstStyle/>
                    <a:p>
                      <a:pPr indent="0" marL="0">
                        <a:buNone/>
                      </a:pPr>
                      <a:r>
                        <a:rPr lang="en-US" sz="1400" b="1" dirty="0">
                          <a:solidFill>
                            <a:schemeClr val="accent4"/>
                          </a:solidFill>
                          <a:latin typeface="Calibri" pitchFamily="34" charset="0"/>
                          <a:ea typeface="Calibri" pitchFamily="34" charset="-122"/>
                          <a:cs typeface="Calibri" pitchFamily="34" charset="-120"/>
                        </a:rPr>
                        <a:t>Élevée</a:t>
                      </a:r>
                      <a:endParaRPr lang="en-US" sz="1400" dirty="0">
                        <a:latin typeface="Calibri" charset="0"/>
                        <a:ea typeface="Calibri" charset="0"/>
                        <a:cs typeface="Calibri" charset="0"/>
                      </a:endParaRPr>
                    </a:p>
                  </a:txBody>
                  <a:tcPr marL="109728" marR="109728" marT="0" marB="0" anchor="ctr">
                    <a:lnL w="9525" cap="flat" cmpd="sng" algn="ctr">
                      <a:solidFill>
                        <a:srgbClr val="C8D2E0"/>
                      </a:solidFill>
                      <a:prstDash val="solid"/>
                      <a:round/>
                      <a:headEnd type="none" w="med" len="med"/>
                      <a:tailEnd type="none" w="med" len="med"/>
                    </a:lnL>
                    <a:lnR w="9525" cap="flat" cmpd="sng" algn="ctr">
                      <a:solidFill>
                        <a:srgbClr val="C8D2E0"/>
                      </a:solidFill>
                      <a:prstDash val="solid"/>
                      <a:round/>
                      <a:headEnd type="none" w="med" len="med"/>
                      <a:tailEnd type="none" w="med" len="med"/>
                    </a:lnR>
                    <a:lnT w="9525" cap="flat" cmpd="sng" algn="ctr">
                      <a:solidFill>
                        <a:srgbClr val="C8D2E0"/>
                      </a:solidFill>
                      <a:prstDash val="solid"/>
                      <a:round/>
                      <a:headEnd type="none" w="med" len="med"/>
                      <a:tailEnd type="none" w="med" len="med"/>
                    </a:lnT>
                    <a:lnB w="9525" cap="flat" cmpd="sng" algn="ctr">
                      <a:solidFill>
                        <a:srgbClr val="C8D2E0"/>
                      </a:solidFill>
                      <a:prstDash val="solid"/>
                      <a:round/>
                      <a:headEnd type="none" w="med" len="med"/>
                      <a:tailEnd type="none" w="med" len="med"/>
                    </a:lnB>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Compte admin créé avec un mot de passe par défaut connu</a:t>
                      </a:r>
                      <a:endParaRPr lang="en-US" sz="1400" dirty="0">
                        <a:latin typeface="Calibri" charset="0"/>
                        <a:ea typeface="Calibri" charset="0"/>
                        <a:cs typeface="Calibri" charset="0"/>
                      </a:endParaRPr>
                    </a:p>
                  </a:txBody>
                  <a:tcPr marL="109728" marR="109728" marT="0" marB="0" anchor="ctr">
                    <a:lnL w="9525" cap="flat" cmpd="sng" algn="ctr">
                      <a:solidFill>
                        <a:srgbClr val="C8D2E0"/>
                      </a:solidFill>
                      <a:prstDash val="solid"/>
                      <a:round/>
                      <a:headEnd type="none" w="med" len="med"/>
                      <a:tailEnd type="none" w="med" len="med"/>
                    </a:lnL>
                    <a:lnR w="9525" cap="flat" cmpd="sng" algn="ctr">
                      <a:solidFill>
                        <a:srgbClr val="C8D2E0"/>
                      </a:solidFill>
                      <a:prstDash val="solid"/>
                      <a:round/>
                      <a:headEnd type="none" w="med" len="med"/>
                      <a:tailEnd type="none" w="med" len="med"/>
                    </a:lnR>
                    <a:lnT w="9525" cap="flat" cmpd="sng" algn="ctr">
                      <a:solidFill>
                        <a:srgbClr val="C8D2E0"/>
                      </a:solidFill>
                      <a:prstDash val="solid"/>
                      <a:round/>
                      <a:headEnd type="none" w="med" len="med"/>
                      <a:tailEnd type="none" w="med" len="med"/>
                    </a:lnT>
                    <a:lnB w="9525" cap="flat" cmpd="sng" algn="ctr">
                      <a:solidFill>
                        <a:srgbClr val="C8D2E0"/>
                      </a:solidFill>
                      <a:prstDash val="solid"/>
                      <a:round/>
                      <a:headEnd type="none" w="med" len="med"/>
                      <a:tailEnd type="none" w="med" len="med"/>
                    </a:lnB>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Bloquer le démarrage en production sans mot de passe défini</a:t>
                      </a:r>
                      <a:endParaRPr lang="en-US" sz="1400" dirty="0">
                        <a:latin typeface="Calibri" charset="0"/>
                        <a:ea typeface="Calibri" charset="0"/>
                        <a:cs typeface="Calibri" charset="0"/>
                      </a:endParaRPr>
                    </a:p>
                  </a:txBody>
                  <a:tcPr marL="109728" marR="109728" marT="0" marB="0" anchor="ctr">
                    <a:lnL w="9525" cap="flat" cmpd="sng" algn="ctr">
                      <a:solidFill>
                        <a:srgbClr val="C8D2E0"/>
                      </a:solidFill>
                      <a:prstDash val="solid"/>
                      <a:round/>
                      <a:headEnd type="none" w="med" len="med"/>
                      <a:tailEnd type="none" w="med" len="med"/>
                    </a:lnL>
                    <a:lnR w="9525" cap="flat" cmpd="sng" algn="ctr">
                      <a:solidFill>
                        <a:srgbClr val="C8D2E0"/>
                      </a:solidFill>
                      <a:prstDash val="solid"/>
                      <a:round/>
                      <a:headEnd type="none" w="med" len="med"/>
                      <a:tailEnd type="none" w="med" len="med"/>
                    </a:lnR>
                    <a:lnT w="9525" cap="flat" cmpd="sng" algn="ctr">
                      <a:solidFill>
                        <a:srgbClr val="C8D2E0"/>
                      </a:solidFill>
                      <a:prstDash val="solid"/>
                      <a:round/>
                      <a:headEnd type="none" w="med" len="med"/>
                      <a:tailEnd type="none" w="med" len="med"/>
                    </a:lnT>
                    <a:lnB w="9525" cap="flat" cmpd="sng" algn="ctr">
                      <a:solidFill>
                        <a:srgbClr val="C8D2E0"/>
                      </a:solidFill>
                      <a:prstDash val="solid"/>
                      <a:round/>
                      <a:headEnd type="none" w="med" len="med"/>
                      <a:tailEnd type="none" w="med" len="med"/>
                    </a:lnB>
                  </a:tcPr>
                </a:tc>
              </a:tr>
              <a:tr h="594360">
                <a:tc>
                  <a:txBody>
                    <a:bodyPr/>
                    <a:lstStyle/>
                    <a:p>
                      <a:pPr indent="0" marL="0">
                        <a:buNone/>
                      </a:pPr>
                      <a:r>
                        <a:rPr lang="en-US" sz="1400" b="1" dirty="0">
                          <a:solidFill>
                            <a:schemeClr val="accent2"/>
                          </a:solidFill>
                          <a:latin typeface="Calibri" pitchFamily="34" charset="0"/>
                          <a:ea typeface="Calibri" pitchFamily="34" charset="-122"/>
                          <a:cs typeface="Calibri" pitchFamily="34" charset="-120"/>
                        </a:rPr>
                        <a:t>Moyenne</a:t>
                      </a:r>
                      <a:endParaRPr lang="en-US" sz="1400" dirty="0">
                        <a:latin typeface="Calibri" charset="0"/>
                        <a:ea typeface="Calibri" charset="0"/>
                        <a:cs typeface="Calibri" charset="0"/>
                      </a:endParaRPr>
                    </a:p>
                  </a:txBody>
                  <a:tcPr marL="109728" marR="109728" marT="0" marB="0" anchor="ctr">
                    <a:lnL w="9525" cap="flat" cmpd="sng" algn="ctr">
                      <a:solidFill>
                        <a:srgbClr val="C8D2E0"/>
                      </a:solidFill>
                      <a:prstDash val="solid"/>
                      <a:round/>
                      <a:headEnd type="none" w="med" len="med"/>
                      <a:tailEnd type="none" w="med" len="med"/>
                    </a:lnL>
                    <a:lnR w="9525" cap="flat" cmpd="sng" algn="ctr">
                      <a:solidFill>
                        <a:srgbClr val="C8D2E0"/>
                      </a:solidFill>
                      <a:prstDash val="solid"/>
                      <a:round/>
                      <a:headEnd type="none" w="med" len="med"/>
                      <a:tailEnd type="none" w="med" len="med"/>
                    </a:lnR>
                    <a:lnT w="9525" cap="flat" cmpd="sng" algn="ctr">
                      <a:solidFill>
                        <a:srgbClr val="C8D2E0"/>
                      </a:solidFill>
                      <a:prstDash val="solid"/>
                      <a:round/>
                      <a:headEnd type="none" w="med" len="med"/>
                      <a:tailEnd type="none" w="med" len="med"/>
                    </a:lnT>
                    <a:lnB w="9525" cap="flat" cmpd="sng" algn="ctr">
                      <a:solidFill>
                        <a:srgbClr val="C8D2E0"/>
                      </a:solidFill>
                      <a:prstDash val="solid"/>
                      <a:round/>
                      <a:headEnd type="none" w="med" len="med"/>
                      <a:tailEnd type="none" w="med" len="med"/>
                    </a:lnB>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Token valable 8 heures, sans révocation</a:t>
                      </a:r>
                      <a:endParaRPr lang="en-US" sz="1400" dirty="0">
                        <a:latin typeface="Calibri" charset="0"/>
                        <a:ea typeface="Calibri" charset="0"/>
                        <a:cs typeface="Calibri" charset="0"/>
                      </a:endParaRPr>
                    </a:p>
                  </a:txBody>
                  <a:tcPr marL="109728" marR="109728" marT="0" marB="0" anchor="ctr">
                    <a:lnL w="9525" cap="flat" cmpd="sng" algn="ctr">
                      <a:solidFill>
                        <a:srgbClr val="C8D2E0"/>
                      </a:solidFill>
                      <a:prstDash val="solid"/>
                      <a:round/>
                      <a:headEnd type="none" w="med" len="med"/>
                      <a:tailEnd type="none" w="med" len="med"/>
                    </a:lnL>
                    <a:lnR w="9525" cap="flat" cmpd="sng" algn="ctr">
                      <a:solidFill>
                        <a:srgbClr val="C8D2E0"/>
                      </a:solidFill>
                      <a:prstDash val="solid"/>
                      <a:round/>
                      <a:headEnd type="none" w="med" len="med"/>
                      <a:tailEnd type="none" w="med" len="med"/>
                    </a:lnR>
                    <a:lnT w="9525" cap="flat" cmpd="sng" algn="ctr">
                      <a:solidFill>
                        <a:srgbClr val="C8D2E0"/>
                      </a:solidFill>
                      <a:prstDash val="solid"/>
                      <a:round/>
                      <a:headEnd type="none" w="med" len="med"/>
                      <a:tailEnd type="none" w="med" len="med"/>
                    </a:lnT>
                    <a:lnB w="9525" cap="flat" cmpd="sng" algn="ctr">
                      <a:solidFill>
                        <a:srgbClr val="C8D2E0"/>
                      </a:solidFill>
                      <a:prstDash val="solid"/>
                      <a:round/>
                      <a:headEnd type="none" w="med" len="med"/>
                      <a:tailEnd type="none" w="med" len="med"/>
                    </a:lnB>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Token court + refresh token révocable</a:t>
                      </a:r>
                      <a:endParaRPr lang="en-US" sz="1400" dirty="0">
                        <a:latin typeface="Calibri" charset="0"/>
                        <a:ea typeface="Calibri" charset="0"/>
                        <a:cs typeface="Calibri" charset="0"/>
                      </a:endParaRPr>
                    </a:p>
                  </a:txBody>
                  <a:tcPr marL="109728" marR="109728" marT="0" marB="0" anchor="ctr">
                    <a:lnL w="9525" cap="flat" cmpd="sng" algn="ctr">
                      <a:solidFill>
                        <a:srgbClr val="C8D2E0"/>
                      </a:solidFill>
                      <a:prstDash val="solid"/>
                      <a:round/>
                      <a:headEnd type="none" w="med" len="med"/>
                      <a:tailEnd type="none" w="med" len="med"/>
                    </a:lnL>
                    <a:lnR w="9525" cap="flat" cmpd="sng" algn="ctr">
                      <a:solidFill>
                        <a:srgbClr val="C8D2E0"/>
                      </a:solidFill>
                      <a:prstDash val="solid"/>
                      <a:round/>
                      <a:headEnd type="none" w="med" len="med"/>
                      <a:tailEnd type="none" w="med" len="med"/>
                    </a:lnR>
                    <a:lnT w="9525" cap="flat" cmpd="sng" algn="ctr">
                      <a:solidFill>
                        <a:srgbClr val="C8D2E0"/>
                      </a:solidFill>
                      <a:prstDash val="solid"/>
                      <a:round/>
                      <a:headEnd type="none" w="med" len="med"/>
                      <a:tailEnd type="none" w="med" len="med"/>
                    </a:lnT>
                    <a:lnB w="9525" cap="flat" cmpd="sng" algn="ctr">
                      <a:solidFill>
                        <a:srgbClr val="C8D2E0"/>
                      </a:solidFill>
                      <a:prstDash val="solid"/>
                      <a:round/>
                      <a:headEnd type="none" w="med" len="med"/>
                      <a:tailEnd type="none" w="med" len="med"/>
                    </a:lnB>
                  </a:tcPr>
                </a:tc>
              </a:tr>
              <a:tr h="594360">
                <a:tc>
                  <a:txBody>
                    <a:bodyPr/>
                    <a:lstStyle/>
                    <a:p>
                      <a:pPr indent="0" marL="0">
                        <a:buNone/>
                      </a:pPr>
                      <a:r>
                        <a:rPr lang="en-US" sz="1400" b="1" dirty="0">
                          <a:solidFill>
                            <a:schemeClr val="accent2"/>
                          </a:solidFill>
                          <a:latin typeface="Calibri" pitchFamily="34" charset="0"/>
                          <a:ea typeface="Calibri" pitchFamily="34" charset="-122"/>
                          <a:cs typeface="Calibri" pitchFamily="34" charset="-120"/>
                        </a:rPr>
                        <a:t>Moyenne</a:t>
                      </a:r>
                      <a:endParaRPr lang="en-US" sz="1400" dirty="0">
                        <a:latin typeface="Calibri" charset="0"/>
                        <a:ea typeface="Calibri" charset="0"/>
                        <a:cs typeface="Calibri" charset="0"/>
                      </a:endParaRPr>
                    </a:p>
                  </a:txBody>
                  <a:tcPr marL="109728" marR="109728" marT="0" marB="0" anchor="ctr">
                    <a:lnL w="9525" cap="flat" cmpd="sng" algn="ctr">
                      <a:solidFill>
                        <a:srgbClr val="C8D2E0"/>
                      </a:solidFill>
                      <a:prstDash val="solid"/>
                      <a:round/>
                      <a:headEnd type="none" w="med" len="med"/>
                      <a:tailEnd type="none" w="med" len="med"/>
                    </a:lnL>
                    <a:lnR w="9525" cap="flat" cmpd="sng" algn="ctr">
                      <a:solidFill>
                        <a:srgbClr val="C8D2E0"/>
                      </a:solidFill>
                      <a:prstDash val="solid"/>
                      <a:round/>
                      <a:headEnd type="none" w="med" len="med"/>
                      <a:tailEnd type="none" w="med" len="med"/>
                    </a:lnR>
                    <a:lnT w="9525" cap="flat" cmpd="sng" algn="ctr">
                      <a:solidFill>
                        <a:srgbClr val="C8D2E0"/>
                      </a:solidFill>
                      <a:prstDash val="solid"/>
                      <a:round/>
                      <a:headEnd type="none" w="med" len="med"/>
                      <a:tailEnd type="none" w="med" len="med"/>
                    </a:lnT>
                    <a:lnB w="9525" cap="flat" cmpd="sng" algn="ctr">
                      <a:solidFill>
                        <a:srgbClr val="C8D2E0"/>
                      </a:solidFill>
                      <a:prstDash val="solid"/>
                      <a:round/>
                      <a:headEnd type="none" w="med" len="med"/>
                      <a:tailEnd type="none" w="med" len="med"/>
                    </a:lnB>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SQLite et HTTP simple dans le docker-compose</a:t>
                      </a:r>
                      <a:endParaRPr lang="en-US" sz="1400" dirty="0">
                        <a:latin typeface="Calibri" charset="0"/>
                        <a:ea typeface="Calibri" charset="0"/>
                        <a:cs typeface="Calibri" charset="0"/>
                      </a:endParaRPr>
                    </a:p>
                  </a:txBody>
                  <a:tcPr marL="109728" marR="109728" marT="0" marB="0" anchor="ctr">
                    <a:lnL w="9525" cap="flat" cmpd="sng" algn="ctr">
                      <a:solidFill>
                        <a:srgbClr val="C8D2E0"/>
                      </a:solidFill>
                      <a:prstDash val="solid"/>
                      <a:round/>
                      <a:headEnd type="none" w="med" len="med"/>
                      <a:tailEnd type="none" w="med" len="med"/>
                    </a:lnL>
                    <a:lnR w="9525" cap="flat" cmpd="sng" algn="ctr">
                      <a:solidFill>
                        <a:srgbClr val="C8D2E0"/>
                      </a:solidFill>
                      <a:prstDash val="solid"/>
                      <a:round/>
                      <a:headEnd type="none" w="med" len="med"/>
                      <a:tailEnd type="none" w="med" len="med"/>
                    </a:lnR>
                    <a:lnT w="9525" cap="flat" cmpd="sng" algn="ctr">
                      <a:solidFill>
                        <a:srgbClr val="C8D2E0"/>
                      </a:solidFill>
                      <a:prstDash val="solid"/>
                      <a:round/>
                      <a:headEnd type="none" w="med" len="med"/>
                      <a:tailEnd type="none" w="med" len="med"/>
                    </a:lnT>
                    <a:lnB w="9525" cap="flat" cmpd="sng" algn="ctr">
                      <a:solidFill>
                        <a:srgbClr val="C8D2E0"/>
                      </a:solidFill>
                      <a:prstDash val="solid"/>
                      <a:round/>
                      <a:headEnd type="none" w="med" len="med"/>
                      <a:tailEnd type="none" w="med" len="med"/>
                    </a:lnB>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PostgreSQL et reverse proxy TLS</a:t>
                      </a:r>
                      <a:endParaRPr lang="en-US" sz="1400" dirty="0">
                        <a:latin typeface="Calibri" charset="0"/>
                        <a:ea typeface="Calibri" charset="0"/>
                        <a:cs typeface="Calibri" charset="0"/>
                      </a:endParaRPr>
                    </a:p>
                  </a:txBody>
                  <a:tcPr marL="109728" marR="109728" marT="0" marB="0" anchor="ctr">
                    <a:lnL w="9525" cap="flat" cmpd="sng" algn="ctr">
                      <a:solidFill>
                        <a:srgbClr val="C8D2E0"/>
                      </a:solidFill>
                      <a:prstDash val="solid"/>
                      <a:round/>
                      <a:headEnd type="none" w="med" len="med"/>
                      <a:tailEnd type="none" w="med" len="med"/>
                    </a:lnL>
                    <a:lnR w="9525" cap="flat" cmpd="sng" algn="ctr">
                      <a:solidFill>
                        <a:srgbClr val="C8D2E0"/>
                      </a:solidFill>
                      <a:prstDash val="solid"/>
                      <a:round/>
                      <a:headEnd type="none" w="med" len="med"/>
                      <a:tailEnd type="none" w="med" len="med"/>
                    </a:lnR>
                    <a:lnT w="9525" cap="flat" cmpd="sng" algn="ctr">
                      <a:solidFill>
                        <a:srgbClr val="C8D2E0"/>
                      </a:solidFill>
                      <a:prstDash val="solid"/>
                      <a:round/>
                      <a:headEnd type="none" w="med" len="med"/>
                      <a:tailEnd type="none" w="med" len="med"/>
                    </a:lnT>
                    <a:lnB w="9525" cap="flat" cmpd="sng" algn="ctr">
                      <a:solidFill>
                        <a:srgbClr val="C8D2E0"/>
                      </a:solidFill>
                      <a:prstDash val="solid"/>
                      <a:round/>
                      <a:headEnd type="none" w="med" len="med"/>
                      <a:tailEnd type="none" w="med" len="med"/>
                    </a:lnB>
                  </a:tcPr>
                </a:tc>
              </a:tr>
              <a:tr h="594360">
                <a:tc>
                  <a:txBody>
                    <a:bodyPr/>
                    <a:lstStyle/>
                    <a:p>
                      <a:pPr indent="0" marL="0">
                        <a:buNone/>
                      </a:pPr>
                      <a:r>
                        <a:rPr lang="en-US" sz="1400" b="1" dirty="0">
                          <a:solidFill>
                            <a:schemeClr val="accent2"/>
                          </a:solidFill>
                          <a:latin typeface="Calibri" pitchFamily="34" charset="0"/>
                          <a:ea typeface="Calibri" pitchFamily="34" charset="-122"/>
                          <a:cs typeface="Calibri" pitchFamily="34" charset="-120"/>
                        </a:rPr>
                        <a:t>Moyenne</a:t>
                      </a:r>
                      <a:endParaRPr lang="en-US" sz="1400" dirty="0">
                        <a:latin typeface="Calibri" charset="0"/>
                        <a:ea typeface="Calibri" charset="0"/>
                        <a:cs typeface="Calibri" charset="0"/>
                      </a:endParaRPr>
                    </a:p>
                  </a:txBody>
                  <a:tcPr marL="109728" marR="109728" marT="0" marB="0" anchor="ctr">
                    <a:lnL w="9525" cap="flat" cmpd="sng" algn="ctr">
                      <a:solidFill>
                        <a:srgbClr val="C8D2E0"/>
                      </a:solidFill>
                      <a:prstDash val="solid"/>
                      <a:round/>
                      <a:headEnd type="none" w="med" len="med"/>
                      <a:tailEnd type="none" w="med" len="med"/>
                    </a:lnL>
                    <a:lnR w="9525" cap="flat" cmpd="sng" algn="ctr">
                      <a:solidFill>
                        <a:srgbClr val="C8D2E0"/>
                      </a:solidFill>
                      <a:prstDash val="solid"/>
                      <a:round/>
                      <a:headEnd type="none" w="med" len="med"/>
                      <a:tailEnd type="none" w="med" len="med"/>
                    </a:lnR>
                    <a:lnT w="9525" cap="flat" cmpd="sng" algn="ctr">
                      <a:solidFill>
                        <a:srgbClr val="C8D2E0"/>
                      </a:solidFill>
                      <a:prstDash val="solid"/>
                      <a:round/>
                      <a:headEnd type="none" w="med" len="med"/>
                      <a:tailEnd type="none" w="med" len="med"/>
                    </a:lnT>
                    <a:lnB w="9525" cap="flat" cmpd="sng" algn="ctr">
                      <a:solidFill>
                        <a:srgbClr val="C8D2E0"/>
                      </a:solidFill>
                      <a:prstDash val="solid"/>
                      <a:round/>
                      <a:headEnd type="none" w="med" len="med"/>
                      <a:tailEnd type="none" w="med" len="med"/>
                    </a:lnB>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Alertes visibles uniquement dans le dashboard</a:t>
                      </a:r>
                      <a:endParaRPr lang="en-US" sz="1400" dirty="0">
                        <a:latin typeface="Calibri" charset="0"/>
                        <a:ea typeface="Calibri" charset="0"/>
                        <a:cs typeface="Calibri" charset="0"/>
                      </a:endParaRPr>
                    </a:p>
                  </a:txBody>
                  <a:tcPr marL="109728" marR="109728" marT="0" marB="0" anchor="ctr">
                    <a:lnL w="9525" cap="flat" cmpd="sng" algn="ctr">
                      <a:solidFill>
                        <a:srgbClr val="C8D2E0"/>
                      </a:solidFill>
                      <a:prstDash val="solid"/>
                      <a:round/>
                      <a:headEnd type="none" w="med" len="med"/>
                      <a:tailEnd type="none" w="med" len="med"/>
                    </a:lnL>
                    <a:lnR w="9525" cap="flat" cmpd="sng" algn="ctr">
                      <a:solidFill>
                        <a:srgbClr val="C8D2E0"/>
                      </a:solidFill>
                      <a:prstDash val="solid"/>
                      <a:round/>
                      <a:headEnd type="none" w="med" len="med"/>
                      <a:tailEnd type="none" w="med" len="med"/>
                    </a:lnR>
                    <a:lnT w="9525" cap="flat" cmpd="sng" algn="ctr">
                      <a:solidFill>
                        <a:srgbClr val="C8D2E0"/>
                      </a:solidFill>
                      <a:prstDash val="solid"/>
                      <a:round/>
                      <a:headEnd type="none" w="med" len="med"/>
                      <a:tailEnd type="none" w="med" len="med"/>
                    </a:lnT>
                    <a:lnB w="9525" cap="flat" cmpd="sng" algn="ctr">
                      <a:solidFill>
                        <a:srgbClr val="C8D2E0"/>
                      </a:solidFill>
                      <a:prstDash val="solid"/>
                      <a:round/>
                      <a:headEnd type="none" w="med" len="med"/>
                      <a:tailEnd type="none" w="med" len="med"/>
                    </a:lnB>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E-mail, Telegram, Slack, webhook</a:t>
                      </a:r>
                      <a:endParaRPr lang="en-US" sz="1400" dirty="0">
                        <a:latin typeface="Calibri" charset="0"/>
                        <a:ea typeface="Calibri" charset="0"/>
                        <a:cs typeface="Calibri" charset="0"/>
                      </a:endParaRPr>
                    </a:p>
                  </a:txBody>
                  <a:tcPr marL="109728" marR="109728" marT="0" marB="0" anchor="ctr">
                    <a:lnL w="9525" cap="flat" cmpd="sng" algn="ctr">
                      <a:solidFill>
                        <a:srgbClr val="C8D2E0"/>
                      </a:solidFill>
                      <a:prstDash val="solid"/>
                      <a:round/>
                      <a:headEnd type="none" w="med" len="med"/>
                      <a:tailEnd type="none" w="med" len="med"/>
                    </a:lnL>
                    <a:lnR w="9525" cap="flat" cmpd="sng" algn="ctr">
                      <a:solidFill>
                        <a:srgbClr val="C8D2E0"/>
                      </a:solidFill>
                      <a:prstDash val="solid"/>
                      <a:round/>
                      <a:headEnd type="none" w="med" len="med"/>
                      <a:tailEnd type="none" w="med" len="med"/>
                    </a:lnR>
                    <a:lnT w="9525" cap="flat" cmpd="sng" algn="ctr">
                      <a:solidFill>
                        <a:srgbClr val="C8D2E0"/>
                      </a:solidFill>
                      <a:prstDash val="solid"/>
                      <a:round/>
                      <a:headEnd type="none" w="med" len="med"/>
                      <a:tailEnd type="none" w="med" len="med"/>
                    </a:lnT>
                    <a:lnB w="9525" cap="flat" cmpd="sng" algn="ctr">
                      <a:solidFill>
                        <a:srgbClr val="C8D2E0"/>
                      </a:solidFill>
                      <a:prstDash val="solid"/>
                      <a:round/>
                      <a:headEnd type="none" w="med" len="med"/>
                      <a:tailEnd type="none" w="med" len="med"/>
                    </a:lnB>
                  </a:tcPr>
                </a:tc>
              </a:tr>
              <a:tr h="594360">
                <a:tc>
                  <a:txBody>
                    <a:bodyPr/>
                    <a:lstStyle/>
                    <a:p>
                      <a:pPr indent="0" marL="0">
                        <a:buNone/>
                      </a:pPr>
                      <a:r>
                        <a:rPr lang="en-US" sz="1400" b="1" dirty="0">
                          <a:solidFill>
                            <a:schemeClr val="accent1"/>
                          </a:solidFill>
                          <a:latin typeface="Calibri" pitchFamily="34" charset="0"/>
                          <a:ea typeface="Calibri" pitchFamily="34" charset="-122"/>
                          <a:cs typeface="Calibri" pitchFamily="34" charset="-120"/>
                        </a:rPr>
                        <a:t>En cours</a:t>
                      </a:r>
                      <a:endParaRPr lang="en-US" sz="1400" dirty="0">
                        <a:latin typeface="Calibri" charset="0"/>
                        <a:ea typeface="Calibri" charset="0"/>
                        <a:cs typeface="Calibri" charset="0"/>
                      </a:endParaRPr>
                    </a:p>
                  </a:txBody>
                  <a:tcPr marL="109728" marR="109728" marT="0" marB="0" anchor="ctr">
                    <a:lnL w="9525" cap="flat" cmpd="sng" algn="ctr">
                      <a:solidFill>
                        <a:srgbClr val="C8D2E0"/>
                      </a:solidFill>
                      <a:prstDash val="solid"/>
                      <a:round/>
                      <a:headEnd type="none" w="med" len="med"/>
                      <a:tailEnd type="none" w="med" len="med"/>
                    </a:lnL>
                    <a:lnR w="9525" cap="flat" cmpd="sng" algn="ctr">
                      <a:solidFill>
                        <a:srgbClr val="C8D2E0"/>
                      </a:solidFill>
                      <a:prstDash val="solid"/>
                      <a:round/>
                      <a:headEnd type="none" w="med" len="med"/>
                      <a:tailEnd type="none" w="med" len="med"/>
                    </a:lnR>
                    <a:lnT w="9525" cap="flat" cmpd="sng" algn="ctr">
                      <a:solidFill>
                        <a:srgbClr val="C8D2E0"/>
                      </a:solidFill>
                      <a:prstDash val="solid"/>
                      <a:round/>
                      <a:headEnd type="none" w="med" len="med"/>
                      <a:tailEnd type="none" w="med" len="med"/>
                    </a:lnT>
                    <a:lnB w="9525" cap="flat" cmpd="sng" algn="ctr">
                      <a:solidFill>
                        <a:srgbClr val="C8D2E0"/>
                      </a:solidFill>
                      <a:prstDash val="solid"/>
                      <a:round/>
                      <a:headEnd type="none" w="med" len="med"/>
                      <a:tailEnd type="none" w="med" len="med"/>
                    </a:lnB>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Workflow SOC et export SIEM : tests écrits, code à faire</a:t>
                      </a:r>
                      <a:endParaRPr lang="en-US" sz="1400" dirty="0">
                        <a:latin typeface="Calibri" charset="0"/>
                        <a:ea typeface="Calibri" charset="0"/>
                        <a:cs typeface="Calibri" charset="0"/>
                      </a:endParaRPr>
                    </a:p>
                  </a:txBody>
                  <a:tcPr marL="109728" marR="109728" marT="0" marB="0" anchor="ctr">
                    <a:lnL w="9525" cap="flat" cmpd="sng" algn="ctr">
                      <a:solidFill>
                        <a:srgbClr val="C8D2E0"/>
                      </a:solidFill>
                      <a:prstDash val="solid"/>
                      <a:round/>
                      <a:headEnd type="none" w="med" len="med"/>
                      <a:tailEnd type="none" w="med" len="med"/>
                    </a:lnL>
                    <a:lnR w="9525" cap="flat" cmpd="sng" algn="ctr">
                      <a:solidFill>
                        <a:srgbClr val="C8D2E0"/>
                      </a:solidFill>
                      <a:prstDash val="solid"/>
                      <a:round/>
                      <a:headEnd type="none" w="med" len="med"/>
                      <a:tailEnd type="none" w="med" len="med"/>
                    </a:lnR>
                    <a:lnT w="9525" cap="flat" cmpd="sng" algn="ctr">
                      <a:solidFill>
                        <a:srgbClr val="C8D2E0"/>
                      </a:solidFill>
                      <a:prstDash val="solid"/>
                      <a:round/>
                      <a:headEnd type="none" w="med" len="med"/>
                      <a:tailEnd type="none" w="med" len="med"/>
                    </a:lnT>
                    <a:lnB w="9525" cap="flat" cmpd="sng" algn="ctr">
                      <a:solidFill>
                        <a:srgbClr val="C8D2E0"/>
                      </a:solidFill>
                      <a:prstDash val="solid"/>
                      <a:round/>
                      <a:headEnd type="none" w="med" len="med"/>
                      <a:tailEnd type="none" w="med" len="med"/>
                    </a:lnB>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Implémenter pour faire passer ces tests (TDD)</a:t>
                      </a:r>
                      <a:endParaRPr lang="en-US" sz="1400" dirty="0">
                        <a:latin typeface="Calibri" charset="0"/>
                        <a:ea typeface="Calibri" charset="0"/>
                        <a:cs typeface="Calibri" charset="0"/>
                      </a:endParaRPr>
                    </a:p>
                  </a:txBody>
                  <a:tcPr marL="109728" marR="109728" marT="0" marB="0" anchor="ctr">
                    <a:lnL w="9525" cap="flat" cmpd="sng" algn="ctr">
                      <a:solidFill>
                        <a:srgbClr val="C8D2E0"/>
                      </a:solidFill>
                      <a:prstDash val="solid"/>
                      <a:round/>
                      <a:headEnd type="none" w="med" len="med"/>
                      <a:tailEnd type="none" w="med" len="med"/>
                    </a:lnL>
                    <a:lnR w="9525" cap="flat" cmpd="sng" algn="ctr">
                      <a:solidFill>
                        <a:srgbClr val="C8D2E0"/>
                      </a:solidFill>
                      <a:prstDash val="solid"/>
                      <a:round/>
                      <a:headEnd type="none" w="med" len="med"/>
                      <a:tailEnd type="none" w="med" len="med"/>
                    </a:lnR>
                    <a:lnT w="9525" cap="flat" cmpd="sng" algn="ctr">
                      <a:solidFill>
                        <a:srgbClr val="C8D2E0"/>
                      </a:solidFill>
                      <a:prstDash val="solid"/>
                      <a:round/>
                      <a:headEnd type="none" w="med" len="med"/>
                      <a:tailEnd type="none" w="med" len="med"/>
                    </a:lnT>
                    <a:lnB w="9525" cap="flat" cmpd="sng" algn="ctr">
                      <a:solidFill>
                        <a:srgbClr val="C8D2E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000" b="1" dirty="0">
                <a:solidFill>
                  <a:schemeClr val="tx2"/>
                </a:solidFill>
              </a:rPr>
              <a:t>Feuille de route</a:t>
            </a:r>
            <a:endParaRPr lang="en-US" sz="3000" dirty="0"/>
          </a:p>
        </p:txBody>
      </p:sp>
      <p:sp>
        <p:nvSpPr>
          <p:cNvPr id="3" name="road-0"/>
          <p:cNvSpPr/>
          <p:nvPr/>
        </p:nvSpPr>
        <p:spPr>
          <a:xfrm>
            <a:off x="548640" y="1371600"/>
            <a:ext cx="3520440" cy="4206240"/>
          </a:xfrm>
          <a:prstGeom prst="roundRect">
            <a:avLst>
              <a:gd name="adj" fmla="val 3117"/>
            </a:avLst>
          </a:prstGeom>
          <a:solidFill>
            <a:schemeClr val="tx2"/>
          </a:solidFill>
          <a:ln w="12700">
            <a:solidFill>
              <a:schemeClr val="tx2"/>
            </a:solidFill>
            <a:prstDash val="solid"/>
          </a:ln>
        </p:spPr>
      </p:sp>
      <p:sp>
        <p:nvSpPr>
          <p:cNvPr id="4" name="Text 2"/>
          <p:cNvSpPr txBox="1"/>
          <p:nvPr/>
        </p:nvSpPr>
        <p:spPr>
          <a:xfrm>
            <a:off x="822960" y="1554480"/>
            <a:ext cx="3017520" cy="411480"/>
          </a:xfrm>
          <a:prstGeom prst="rect">
            <a:avLst/>
          </a:prstGeom>
          <a:noFill/>
          <a:ln/>
        </p:spPr>
        <p:txBody>
          <a:bodyPr wrap="square" lIns="0" tIns="0" rIns="0" bIns="0" rtlCol="0" anchor="t"/>
          <a:lstStyle/>
          <a:p>
            <a:pPr indent="0" marL="0">
              <a:buNone/>
            </a:pPr>
            <a:r>
              <a:rPr lang="en-US" sz="2000" b="1" dirty="0">
                <a:solidFill>
                  <a:schemeClr val="accent2"/>
                </a:solidFill>
              </a:rPr>
              <a:t>Prochaine étape</a:t>
            </a:r>
            <a:endParaRPr lang="en-US" sz="2000" dirty="0"/>
          </a:p>
        </p:txBody>
      </p:sp>
      <p:sp>
        <p:nvSpPr>
          <p:cNvPr id="5" name="Text 3"/>
          <p:cNvSpPr txBox="1"/>
          <p:nvPr/>
        </p:nvSpPr>
        <p:spPr>
          <a:xfrm>
            <a:off x="822960" y="1965960"/>
            <a:ext cx="3017520" cy="320040"/>
          </a:xfrm>
          <a:prstGeom prst="rect">
            <a:avLst/>
          </a:prstGeom>
          <a:noFill/>
          <a:ln/>
        </p:spPr>
        <p:txBody>
          <a:bodyPr wrap="square" lIns="0" tIns="0" rIns="0" bIns="0" rtlCol="0" anchor="t"/>
          <a:lstStyle/>
          <a:p>
            <a:pPr indent="0" marL="0">
              <a:buNone/>
            </a:pPr>
            <a:r>
              <a:rPr lang="en-US" sz="1300" i="1" dirty="0">
                <a:solidFill>
                  <a:schemeClr val="accent6"/>
                </a:solidFill>
              </a:rPr>
              <a:t>SOC-light</a:t>
            </a:r>
            <a:endParaRPr lang="en-US" sz="1300" dirty="0"/>
          </a:p>
        </p:txBody>
      </p:sp>
      <p:sp>
        <p:nvSpPr>
          <p:cNvPr id="6" name="Text 4"/>
          <p:cNvSpPr txBox="1"/>
          <p:nvPr/>
        </p:nvSpPr>
        <p:spPr>
          <a:xfrm>
            <a:off x="822960" y="2468880"/>
            <a:ext cx="3017520" cy="29260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bg1"/>
                </a:solidFill>
              </a:rPr>
              <a:t>Statut des alertes : nouvelle, en cours, résolue, faux positif</a:t>
            </a:r>
            <a:endParaRPr lang="en-US" sz="1400" dirty="0"/>
          </a:p>
          <a:p>
            <a:pPr marL="342900" indent="-342900">
              <a:spcAft>
                <a:spcPts val="800"/>
              </a:spcAft>
              <a:buSzPct val="100000"/>
              <a:buChar char="•"/>
            </a:pPr>
            <a:r>
              <a:rPr lang="en-US" sz="1400" dirty="0">
                <a:solidFill>
                  <a:schemeClr val="bg1"/>
                </a:solidFill>
              </a:rPr>
              <a:t>Assignation et notes d'analyste</a:t>
            </a:r>
            <a:endParaRPr lang="en-US" sz="1400" dirty="0"/>
          </a:p>
          <a:p>
            <a:pPr marL="342900" indent="-342900">
              <a:spcAft>
                <a:spcPts val="800"/>
              </a:spcAft>
              <a:buSzPct val="100000"/>
              <a:buChar char="•"/>
            </a:pPr>
            <a:r>
              <a:rPr lang="en-US" sz="1400" dirty="0">
                <a:solidFill>
                  <a:schemeClr val="bg1"/>
                </a:solidFill>
              </a:rPr>
              <a:t>Export JSON compatible SIEM</a:t>
            </a:r>
            <a:endParaRPr lang="en-US" sz="1400" dirty="0"/>
          </a:p>
          <a:p>
            <a:pPr marL="342900" indent="-342900">
              <a:spcAft>
                <a:spcPts val="800"/>
              </a:spcAft>
              <a:buSzPct val="100000"/>
              <a:buChar char="•"/>
            </a:pPr>
            <a:r>
              <a:rPr lang="en-US" sz="1400" dirty="0">
                <a:solidFill>
                  <a:schemeClr val="bg1"/>
                </a:solidFill>
              </a:rPr>
              <a:t>Correction du stockage du token</a:t>
            </a:r>
            <a:endParaRPr lang="en-US" sz="1400" dirty="0"/>
          </a:p>
        </p:txBody>
      </p:sp>
      <p:sp>
        <p:nvSpPr>
          <p:cNvPr id="7" name="road-arrow-0"/>
          <p:cNvSpPr/>
          <p:nvPr/>
        </p:nvSpPr>
        <p:spPr>
          <a:xfrm>
            <a:off x="4078224" y="3474720"/>
            <a:ext cx="210312" cy="0"/>
          </a:xfrm>
          <a:prstGeom prst="line">
            <a:avLst/>
          </a:prstGeom>
          <a:noFill/>
          <a:ln w="19050">
            <a:solidFill>
              <a:schemeClr val="accent5"/>
            </a:solidFill>
            <a:prstDash val="solid"/>
            <a:tailEnd type="triangle"/>
          </a:ln>
        </p:spPr>
      </p:sp>
      <p:sp>
        <p:nvSpPr>
          <p:cNvPr id="8" name="road-1"/>
          <p:cNvSpPr/>
          <p:nvPr/>
        </p:nvSpPr>
        <p:spPr>
          <a:xfrm>
            <a:off x="4297680" y="1371600"/>
            <a:ext cx="3520440" cy="4206240"/>
          </a:xfrm>
          <a:prstGeom prst="roundRect">
            <a:avLst>
              <a:gd name="adj" fmla="val 3117"/>
            </a:avLst>
          </a:prstGeom>
          <a:solidFill>
            <a:schemeClr val="bg2"/>
          </a:solidFill>
          <a:ln w="12700">
            <a:solidFill>
              <a:schemeClr val="bg2"/>
            </a:solidFill>
            <a:prstDash val="solid"/>
          </a:ln>
        </p:spPr>
      </p:sp>
      <p:sp>
        <p:nvSpPr>
          <p:cNvPr id="9" name="Text 7"/>
          <p:cNvSpPr txBox="1"/>
          <p:nvPr/>
        </p:nvSpPr>
        <p:spPr>
          <a:xfrm>
            <a:off x="4572000" y="1554480"/>
            <a:ext cx="3017520" cy="411480"/>
          </a:xfrm>
          <a:prstGeom prst="rect">
            <a:avLst/>
          </a:prstGeom>
          <a:noFill/>
          <a:ln/>
        </p:spPr>
        <p:txBody>
          <a:bodyPr wrap="square" lIns="0" tIns="0" rIns="0" bIns="0" rtlCol="0" anchor="t"/>
          <a:lstStyle/>
          <a:p>
            <a:pPr indent="0" marL="0">
              <a:buNone/>
            </a:pPr>
            <a:r>
              <a:rPr lang="en-US" sz="2000" b="1" dirty="0">
                <a:solidFill>
                  <a:schemeClr val="tx2"/>
                </a:solidFill>
              </a:rPr>
              <a:t>Ensuite</a:t>
            </a:r>
            <a:endParaRPr lang="en-US" sz="2000" dirty="0"/>
          </a:p>
        </p:txBody>
      </p:sp>
      <p:sp>
        <p:nvSpPr>
          <p:cNvPr id="10" name="Text 8"/>
          <p:cNvSpPr txBox="1"/>
          <p:nvPr/>
        </p:nvSpPr>
        <p:spPr>
          <a:xfrm>
            <a:off x="4572000" y="1965960"/>
            <a:ext cx="3017520" cy="320040"/>
          </a:xfrm>
          <a:prstGeom prst="rect">
            <a:avLst/>
          </a:prstGeom>
          <a:noFill/>
          <a:ln/>
        </p:spPr>
        <p:txBody>
          <a:bodyPr wrap="square" lIns="0" tIns="0" rIns="0" bIns="0" rtlCol="0" anchor="t"/>
          <a:lstStyle/>
          <a:p>
            <a:pPr indent="0" marL="0">
              <a:buNone/>
            </a:pPr>
            <a:r>
              <a:rPr lang="en-US" sz="1300" i="1" dirty="0">
                <a:solidFill>
                  <a:schemeClr val="accent5"/>
                </a:solidFill>
              </a:rPr>
              <a:t>Alertes et sources</a:t>
            </a:r>
            <a:endParaRPr lang="en-US" sz="1300" dirty="0"/>
          </a:p>
        </p:txBody>
      </p:sp>
      <p:sp>
        <p:nvSpPr>
          <p:cNvPr id="11" name="Text 9"/>
          <p:cNvSpPr txBox="1"/>
          <p:nvPr/>
        </p:nvSpPr>
        <p:spPr>
          <a:xfrm>
            <a:off x="4572000" y="2468880"/>
            <a:ext cx="3017520" cy="29260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Notifications e-mail, Telegram, Slack, webhook</a:t>
            </a:r>
            <a:endParaRPr lang="en-US" sz="1400" dirty="0"/>
          </a:p>
          <a:p>
            <a:pPr marL="342900" indent="-342900">
              <a:spcAft>
                <a:spcPts val="800"/>
              </a:spcAft>
              <a:buSzPct val="100000"/>
              <a:buChar char="•"/>
            </a:pPr>
            <a:r>
              <a:rPr lang="en-US" sz="1400" dirty="0">
                <a:solidFill>
                  <a:schemeClr val="tx1"/>
                </a:solidFill>
              </a:rPr>
              <a:t>CISA KEV et PhishTank</a:t>
            </a:r>
            <a:endParaRPr lang="en-US" sz="1400" dirty="0"/>
          </a:p>
          <a:p>
            <a:pPr marL="342900" indent="-342900">
              <a:spcAft>
                <a:spcPts val="800"/>
              </a:spcAft>
              <a:buSzPct val="100000"/>
              <a:buChar char="•"/>
            </a:pPr>
            <a:r>
              <a:rPr lang="en-US" sz="1400" dirty="0">
                <a:solidFill>
                  <a:schemeClr val="tx1"/>
                </a:solidFill>
              </a:rPr>
              <a:t>PostgreSQL en production</a:t>
            </a:r>
            <a:endParaRPr lang="en-US" sz="1400" dirty="0"/>
          </a:p>
          <a:p>
            <a:pPr marL="342900" indent="-342900">
              <a:spcAft>
                <a:spcPts val="800"/>
              </a:spcAft>
              <a:buSzPct val="100000"/>
              <a:buChar char="•"/>
            </a:pPr>
            <a:r>
              <a:rPr lang="en-US" sz="1400" dirty="0">
                <a:solidFill>
                  <a:schemeClr val="tx1"/>
                </a:solidFill>
              </a:rPr>
              <a:t>Interface d'administration des comptes</a:t>
            </a:r>
            <a:endParaRPr lang="en-US" sz="1400" dirty="0"/>
          </a:p>
        </p:txBody>
      </p:sp>
      <p:sp>
        <p:nvSpPr>
          <p:cNvPr id="12" name="road-arrow-1"/>
          <p:cNvSpPr/>
          <p:nvPr/>
        </p:nvSpPr>
        <p:spPr>
          <a:xfrm>
            <a:off x="7827264" y="3474720"/>
            <a:ext cx="210312" cy="0"/>
          </a:xfrm>
          <a:prstGeom prst="line">
            <a:avLst/>
          </a:prstGeom>
          <a:noFill/>
          <a:ln w="19050">
            <a:solidFill>
              <a:schemeClr val="accent5"/>
            </a:solidFill>
            <a:prstDash val="solid"/>
            <a:tailEnd type="triangle"/>
          </a:ln>
        </p:spPr>
      </p:sp>
      <p:sp>
        <p:nvSpPr>
          <p:cNvPr id="13" name="road-2"/>
          <p:cNvSpPr/>
          <p:nvPr/>
        </p:nvSpPr>
        <p:spPr>
          <a:xfrm>
            <a:off x="8046720" y="1371600"/>
            <a:ext cx="3520440" cy="4206240"/>
          </a:xfrm>
          <a:prstGeom prst="roundRect">
            <a:avLst>
              <a:gd name="adj" fmla="val 3117"/>
            </a:avLst>
          </a:prstGeom>
          <a:solidFill>
            <a:schemeClr val="bg2"/>
          </a:solidFill>
          <a:ln w="12700">
            <a:solidFill>
              <a:schemeClr val="bg2"/>
            </a:solidFill>
            <a:prstDash val="solid"/>
          </a:ln>
        </p:spPr>
      </p:sp>
      <p:sp>
        <p:nvSpPr>
          <p:cNvPr id="14" name="Text 12"/>
          <p:cNvSpPr txBox="1"/>
          <p:nvPr/>
        </p:nvSpPr>
        <p:spPr>
          <a:xfrm>
            <a:off x="8321040" y="1554480"/>
            <a:ext cx="3017520" cy="411480"/>
          </a:xfrm>
          <a:prstGeom prst="rect">
            <a:avLst/>
          </a:prstGeom>
          <a:noFill/>
          <a:ln/>
        </p:spPr>
        <p:txBody>
          <a:bodyPr wrap="square" lIns="0" tIns="0" rIns="0" bIns="0" rtlCol="0" anchor="t"/>
          <a:lstStyle/>
          <a:p>
            <a:pPr indent="0" marL="0">
              <a:buNone/>
            </a:pPr>
            <a:r>
              <a:rPr lang="en-US" sz="2000" b="1" dirty="0">
                <a:solidFill>
                  <a:schemeClr val="tx2"/>
                </a:solidFill>
              </a:rPr>
              <a:t>Plus tard</a:t>
            </a:r>
            <a:endParaRPr lang="en-US" sz="2000" dirty="0"/>
          </a:p>
        </p:txBody>
      </p:sp>
      <p:sp>
        <p:nvSpPr>
          <p:cNvPr id="15" name="Text 13"/>
          <p:cNvSpPr txBox="1"/>
          <p:nvPr/>
        </p:nvSpPr>
        <p:spPr>
          <a:xfrm>
            <a:off x="8321040" y="1965960"/>
            <a:ext cx="3017520" cy="320040"/>
          </a:xfrm>
          <a:prstGeom prst="rect">
            <a:avLst/>
          </a:prstGeom>
          <a:noFill/>
          <a:ln/>
        </p:spPr>
        <p:txBody>
          <a:bodyPr wrap="square" lIns="0" tIns="0" rIns="0" bIns="0" rtlCol="0" anchor="t"/>
          <a:lstStyle/>
          <a:p>
            <a:pPr indent="0" marL="0">
              <a:buNone/>
            </a:pPr>
            <a:r>
              <a:rPr lang="en-US" sz="1300" i="1" dirty="0">
                <a:solidFill>
                  <a:schemeClr val="accent5"/>
                </a:solidFill>
              </a:rPr>
              <a:t>Analyse avancée</a:t>
            </a:r>
            <a:endParaRPr lang="en-US" sz="1300" dirty="0"/>
          </a:p>
        </p:txBody>
      </p:sp>
      <p:sp>
        <p:nvSpPr>
          <p:cNvPr id="16" name="Text 14"/>
          <p:cNvSpPr txBox="1"/>
          <p:nvPr/>
        </p:nvSpPr>
        <p:spPr>
          <a:xfrm>
            <a:off x="8321040" y="2468880"/>
            <a:ext cx="3017520" cy="29260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Intégration Wazuh, Elastic ou Splunk</a:t>
            </a:r>
            <a:endParaRPr lang="en-US" sz="1400" dirty="0"/>
          </a:p>
          <a:p>
            <a:pPr marL="342900" indent="-342900">
              <a:spcAft>
                <a:spcPts val="800"/>
              </a:spcAft>
              <a:buSzPct val="100000"/>
              <a:buChar char="•"/>
            </a:pPr>
            <a:r>
              <a:rPr lang="en-US" sz="1400" dirty="0">
                <a:solidFill>
                  <a:schemeClr val="tx1"/>
                </a:solidFill>
              </a:rPr>
              <a:t>Corrélation multi-sources</a:t>
            </a:r>
            <a:endParaRPr lang="en-US" sz="1400" dirty="0"/>
          </a:p>
          <a:p>
            <a:pPr marL="342900" indent="-342900">
              <a:spcAft>
                <a:spcPts val="800"/>
              </a:spcAft>
              <a:buSzPct val="100000"/>
              <a:buChar char="•"/>
            </a:pPr>
            <a:r>
              <a:rPr lang="en-US" sz="1400" dirty="0">
                <a:solidFill>
                  <a:schemeClr val="tx1"/>
                </a:solidFill>
              </a:rPr>
              <a:t>Modèle ML en complément du scoring à règles</a:t>
            </a:r>
            <a:endParaRPr lang="en-US" sz="1400" dirty="0"/>
          </a:p>
          <a:p>
            <a:pPr marL="342900" indent="-342900">
              <a:spcAft>
                <a:spcPts val="800"/>
              </a:spcAft>
              <a:buSzPct val="100000"/>
              <a:buChar char="•"/>
            </a:pPr>
            <a:r>
              <a:rPr lang="en-US" sz="1400" dirty="0">
                <a:solidFill>
                  <a:schemeClr val="tx1"/>
                </a:solidFill>
              </a:rPr>
              <a:t>Échange MISP, STIX, TAXII</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731520" y="1554480"/>
            <a:ext cx="8046720" cy="2011680"/>
          </a:xfrm>
          <a:prstGeom prst="rect">
            <a:avLst/>
          </a:prstGeom>
          <a:noFill/>
          <a:ln/>
        </p:spPr>
        <p:txBody>
          <a:bodyPr wrap="square" lIns="0" tIns="0" rIns="0" bIns="0" rtlCol="0" anchor="b"/>
          <a:lstStyle/>
          <a:p>
            <a:pPr algn="l" indent="0" marL="0">
              <a:buNone/>
            </a:pPr>
            <a:r>
              <a:rPr lang="en-US" sz="4000" b="1" dirty="0">
                <a:solidFill>
                  <a:schemeClr val="bg1"/>
                </a:solidFill>
              </a:rPr>
              <a:t>Merci. Vos questions ?</a:t>
            </a:r>
            <a:endParaRPr lang="en-US" sz="4000" dirty="0"/>
          </a:p>
        </p:txBody>
      </p:sp>
      <p:sp>
        <p:nvSpPr>
          <p:cNvPr id="3" name="Text 0"/>
          <p:cNvSpPr/>
          <p:nvPr>
            <p:ph idx="101" type="body" hasCustomPrompt="1"/>
          </p:nvPr>
        </p:nvSpPr>
        <p:spPr>
          <a:xfrm>
            <a:off x="731520" y="3749040"/>
            <a:ext cx="8046720" cy="1645920"/>
          </a:xfrm>
          <a:prstGeom prst="rect">
            <a:avLst/>
          </a:prstGeom>
          <a:noFill/>
          <a:ln/>
        </p:spPr>
        <p:txBody>
          <a:bodyPr wrap="square" lIns="0" tIns="0" rIns="0" bIns="0" rtlCol="0" anchor="t"/>
          <a:lstStyle/>
          <a:p>
            <a:pPr algn="l" marL="342900" indent="-342900">
              <a:buSzPct val="100000"/>
              <a:buChar char="•"/>
            </a:pPr>
            <a:r>
              <a:rPr lang="en-US" sz="1800" dirty="0">
                <a:solidFill>
                  <a:schemeClr val="accent6"/>
                </a:solidFill>
              </a:rPr>
              <a:t>5 sources de Threat Intelligence dans un format unique</a:t>
            </a:r>
            <a:endParaRPr lang="en-US" sz="1800" dirty="0"/>
          </a:p>
          <a:p>
            <a:pPr algn="l" marL="342900" indent="-342900">
              <a:buSzPct val="100000"/>
              <a:buChar char="•"/>
            </a:pPr>
            <a:r>
              <a:rPr lang="en-US" sz="1800" dirty="0">
                <a:solidFill>
                  <a:schemeClr val="accent6"/>
                </a:solidFill>
              </a:rPr>
              <a:t>Un score explicable, des alertes et des fiches réflexes</a:t>
            </a:r>
            <a:endParaRPr lang="en-US" sz="1800" dirty="0"/>
          </a:p>
          <a:p>
            <a:pPr algn="l" marL="342900" indent="-342900">
              <a:buSzPct val="100000"/>
              <a:buChar char="•"/>
            </a:pPr>
            <a:r>
              <a:rPr lang="en-US" sz="1800" dirty="0">
                <a:solidFill>
                  <a:schemeClr val="accent6"/>
                </a:solidFill>
              </a:rPr>
              <a:t>Une plateforme sécurisée, testée et automatisée</a:t>
            </a:r>
            <a:endParaRPr lang="en-US" sz="1800" dirty="0"/>
          </a:p>
        </p:txBody>
      </p:sp>
      <p:sp>
        <p:nvSpPr>
          <p:cNvPr id="4" name="end-circle"/>
          <p:cNvSpPr/>
          <p:nvPr/>
        </p:nvSpPr>
        <p:spPr>
          <a:xfrm>
            <a:off x="9144000" y="1737360"/>
            <a:ext cx="2468880" cy="2468880"/>
          </a:xfrm>
          <a:prstGeom prst="ellipse">
            <a:avLst/>
          </a:prstGeom>
          <a:solidFill>
            <a:schemeClr val="accent2"/>
          </a:solidFill>
          <a:ln w="12700">
            <a:solidFill>
              <a:schemeClr val="accent2"/>
            </a:solidFill>
            <a:prstDash val="solid"/>
          </a:ln>
        </p:spPr>
      </p:sp>
      <p:pic>
        <p:nvPicPr>
          <p:cNvPr id="5" name="end-icon" descr="preencoded.png">    </p:cNvPr>
          <p:cNvPicPr>
            <a:picLocks noChangeAspect="1"/>
          </p:cNvPicPr>
          <p:nvPr/>
        </p:nvPicPr>
        <p:blipFill>
          <a:blip r:embed="rId1"/>
          <a:stretch>
            <a:fillRect/>
          </a:stretch>
        </p:blipFill>
        <p:spPr>
          <a:xfrm>
            <a:off x="9738360" y="2331720"/>
            <a:ext cx="1280160" cy="1280160"/>
          </a:xfrm>
          <a:prstGeom prst="rect">
            <a:avLst/>
          </a:prstGeom>
        </p:spPr>
      </p:pic>
    </p:spTree>
  </p:cSld>
  <p:clrMapOvr>
    <a:masterClrMapping/>
  </p:clrMapOvr>
</p:sld>
</file>

<file path=ppt/theme/theme1.xml><?xml version="1.0" encoding="utf-8"?>
<a:theme xmlns:a="http://schemas.openxmlformats.org/drawingml/2006/main" name="Sentinel PME">
  <a:themeElements>
    <a:clrScheme name="Sentinel PME">
      <a:dk1>
        <a:srgbClr val="1A2233"/>
      </a:dk1>
      <a:lt1>
        <a:srgbClr val="FFFFFF"/>
      </a:lt1>
      <a:dk2>
        <a:srgbClr val="14213D"/>
      </a:dk2>
      <a:lt2>
        <a:srgbClr val="EEF1F6"/>
      </a:lt2>
      <a:accent1>
        <a:srgbClr val="2A6F97"/>
      </a:accent1>
      <a:accent2>
        <a:srgbClr val="F2A541"/>
      </a:accent2>
      <a:accent3>
        <a:srgbClr val="2E9E6B"/>
      </a:accent3>
      <a:accent4>
        <a:srgbClr val="E0533D"/>
      </a:accent4>
      <a:accent5>
        <a:srgbClr val="6B7688"/>
      </a:accent5>
      <a:accent6>
        <a:srgbClr val="C8D2E0"/>
      </a:accent6>
      <a:hlink>
        <a:srgbClr val="2A6F97"/>
      </a:hlink>
      <a:folHlink>
        <a:srgbClr val="6B7688"/>
      </a:folHlink>
    </a:clrScheme>
    <a:fontScheme name="Sentinel PM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Sentinel PME - Détection et alerte précoce des cybermenaces</dc:title>
  <dc:subject>PptxGenJS Presentation</dc:subject>
  <dc:creator>Yousef Gaddah</dc:creator>
  <cp:lastModifiedBy>Yousef Gaddah</cp:lastModifiedBy>
  <cp:revision>1</cp:revision>
  <dcterms:created xsi:type="dcterms:W3CDTF">2026-10-01T22:00:35Z</dcterms:created>
  <dcterms:modified xsi:type="dcterms:W3CDTF">2026-10-01T22:00:35Z</dcterms:modified>
</cp:coreProperties>
</file>